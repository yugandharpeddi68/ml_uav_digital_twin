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0CF267B-2B57-0347-7DF9-B4540EC5DC24}">
          <p14:sldIdLst>
            <p14:sldId id="256"/>
            <p14:sldId id="257"/>
            <p14:sldId id="258"/>
            <p14:sldId id="259"/>
          </p14:sldIdLst>
        </p14:section>
        <p14:section name="Approach and Data" id="{1394C3F6-B8BB-27F8-2785-0022B109BB61}">
          <p14:sldIdLst>
            <p14:sldId id="260"/>
            <p14:sldId id="261"/>
            <p14:sldId id="262"/>
            <p14:sldId id="263"/>
            <p14:sldId id="264"/>
          </p14:sldIdLst>
        </p14:section>
        <p14:section name="Models" id="{EC67ECB6-7946-3A06-A3D1-C13A9053BB42}">
          <p14:sldIdLst>
            <p14:sldId id="265"/>
            <p14:sldId id="266"/>
            <p14:sldId id="267"/>
            <p14:sldId id="268"/>
          </p14:sldIdLst>
        </p14:section>
        <p14:section name="Results" id="{72112C0E-BB30-CDA3-854E-04848A4D1247}">
          <p14:sldIdLst>
            <p14:sldId id="269"/>
            <p14:sldId id="270"/>
            <p14:sldId id="271"/>
            <p14:sldId id="272"/>
            <p14:sldId id="273"/>
            <p14:sldId id="274"/>
          </p14:sldIdLst>
        </p14:section>
        <p14:section name="Conclusion" id="{F1395EBE-8385-17D9-A2DB-8A7AD7197296}">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1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4E79"/>
                </a:solidFill>
                <a:latin typeface="+mn-lt"/>
              </a:defRPr>
            </a:pPr>
            <a:r>
              <a:rPr lang="en-US" sz="1400" b="0" i="0" u="none" strike="noStrike">
                <a:solidFill>
                  <a:srgbClr val="1F4E79"/>
                </a:solidFill>
                <a:latin typeface="+mn-lt"/>
              </a:rPr>
              <a:t>Validation fidelity score per link (%)</a:t>
            </a:r>
          </a:p>
        </c:rich>
      </c:tx>
      <c:overlay val="0"/>
    </c:title>
    <c:autoTitleDeleted val="0"/>
    <c:plotArea>
      <c:layout/>
      <c:barChart>
        <c:barDir val="col"/>
        <c:grouping val="clustered"/>
        <c:varyColors val="0"/>
        <c:ser>
          <c:idx val="0"/>
          <c:order val="0"/>
          <c:tx>
            <c:strRef>
              <c:f>Sheet1!$B$1</c:f>
              <c:strCache>
                <c:ptCount val="1"/>
                <c:pt idx="0">
                  <c:v>Fidelity score (%)</c:v>
                </c:pt>
              </c:strCache>
            </c:strRef>
          </c:tx>
          <c:spPr>
            <a:solidFill>
              <a:srgbClr val="1F4E79"/>
            </a:solidFill>
            <a:effectLst/>
          </c:spPr>
          <c:invertIfNegative val="0"/>
          <c:dPt>
            <c:idx val="0"/>
            <c:invertIfNegative val="0"/>
            <c:bubble3D val="0"/>
            <c:extLst>
              <c:ext xmlns:c16="http://schemas.microsoft.com/office/drawing/2014/chart" uri="{C3380CC4-5D6E-409C-BE32-E72D297353CC}">
                <c16:uniqueId val="{00000001-F8B9-496A-B339-515A9D800368}"/>
              </c:ext>
            </c:extLst>
          </c:dPt>
          <c:dPt>
            <c:idx val="1"/>
            <c:invertIfNegative val="0"/>
            <c:bubble3D val="0"/>
            <c:extLst>
              <c:ext xmlns:c16="http://schemas.microsoft.com/office/drawing/2014/chart" uri="{C3380CC4-5D6E-409C-BE32-E72D297353CC}">
                <c16:uniqueId val="{00000003-F8B9-496A-B339-515A9D800368}"/>
              </c:ext>
            </c:extLst>
          </c:dPt>
          <c:dPt>
            <c:idx val="2"/>
            <c:invertIfNegative val="0"/>
            <c:bubble3D val="0"/>
            <c:spPr>
              <a:solidFill>
                <a:srgbClr val="B3261E"/>
              </a:solidFill>
              <a:effectLst/>
            </c:spPr>
            <c:extLst>
              <c:ext xmlns:c16="http://schemas.microsoft.com/office/drawing/2014/chart" uri="{C3380CC4-5D6E-409C-BE32-E72D297353CC}">
                <c16:uniqueId val="{00000005-F8B9-496A-B339-515A9D800368}"/>
              </c:ext>
            </c:extLst>
          </c:dPt>
          <c:dPt>
            <c:idx val="3"/>
            <c:invertIfNegative val="0"/>
            <c:bubble3D val="0"/>
            <c:extLst>
              <c:ext xmlns:c16="http://schemas.microsoft.com/office/drawing/2014/chart" uri="{C3380CC4-5D6E-409C-BE32-E72D297353CC}">
                <c16:uniqueId val="{00000007-F8B9-496A-B339-515A9D800368}"/>
              </c:ext>
            </c:extLst>
          </c:dPt>
          <c:dLbls>
            <c:numFmt formatCode="0.0&quot;%&quot;" sourceLinked="0"/>
            <c:spPr>
              <a:noFill/>
              <a:ln>
                <a:noFill/>
              </a:ln>
              <a:effectLst/>
            </c:spPr>
            <c:txPr>
              <a:bodyPr/>
              <a:lstStyle/>
              <a:p>
                <a:pPr>
                  <a:defRPr sz="1300" b="0" i="0" u="none" strike="noStrike">
                    <a:solidFill>
                      <a:srgbClr val="1F2A4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dl_lw1</c:v>
                </c:pt>
                <c:pt idx="1">
                  <c:v>dl_lw2</c:v>
                </c:pt>
                <c:pt idx="2">
                  <c:v>dl_lw3</c:v>
                </c:pt>
                <c:pt idx="3">
                  <c:v>dl_lw4</c:v>
                </c:pt>
              </c:strCache>
            </c:strRef>
          </c:cat>
          <c:val>
            <c:numRef>
              <c:f>Sheet1!$B$2:$B$5</c:f>
              <c:numCache>
                <c:formatCode>General</c:formatCode>
                <c:ptCount val="4"/>
                <c:pt idx="0">
                  <c:v>97.3</c:v>
                </c:pt>
                <c:pt idx="1">
                  <c:v>92.9</c:v>
                </c:pt>
                <c:pt idx="2">
                  <c:v>26.1</c:v>
                </c:pt>
                <c:pt idx="3">
                  <c:v>82.4</c:v>
                </c:pt>
              </c:numCache>
            </c:numRef>
          </c:val>
          <c:extLst>
            <c:ext xmlns:c16="http://schemas.microsoft.com/office/drawing/2014/chart" uri="{C3380CC4-5D6E-409C-BE32-E72D297353CC}">
              <c16:uniqueId val="{00000008-F8B9-496A-B339-515A9D80036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A44"/>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C9D3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7"/>
                </a:solidFill>
                <a:latin typeface="+mn-lt"/>
              </a:defRPr>
            </a:pPr>
            <a:endParaRPr lang="en-US"/>
          </a:p>
        </c:txPr>
        <c:crossAx val="2094734554"/>
        <c:crosses val="autoZero"/>
        <c:crossBetween val="between"/>
        <c:majorUnit val="2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4E79"/>
                </a:solidFill>
                <a:latin typeface="+mn-lt"/>
              </a:defRPr>
            </a:pPr>
            <a:r>
              <a:rPr lang="en-US" sz="1400" b="0" i="0" u="none" strike="noStrike">
                <a:solidFill>
                  <a:srgbClr val="1F4E79"/>
                </a:solidFill>
                <a:latin typeface="+mn-lt"/>
              </a:rPr>
              <a:t>Validation MAE by model and link (lower is better)</a:t>
            </a:r>
          </a:p>
        </c:rich>
      </c:tx>
      <c:overlay val="0"/>
    </c:title>
    <c:autoTitleDeleted val="0"/>
    <c:plotArea>
      <c:layout/>
      <c:barChart>
        <c:barDir val="col"/>
        <c:grouping val="clustered"/>
        <c:varyColors val="0"/>
        <c:ser>
          <c:idx val="0"/>
          <c:order val="0"/>
          <c:tx>
            <c:strRef>
              <c:f>Sheet1!$B$1</c:f>
              <c:strCache>
                <c:ptCount val="1"/>
                <c:pt idx="0">
                  <c:v>Train-mean</c:v>
                </c:pt>
              </c:strCache>
            </c:strRef>
          </c:tx>
          <c:spPr>
            <a:solidFill>
              <a:srgbClr val="A9BDD6"/>
            </a:solidFill>
            <a:effectLst/>
          </c:spPr>
          <c:invertIfNegative val="0"/>
          <c:cat>
            <c:strRef>
              <c:f>Sheet1!$A$2:$A$5</c:f>
              <c:strCache>
                <c:ptCount val="4"/>
                <c:pt idx="0">
                  <c:v>dl_lw1</c:v>
                </c:pt>
                <c:pt idx="1">
                  <c:v>dl_lw2</c:v>
                </c:pt>
                <c:pt idx="2">
                  <c:v>dl_lw3</c:v>
                </c:pt>
                <c:pt idx="3">
                  <c:v>dl_lw4</c:v>
                </c:pt>
              </c:strCache>
            </c:strRef>
          </c:cat>
          <c:val>
            <c:numRef>
              <c:f>Sheet1!$B$2:$B$5</c:f>
              <c:numCache>
                <c:formatCode>General</c:formatCode>
                <c:ptCount val="4"/>
                <c:pt idx="0">
                  <c:v>54.704000000000001</c:v>
                </c:pt>
                <c:pt idx="1">
                  <c:v>201.11500000000001</c:v>
                </c:pt>
                <c:pt idx="2">
                  <c:v>492.43099999999998</c:v>
                </c:pt>
                <c:pt idx="3">
                  <c:v>13.988</c:v>
                </c:pt>
              </c:numCache>
            </c:numRef>
          </c:val>
          <c:extLst>
            <c:ext xmlns:c16="http://schemas.microsoft.com/office/drawing/2014/chart" uri="{C3380CC4-5D6E-409C-BE32-E72D297353CC}">
              <c16:uniqueId val="{00000000-C5D3-4B56-BBBD-68D0E1090464}"/>
            </c:ext>
          </c:extLst>
        </c:ser>
        <c:ser>
          <c:idx val="1"/>
          <c:order val="1"/>
          <c:tx>
            <c:strRef>
              <c:f>Sheet1!$C$1</c:f>
              <c:strCache>
                <c:ptCount val="1"/>
                <c:pt idx="0">
                  <c:v>Random Forest</c:v>
                </c:pt>
              </c:strCache>
            </c:strRef>
          </c:tx>
          <c:spPr>
            <a:solidFill>
              <a:srgbClr val="5B6577"/>
            </a:solidFill>
            <a:effectLst/>
          </c:spPr>
          <c:invertIfNegative val="0"/>
          <c:cat>
            <c:strRef>
              <c:f>Sheet1!$A$2:$A$5</c:f>
              <c:strCache>
                <c:ptCount val="4"/>
                <c:pt idx="0">
                  <c:v>dl_lw1</c:v>
                </c:pt>
                <c:pt idx="1">
                  <c:v>dl_lw2</c:v>
                </c:pt>
                <c:pt idx="2">
                  <c:v>dl_lw3</c:v>
                </c:pt>
                <c:pt idx="3">
                  <c:v>dl_lw4</c:v>
                </c:pt>
              </c:strCache>
            </c:strRef>
          </c:cat>
          <c:val>
            <c:numRef>
              <c:f>Sheet1!$C$2:$C$5</c:f>
              <c:numCache>
                <c:formatCode>General</c:formatCode>
                <c:ptCount val="4"/>
                <c:pt idx="0">
                  <c:v>73.814999999999998</c:v>
                </c:pt>
                <c:pt idx="1">
                  <c:v>114.705</c:v>
                </c:pt>
                <c:pt idx="2">
                  <c:v>428.03899999999999</c:v>
                </c:pt>
                <c:pt idx="3">
                  <c:v>5.78</c:v>
                </c:pt>
              </c:numCache>
            </c:numRef>
          </c:val>
          <c:extLst>
            <c:ext xmlns:c16="http://schemas.microsoft.com/office/drawing/2014/chart" uri="{C3380CC4-5D6E-409C-BE32-E72D297353CC}">
              <c16:uniqueId val="{00000001-C5D3-4B56-BBBD-68D0E1090464}"/>
            </c:ext>
          </c:extLst>
        </c:ser>
        <c:ser>
          <c:idx val="2"/>
          <c:order val="2"/>
          <c:tx>
            <c:strRef>
              <c:f>Sheet1!$D$1</c:f>
              <c:strCache>
                <c:ptCount val="1"/>
                <c:pt idx="0">
                  <c:v>Neural Net</c:v>
                </c:pt>
              </c:strCache>
            </c:strRef>
          </c:tx>
          <c:spPr>
            <a:solidFill>
              <a:srgbClr val="1F4E79"/>
            </a:solidFill>
            <a:effectLst/>
          </c:spPr>
          <c:invertIfNegative val="0"/>
          <c:cat>
            <c:strRef>
              <c:f>Sheet1!$A$2:$A$5</c:f>
              <c:strCache>
                <c:ptCount val="4"/>
                <c:pt idx="0">
                  <c:v>dl_lw1</c:v>
                </c:pt>
                <c:pt idx="1">
                  <c:v>dl_lw2</c:v>
                </c:pt>
                <c:pt idx="2">
                  <c:v>dl_lw3</c:v>
                </c:pt>
                <c:pt idx="3">
                  <c:v>dl_lw4</c:v>
                </c:pt>
              </c:strCache>
            </c:strRef>
          </c:cat>
          <c:val>
            <c:numRef>
              <c:f>Sheet1!$D$2:$D$5</c:f>
              <c:numCache>
                <c:formatCode>General</c:formatCode>
                <c:ptCount val="4"/>
                <c:pt idx="0">
                  <c:v>12.092000000000001</c:v>
                </c:pt>
                <c:pt idx="1">
                  <c:v>38.805999999999997</c:v>
                </c:pt>
                <c:pt idx="2">
                  <c:v>372.60199999999998</c:v>
                </c:pt>
                <c:pt idx="3">
                  <c:v>3.8010000000000002</c:v>
                </c:pt>
              </c:numCache>
            </c:numRef>
          </c:val>
          <c:extLst>
            <c:ext xmlns:c16="http://schemas.microsoft.com/office/drawing/2014/chart" uri="{C3380CC4-5D6E-409C-BE32-E72D297353CC}">
              <c16:uniqueId val="{00000002-C5D3-4B56-BBBD-68D0E1090464}"/>
            </c:ext>
          </c:extLst>
        </c:ser>
        <c:ser>
          <c:idx val="3"/>
          <c:order val="3"/>
          <c:tx>
            <c:strRef>
              <c:f>Sheet1!$E$1</c:f>
              <c:strCache>
                <c:ptCount val="1"/>
                <c:pt idx="0">
                  <c:v>MC Dropout</c:v>
                </c:pt>
              </c:strCache>
            </c:strRef>
          </c:tx>
          <c:spPr>
            <a:solidFill>
              <a:srgbClr val="5B9BD5"/>
            </a:solidFill>
            <a:effectLst/>
          </c:spPr>
          <c:invertIfNegative val="0"/>
          <c:cat>
            <c:strRef>
              <c:f>Sheet1!$A$2:$A$5</c:f>
              <c:strCache>
                <c:ptCount val="4"/>
                <c:pt idx="0">
                  <c:v>dl_lw1</c:v>
                </c:pt>
                <c:pt idx="1">
                  <c:v>dl_lw2</c:v>
                </c:pt>
                <c:pt idx="2">
                  <c:v>dl_lw3</c:v>
                </c:pt>
                <c:pt idx="3">
                  <c:v>dl_lw4</c:v>
                </c:pt>
              </c:strCache>
            </c:strRef>
          </c:cat>
          <c:val>
            <c:numRef>
              <c:f>Sheet1!$E$2:$E$5</c:f>
              <c:numCache>
                <c:formatCode>General</c:formatCode>
                <c:ptCount val="4"/>
                <c:pt idx="0">
                  <c:v>16.251000000000001</c:v>
                </c:pt>
                <c:pt idx="1">
                  <c:v>42.48</c:v>
                </c:pt>
                <c:pt idx="2">
                  <c:v>374.04199999999997</c:v>
                </c:pt>
                <c:pt idx="3">
                  <c:v>3.6589999999999998</c:v>
                </c:pt>
              </c:numCache>
            </c:numRef>
          </c:val>
          <c:extLst>
            <c:ext xmlns:c16="http://schemas.microsoft.com/office/drawing/2014/chart" uri="{C3380CC4-5D6E-409C-BE32-E72D297353CC}">
              <c16:uniqueId val="{00000003-C5D3-4B56-BBBD-68D0E1090464}"/>
            </c:ext>
          </c:extLst>
        </c:ser>
        <c:ser>
          <c:idx val="4"/>
          <c:order val="4"/>
          <c:tx>
            <c:strRef>
              <c:f>Sheet1!$F$1</c:f>
              <c:strCache>
                <c:ptCount val="1"/>
                <c:pt idx="0">
                  <c:v>Persistence</c:v>
                </c:pt>
              </c:strCache>
            </c:strRef>
          </c:tx>
          <c:spPr>
            <a:solidFill>
              <a:srgbClr val="2E7D32"/>
            </a:solidFill>
            <a:effectLst/>
          </c:spPr>
          <c:invertIfNegative val="0"/>
          <c:cat>
            <c:strRef>
              <c:f>Sheet1!$A$2:$A$5</c:f>
              <c:strCache>
                <c:ptCount val="4"/>
                <c:pt idx="0">
                  <c:v>dl_lw1</c:v>
                </c:pt>
                <c:pt idx="1">
                  <c:v>dl_lw2</c:v>
                </c:pt>
                <c:pt idx="2">
                  <c:v>dl_lw3</c:v>
                </c:pt>
                <c:pt idx="3">
                  <c:v>dl_lw4</c:v>
                </c:pt>
              </c:strCache>
            </c:strRef>
          </c:cat>
          <c:val>
            <c:numRef>
              <c:f>Sheet1!$F$2:$F$5</c:f>
              <c:numCache>
                <c:formatCode>General</c:formatCode>
                <c:ptCount val="4"/>
                <c:pt idx="0">
                  <c:v>0</c:v>
                </c:pt>
                <c:pt idx="1">
                  <c:v>0</c:v>
                </c:pt>
                <c:pt idx="2">
                  <c:v>3.3140000000000001</c:v>
                </c:pt>
                <c:pt idx="3">
                  <c:v>0.88400000000000001</c:v>
                </c:pt>
              </c:numCache>
            </c:numRef>
          </c:val>
          <c:extLst>
            <c:ext xmlns:c16="http://schemas.microsoft.com/office/drawing/2014/chart" uri="{C3380CC4-5D6E-409C-BE32-E72D297353CC}">
              <c16:uniqueId val="{00000004-C5D3-4B56-BBBD-68D0E1090464}"/>
            </c:ext>
          </c:extLst>
        </c:ser>
        <c:dLbls>
          <c:showLegendKey val="0"/>
          <c:showVal val="0"/>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A44"/>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C9D3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A44"/>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5750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Introduce the project, team and guide.
CHECK: roll number 252004004 (S. Karthikeya) has 9 digits while the others have 10. Correct it before presenting.
OPTIONAL UPLOAD: replace the drone icon with the KL University logo or a UAV photo.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Walk through the six parts of the talk (about 1 minute).
UPLOAD: nothing.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drone on a 5G link gets different download speeds as it flies; normal models give one number and no warning when they stop being reliable.
UPLOAD: nothing (optional: a small drone / 5G sketch).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objectives, each matched to a metric we actually measure in the notebook.
UPLOAD: nothing.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Six steps from raw files to a twin that reports value, uncertainty and alerts.
UPLOAD: nothing (the flow is built 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runs in a Colab notebook on CPU; PyTorch for the network, scikit-learn for the baseline.
UPLOAD: nothing.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CSV files from one UAV flight on 11 Sep 2025 are merged by timestamp into 652 clean samples.
UPLOAD (right box): screenshot of Notebook cell 3 output (the .head(3) tables) or cell 6 output ('Cleaned dataset shape: (652, 22)'). Crop to the output only.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Each link ramps up and then saturates, and they start at different times. That is why a random split would leak the future.
UPLOAD (left box): Notebook cell 10 plot (four panels dl_lw1 to dl_lw4 with the two dashed split lines).
OPTIONAL: cell 11 correlation heatmap as an extra backup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16 inputs (4 SNR values and 12 flight-state values) predict 4 download values with one network.
UPLOAD: nothing.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Random Forest is our classical baseline. It beats a plain train-mean guess on three links but not on dl_lw1.
UPLOAD: nothing. Optional: screenshot of notebook cell 9 and cell 12 output tables.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small fully connected network with dropout; the same dropout is reused later to estimate uncertainty.
UPLOAD: nothing. Optional: screenshot of Notebook cell 14 output (model summary, 3300 parameters).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Training loss keeps falling but validation loss stays far higher, which hints that the later validation segment behaves differently.
UPLOAD (left box): Notebook cell 16 plot 'Neural Network Learning Curves'.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ideas: MC Dropout gives uncertainty, the fidelity score summarises accuracy per link, and the alert rule uses only validation errors.
UPLOAD: nothing.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neural network beats Random Forest on all four links. Uncertainty is large on lw1 and lw2; fidelity is lowest on lw3, where predictions miss badly.
UPLOAD (left box): Notebook cell 19 plot 'Validation Predictions and MC Dropout Uncertainty'.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Fidelity is high on lw1, lw2, lw4 but low on lw3. On lw3 the model is confidently wrong: its uncertainty is far smaller than its error.
UPLOAD: nothing (native chart). OPTIONAL: replace the chart with a screenshot of notebook cell 22 bar chart.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trained on a link that was almost always zero, then met a link at 278 to 597 in validation. Altitude and SNR distributions also moved.
UPLOAD (left box): Notebook cell 24 plot 'Temporal Distribution Shift in dl_lw3'.
OPTIONAL: add notebook cell 27 (SNR histograms) as a backup slide.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 the test segment the values barely move, so repeating the last reading is nearly perfect. This reflects this flight segment, not general performance.
UPLOAD (left box): Notebook cell 30 plot 'Untouched Test Set: Actual vs Predicted'.
OPTIONAL: cell 29 persistence plot.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Thresholds come from validation errors only. The twin raised alerts on dl_lw3, exactly the link where it was unreliable.
UPLOAD (left box): Notebook cell 33 plot 'Digital Twin Prediction-Mismatch Detection'.
OPTIONAL: cell 31 error timeline.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Among learned models FidelityNet is best; persistence is hardest to beat on this near-constant flight, so the twin's value is in its uncertainty and alerts.
UPLOAD: nothing (native chart).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 upfront that the test segment is nearly constant and covers one flight. List next steps from the 'Remaining Work' of Review 1.
UPLOAD: nothing.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Close with the tagline: a twin that knows when it cannot be trusted.
UPLOAD: nothing.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UPLOAD: nothing.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228600"/>
            <a:ext cx="9144000" cy="274320"/>
          </a:xfrm>
          <a:prstGeom prst="rect">
            <a:avLst/>
          </a:prstGeom>
          <a:noFill/>
          <a:ln/>
        </p:spPr>
        <p:txBody>
          <a:bodyPr wrap="square" lIns="0" tIns="0" rIns="0" bIns="0" rtlCol="0" anchor="ctr"/>
          <a:lstStyle/>
          <a:p>
            <a:pPr marL="0" indent="0">
              <a:buNone/>
            </a:pPr>
            <a:r>
              <a:rPr lang="en-US" sz="1200" b="1" dirty="0">
                <a:solidFill>
                  <a:schemeClr val="tx2"/>
                </a:solidFill>
              </a:rPr>
              <a:t>MACHINE LEARNING (25SC2107E)  |  DEPARTMENT OF ECE</a:t>
            </a:r>
            <a:endParaRPr lang="en-US" sz="1200" dirty="0"/>
          </a:p>
        </p:txBody>
      </p:sp>
      <p:sp>
        <p:nvSpPr>
          <p:cNvPr id="3" name="Text 1"/>
          <p:cNvSpPr/>
          <p:nvPr/>
        </p:nvSpPr>
        <p:spPr>
          <a:xfrm>
            <a:off x="548640" y="6446520"/>
            <a:ext cx="8229600" cy="274320"/>
          </a:xfrm>
          <a:prstGeom prst="rect">
            <a:avLst/>
          </a:prstGeom>
          <a:noFill/>
          <a:ln/>
        </p:spPr>
        <p:txBody>
          <a:bodyPr wrap="square" lIns="0" tIns="0" rIns="0" bIns="0" rtlCol="0" anchor="ctr"/>
          <a:lstStyle/>
          <a:p>
            <a:pPr marL="0" indent="0">
              <a:buNone/>
            </a:pPr>
            <a:r>
              <a:rPr lang="en-US" sz="1000" dirty="0">
                <a:solidFill>
                  <a:schemeClr val="accent2"/>
                </a:solidFill>
              </a:rPr>
              <a:t>AI-Based UAV Communication Digital Twin  |  Dept. of ECE</a:t>
            </a:r>
            <a:endParaRPr lang="en-US" sz="1000" dirty="0"/>
          </a:p>
        </p:txBody>
      </p:sp>
      <p:sp>
        <p:nvSpPr>
          <p:cNvPr id="4" name="Text 2"/>
          <p:cNvSpPr>
            <a:spLocks noGrp="1"/>
          </p:cNvSpPr>
          <p:nvPr>
            <p:ph type="title" idx="102" hasCustomPrompt="1"/>
          </p:nvPr>
        </p:nvSpPr>
        <p:spPr>
          <a:xfrm>
            <a:off x="548640" y="530352"/>
            <a:ext cx="11094415" cy="640080"/>
          </a:xfrm>
          <a:prstGeom prst="rect">
            <a:avLst/>
          </a:prstGeom>
          <a:noFill/>
          <a:ln/>
        </p:spPr>
        <p:txBody>
          <a:bodyPr wrap="square" rtlCol="0"/>
          <a:lstStyle>
            <a:lvl1pPr marL="0" indent="0" algn="l">
              <a:buNone/>
              <a:defRPr lang="en-US" sz="2800" b="1" dirty="0">
                <a:solidFill>
                  <a:schemeClr val="tx2"/>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783080"/>
            <a:ext cx="11094415" cy="137160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HANKS">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011680" y="2011680"/>
            <a:ext cx="8165592" cy="822960"/>
          </a:xfrm>
          <a:prstGeom prst="rect">
            <a:avLst/>
          </a:prstGeom>
          <a:noFill/>
          <a:ln/>
        </p:spPr>
        <p:txBody>
          <a:bodyPr wrap="square" rtlCol="0"/>
          <a:lstStyle>
            <a:lvl1pPr marL="0" indent="0" algn="ctr">
              <a:buNone/>
              <a:defRPr lang="en-US" sz="4400" b="1" dirty="0">
                <a:solidFill>
                  <a:schemeClr val="tx2"/>
                </a:solidFill>
              </a:defRPr>
            </a:lvl1pPr>
          </a:lstStyle>
          <a:p>
            <a:pPr marL="0" indent="0" algn="ctr">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Logo circle"/>
          <p:cNvSpPr/>
          <p:nvPr/>
        </p:nvSpPr>
        <p:spPr>
          <a:xfrm>
            <a:off x="548640" y="594360"/>
            <a:ext cx="914400" cy="914400"/>
          </a:xfrm>
          <a:prstGeom prst="ellipse">
            <a:avLst/>
          </a:prstGeom>
          <a:solidFill>
            <a:schemeClr val="tx2"/>
          </a:solidFill>
          <a:ln w="6350">
            <a:solidFill>
              <a:schemeClr val="tx2"/>
            </a:solidFill>
            <a:prstDash val="solid"/>
          </a:ln>
        </p:spPr>
      </p:sp>
      <p:pic>
        <p:nvPicPr>
          <p:cNvPr id="4" name="Image 0" descr="UAV icon"/>
          <p:cNvPicPr>
            <a:picLocks noChangeAspect="1"/>
          </p:cNvPicPr>
          <p:nvPr/>
        </p:nvPicPr>
        <p:blipFill>
          <a:blip r:embed="rId3"/>
          <a:stretch>
            <a:fillRect/>
          </a:stretch>
        </p:blipFill>
        <p:spPr>
          <a:xfrm>
            <a:off x="731520" y="777240"/>
            <a:ext cx="548640" cy="548640"/>
          </a:xfrm>
          <a:prstGeom prst="rect">
            <a:avLst/>
          </a:prstGeom>
        </p:spPr>
      </p:pic>
      <p:sp>
        <p:nvSpPr>
          <p:cNvPr id="5" name="Text 0"/>
          <p:cNvSpPr>
            <a:spLocks noGrp="1"/>
          </p:cNvSpPr>
          <p:nvPr>
            <p:ph type="title" idx="100" hasCustomPrompt="1"/>
          </p:nvPr>
        </p:nvSpPr>
        <p:spPr>
          <a:xfrm>
            <a:off x="548640" y="1783080"/>
            <a:ext cx="11094415" cy="1371600"/>
          </a:xfrm>
          <a:prstGeom prst="rect">
            <a:avLst/>
          </a:prstGeom>
          <a:noFill/>
          <a:ln/>
        </p:spPr>
        <p:txBody>
          <a:bodyPr wrap="square" lIns="0" tIns="0" rIns="0" bIns="0" rtlCol="0" anchor="t"/>
          <a:lstStyle/>
          <a:p>
            <a:pPr marL="0" indent="0" algn="l">
              <a:buNone/>
            </a:pPr>
            <a:r>
              <a:rPr lang="en-US" sz="3400" b="1" dirty="0">
                <a:solidFill>
                  <a:schemeClr val="tx2"/>
                </a:solidFill>
              </a:rPr>
              <a:t>AI-Based UAV Communication Digital Twin for Throughput Prediction and Reliability Assessment</a:t>
            </a:r>
            <a:endParaRPr lang="en-US" sz="3400" dirty="0"/>
          </a:p>
        </p:txBody>
      </p:sp>
      <p:sp>
        <p:nvSpPr>
          <p:cNvPr id="6" name="Text 2"/>
          <p:cNvSpPr txBox="1"/>
          <p:nvPr/>
        </p:nvSpPr>
        <p:spPr>
          <a:xfrm>
            <a:off x="548640" y="3200400"/>
            <a:ext cx="11094415" cy="411480"/>
          </a:xfrm>
          <a:prstGeom prst="rect">
            <a:avLst/>
          </a:prstGeom>
          <a:noFill/>
          <a:ln/>
        </p:spPr>
        <p:txBody>
          <a:bodyPr wrap="square" lIns="0" tIns="0" rIns="0" bIns="0" rtlCol="0" anchor="t"/>
          <a:lstStyle/>
          <a:p>
            <a:pPr marL="0" indent="0">
              <a:buNone/>
            </a:pPr>
            <a:r>
              <a:rPr lang="en-US" sz="1900" i="1" dirty="0">
                <a:solidFill>
                  <a:schemeClr val="accent2"/>
                </a:solidFill>
              </a:rPr>
              <a:t>Monte Carlo Dropout Uncertainty and Mismatch Detection on a 5G/LTE UAV Flight</a:t>
            </a:r>
            <a:endParaRPr lang="en-US" sz="1900" dirty="0"/>
          </a:p>
        </p:txBody>
      </p:sp>
      <p:sp>
        <p:nvSpPr>
          <p:cNvPr id="7" name="Info card"/>
          <p:cNvSpPr/>
          <p:nvPr/>
        </p:nvSpPr>
        <p:spPr>
          <a:xfrm>
            <a:off x="548640" y="3931920"/>
            <a:ext cx="11094415" cy="2286000"/>
          </a:xfrm>
          <a:prstGeom prst="roundRect">
            <a:avLst>
              <a:gd name="adj" fmla="val 3200"/>
            </a:avLst>
          </a:prstGeom>
          <a:solidFill>
            <a:schemeClr val="bg2"/>
          </a:solidFill>
          <a:ln w="9525">
            <a:solidFill>
              <a:schemeClr val="accent3"/>
            </a:solidFill>
            <a:prstDash val="solid"/>
          </a:ln>
        </p:spPr>
      </p:sp>
      <p:sp>
        <p:nvSpPr>
          <p:cNvPr id="8" name="Text 4"/>
          <p:cNvSpPr txBox="1"/>
          <p:nvPr/>
        </p:nvSpPr>
        <p:spPr>
          <a:xfrm>
            <a:off x="868680" y="4206240"/>
            <a:ext cx="6035040" cy="1828800"/>
          </a:xfrm>
          <a:prstGeom prst="rect">
            <a:avLst/>
          </a:prstGeom>
          <a:noFill/>
          <a:ln/>
        </p:spPr>
        <p:txBody>
          <a:bodyPr wrap="square" lIns="0" tIns="0" rIns="0" bIns="0" rtlCol="0" anchor="t"/>
          <a:lstStyle/>
          <a:p>
            <a:pPr marL="0" indent="0">
              <a:spcAft>
                <a:spcPts val="800"/>
              </a:spcAft>
              <a:buNone/>
            </a:pPr>
            <a:r>
              <a:rPr lang="en-US" sz="1600" b="1" dirty="0">
                <a:solidFill>
                  <a:schemeClr val="tx2"/>
                </a:solidFill>
              </a:rPr>
              <a:t>Course: </a:t>
            </a:r>
            <a:r>
              <a:rPr lang="en-US" sz="1600" dirty="0">
                <a:solidFill>
                  <a:schemeClr val="tx1"/>
                </a:solidFill>
              </a:rPr>
              <a:t>Machine Learning (25SC2107E)  |  A.Y. 2026-27</a:t>
            </a:r>
            <a:endParaRPr lang="en-US" sz="1400" dirty="0"/>
          </a:p>
          <a:p>
            <a:pPr marL="0" indent="0">
              <a:spcAft>
                <a:spcPts val="800"/>
              </a:spcAft>
              <a:buNone/>
            </a:pPr>
            <a:r>
              <a:rPr lang="en-US" sz="1600" b="1" dirty="0">
                <a:solidFill>
                  <a:schemeClr val="tx2"/>
                </a:solidFill>
              </a:rPr>
              <a:t>Department: </a:t>
            </a:r>
            <a:r>
              <a:rPr lang="en-US" sz="1600" dirty="0">
                <a:solidFill>
                  <a:schemeClr val="tx1"/>
                </a:solidFill>
              </a:rPr>
              <a:t>Electronics &amp; Communication Engineering</a:t>
            </a:r>
            <a:endParaRPr lang="en-US" sz="1400" dirty="0"/>
          </a:p>
          <a:p>
            <a:pPr marL="0" indent="0">
              <a:spcAft>
                <a:spcPts val="800"/>
              </a:spcAft>
              <a:buNone/>
            </a:pPr>
            <a:r>
              <a:rPr lang="en-US" sz="1600" b="1" dirty="0">
                <a:solidFill>
                  <a:schemeClr val="tx2"/>
                </a:solidFill>
              </a:rPr>
              <a:t>Institution: </a:t>
            </a:r>
            <a:r>
              <a:rPr lang="en-US" sz="1600" dirty="0">
                <a:solidFill>
                  <a:schemeClr val="tx1"/>
                </a:solidFill>
              </a:rPr>
              <a:t>KL University</a:t>
            </a:r>
            <a:endParaRPr lang="en-US" sz="1400" dirty="0"/>
          </a:p>
          <a:p>
            <a:pPr marL="0" indent="0">
              <a:spcAft>
                <a:spcPts val="800"/>
              </a:spcAft>
              <a:buNone/>
            </a:pPr>
            <a:r>
              <a:rPr lang="en-US" sz="1600" b="1" dirty="0">
                <a:solidFill>
                  <a:schemeClr val="tx2"/>
                </a:solidFill>
              </a:rPr>
              <a:t>Guide: </a:t>
            </a:r>
            <a:r>
              <a:rPr lang="en-US" sz="1600" dirty="0">
                <a:solidFill>
                  <a:schemeClr val="tx1"/>
                </a:solidFill>
              </a:rPr>
              <a:t>Mr. N. Lava Prasad, Assistant Professor, ECE</a:t>
            </a:r>
            <a:endParaRPr lang="en-US" sz="1400" dirty="0"/>
          </a:p>
        </p:txBody>
      </p:sp>
      <p:sp>
        <p:nvSpPr>
          <p:cNvPr id="9" name="Text 5"/>
          <p:cNvSpPr txBox="1"/>
          <p:nvPr/>
        </p:nvSpPr>
        <p:spPr>
          <a:xfrm>
            <a:off x="7315200" y="4206240"/>
            <a:ext cx="4114800" cy="1828800"/>
          </a:xfrm>
          <a:prstGeom prst="rect">
            <a:avLst/>
          </a:prstGeom>
          <a:noFill/>
          <a:ln/>
        </p:spPr>
        <p:txBody>
          <a:bodyPr wrap="square" lIns="0" tIns="0" rIns="0" bIns="0" rtlCol="0" anchor="t"/>
          <a:lstStyle/>
          <a:p>
            <a:pPr marL="0" indent="0">
              <a:spcAft>
                <a:spcPts val="800"/>
              </a:spcAft>
              <a:buNone/>
            </a:pPr>
            <a:r>
              <a:rPr lang="en-US" sz="1600" b="1" dirty="0">
                <a:solidFill>
                  <a:schemeClr val="tx2"/>
                </a:solidFill>
              </a:rPr>
              <a:t>Team Members</a:t>
            </a:r>
            <a:endParaRPr lang="en-US" sz="1400" dirty="0"/>
          </a:p>
          <a:p>
            <a:pPr marL="0" indent="0">
              <a:spcAft>
                <a:spcPts val="800"/>
              </a:spcAft>
              <a:buNone/>
            </a:pPr>
            <a:r>
              <a:rPr lang="en-US" sz="1600" dirty="0">
                <a:solidFill>
                  <a:schemeClr val="tx1"/>
                </a:solidFill>
              </a:rPr>
              <a:t>D. Karthik  -  2520040082</a:t>
            </a:r>
            <a:endParaRPr lang="en-US" sz="1400" dirty="0"/>
          </a:p>
          <a:p>
            <a:pPr marL="0" indent="0">
              <a:spcAft>
                <a:spcPts val="800"/>
              </a:spcAft>
              <a:buNone/>
            </a:pPr>
            <a:r>
              <a:rPr lang="en-US" sz="1600" dirty="0">
                <a:solidFill>
                  <a:schemeClr val="tx1"/>
                </a:solidFill>
              </a:rPr>
              <a:t>S. Karthikeya  -  252004004</a:t>
            </a:r>
            <a:endParaRPr lang="en-US" sz="1400" dirty="0"/>
          </a:p>
          <a:p>
            <a:pPr marL="0" indent="0">
              <a:buNone/>
            </a:pPr>
            <a:r>
              <a:rPr lang="en-US" sz="1600" dirty="0">
                <a:solidFill>
                  <a:schemeClr val="tx1"/>
                </a:solidFill>
              </a:rPr>
              <a:t>P. Yugandhar  -  2520040027</a:t>
            </a:r>
            <a:endParaRPr lang="en-US" sz="1400" dirty="0"/>
          </a:p>
        </p:txBody>
      </p:sp>
      <p:pic>
        <p:nvPicPr>
          <p:cNvPr id="11" name="Picture 10" descr="Sign In Gitlab - Kl University Logo Png,Git Logo">
            <a:extLst>
              <a:ext uri="{FF2B5EF4-FFF2-40B4-BE49-F238E27FC236}">
                <a16:creationId xmlns:a16="http://schemas.microsoft.com/office/drawing/2014/main" id="{3BEF4755-675A-F280-D386-9119A98780D7}"/>
              </a:ext>
            </a:extLst>
          </p:cNvPr>
          <p:cNvPicPr>
            <a:picLocks noChangeAspect="1"/>
          </p:cNvPicPr>
          <p:nvPr/>
        </p:nvPicPr>
        <p:blipFill>
          <a:blip r:embed="rId4"/>
          <a:stretch>
            <a:fillRect/>
          </a:stretch>
        </p:blipFill>
        <p:spPr>
          <a:xfrm>
            <a:off x="8577858" y="0"/>
            <a:ext cx="3614142" cy="16221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530352"/>
            <a:ext cx="11094415" cy="640080"/>
          </a:xfrm>
          <a:prstGeom prst="rect">
            <a:avLst/>
          </a:prstGeom>
          <a:noFill/>
          <a:ln/>
        </p:spPr>
        <p:txBody>
          <a:bodyPr wrap="square" lIns="0" tIns="0" rIns="0" bIns="0" rtlCol="0" anchor="t"/>
          <a:lstStyle/>
          <a:p>
            <a:pPr marL="0" indent="0" algn="l">
              <a:buNone/>
            </a:pPr>
            <a:r>
              <a:rPr lang="en-US" sz="2800" b="1" dirty="0">
                <a:solidFill>
                  <a:schemeClr val="tx2"/>
                </a:solidFill>
              </a:rPr>
              <a:t>Presentation Outline</a:t>
            </a:r>
            <a:endParaRPr lang="en-US" sz="2800" dirty="0"/>
          </a:p>
        </p:txBody>
      </p:sp>
      <p:sp>
        <p:nvSpPr>
          <p:cNvPr id="4" name="Outline card 1"/>
          <p:cNvSpPr/>
          <p:nvPr/>
        </p:nvSpPr>
        <p:spPr>
          <a:xfrm>
            <a:off x="548640" y="1371600"/>
            <a:ext cx="5440680" cy="1417320"/>
          </a:xfrm>
          <a:prstGeom prst="roundRect">
            <a:avLst>
              <a:gd name="adj" fmla="val 5161"/>
            </a:avLst>
          </a:prstGeom>
          <a:solidFill>
            <a:schemeClr val="bg2"/>
          </a:solidFill>
          <a:ln w="9525">
            <a:solidFill>
              <a:schemeClr val="accent3"/>
            </a:solidFill>
            <a:prstDash val="solid"/>
          </a:ln>
        </p:spPr>
      </p:sp>
      <p:sp>
        <p:nvSpPr>
          <p:cNvPr id="5" name="Number 1"/>
          <p:cNvSpPr/>
          <p:nvPr/>
        </p:nvSpPr>
        <p:spPr>
          <a:xfrm>
            <a:off x="777240" y="1801368"/>
            <a:ext cx="548640" cy="548640"/>
          </a:xfrm>
          <a:prstGeom prst="ellipse">
            <a:avLst/>
          </a:prstGeom>
          <a:solidFill>
            <a:schemeClr val="tx2"/>
          </a:solidFill>
          <a:ln w="6350">
            <a:solidFill>
              <a:schemeClr val="tx2"/>
            </a:solidFill>
            <a:prstDash val="solid"/>
          </a:ln>
        </p:spPr>
      </p:sp>
      <p:sp>
        <p:nvSpPr>
          <p:cNvPr id="6" name="Text 3"/>
          <p:cNvSpPr txBox="1"/>
          <p:nvPr/>
        </p:nvSpPr>
        <p:spPr>
          <a:xfrm>
            <a:off x="777240" y="1801368"/>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1554480" y="1627632"/>
            <a:ext cx="4251960" cy="365760"/>
          </a:xfrm>
          <a:prstGeom prst="rect">
            <a:avLst/>
          </a:prstGeom>
          <a:noFill/>
          <a:ln/>
        </p:spPr>
        <p:txBody>
          <a:bodyPr wrap="square" lIns="0" tIns="0" rIns="0" bIns="0" rtlCol="0" anchor="t"/>
          <a:lstStyle/>
          <a:p>
            <a:pPr marL="0" indent="0">
              <a:buNone/>
            </a:pPr>
            <a:r>
              <a:rPr lang="en-US" sz="1700" b="1" dirty="0">
                <a:solidFill>
                  <a:schemeClr val="tx2"/>
                </a:solidFill>
              </a:rPr>
              <a:t>Problem Statement &amp; Motivation</a:t>
            </a:r>
            <a:endParaRPr lang="en-US" sz="1700" dirty="0"/>
          </a:p>
        </p:txBody>
      </p:sp>
      <p:sp>
        <p:nvSpPr>
          <p:cNvPr id="8" name="Text 5"/>
          <p:cNvSpPr txBox="1"/>
          <p:nvPr/>
        </p:nvSpPr>
        <p:spPr>
          <a:xfrm>
            <a:off x="1554480" y="2029968"/>
            <a:ext cx="4251960" cy="640080"/>
          </a:xfrm>
          <a:prstGeom prst="rect">
            <a:avLst/>
          </a:prstGeom>
          <a:noFill/>
          <a:ln/>
        </p:spPr>
        <p:txBody>
          <a:bodyPr wrap="square" lIns="0" tIns="0" rIns="0" bIns="0" rtlCol="0" anchor="t"/>
          <a:lstStyle/>
          <a:p>
            <a:pPr marL="0" indent="0">
              <a:buNone/>
            </a:pPr>
            <a:r>
              <a:rPr lang="en-US" sz="1400" dirty="0">
                <a:solidFill>
                  <a:schemeClr val="tx1"/>
                </a:solidFill>
              </a:rPr>
              <a:t>Unreliable UAV 5G links, single-value predictions and silent model failures.</a:t>
            </a:r>
            <a:endParaRPr lang="en-US" sz="1400" dirty="0"/>
          </a:p>
        </p:txBody>
      </p:sp>
      <p:sp>
        <p:nvSpPr>
          <p:cNvPr id="9" name="Outline card 2"/>
          <p:cNvSpPr/>
          <p:nvPr/>
        </p:nvSpPr>
        <p:spPr>
          <a:xfrm>
            <a:off x="6202375" y="1371600"/>
            <a:ext cx="5440680" cy="1417320"/>
          </a:xfrm>
          <a:prstGeom prst="roundRect">
            <a:avLst>
              <a:gd name="adj" fmla="val 5161"/>
            </a:avLst>
          </a:prstGeom>
          <a:solidFill>
            <a:schemeClr val="bg2"/>
          </a:solidFill>
          <a:ln w="9525">
            <a:solidFill>
              <a:schemeClr val="accent3"/>
            </a:solidFill>
            <a:prstDash val="solid"/>
          </a:ln>
        </p:spPr>
      </p:sp>
      <p:sp>
        <p:nvSpPr>
          <p:cNvPr id="10" name="Number 2"/>
          <p:cNvSpPr/>
          <p:nvPr/>
        </p:nvSpPr>
        <p:spPr>
          <a:xfrm>
            <a:off x="6430975" y="1801368"/>
            <a:ext cx="548640" cy="548640"/>
          </a:xfrm>
          <a:prstGeom prst="ellipse">
            <a:avLst/>
          </a:prstGeom>
          <a:solidFill>
            <a:schemeClr val="tx2"/>
          </a:solidFill>
          <a:ln w="6350">
            <a:solidFill>
              <a:schemeClr val="tx2"/>
            </a:solidFill>
            <a:prstDash val="solid"/>
          </a:ln>
        </p:spPr>
      </p:sp>
      <p:sp>
        <p:nvSpPr>
          <p:cNvPr id="11" name="Text 8"/>
          <p:cNvSpPr txBox="1"/>
          <p:nvPr/>
        </p:nvSpPr>
        <p:spPr>
          <a:xfrm>
            <a:off x="6430975" y="1801368"/>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9"/>
          <p:cNvSpPr txBox="1"/>
          <p:nvPr/>
        </p:nvSpPr>
        <p:spPr>
          <a:xfrm>
            <a:off x="7208215" y="1627632"/>
            <a:ext cx="4251960" cy="365760"/>
          </a:xfrm>
          <a:prstGeom prst="rect">
            <a:avLst/>
          </a:prstGeom>
          <a:noFill/>
          <a:ln/>
        </p:spPr>
        <p:txBody>
          <a:bodyPr wrap="square" lIns="0" tIns="0" rIns="0" bIns="0" rtlCol="0" anchor="t"/>
          <a:lstStyle/>
          <a:p>
            <a:pPr marL="0" indent="0">
              <a:buNone/>
            </a:pPr>
            <a:r>
              <a:rPr lang="en-US" sz="1700" b="1" dirty="0">
                <a:solidFill>
                  <a:schemeClr val="tx2"/>
                </a:solidFill>
              </a:rPr>
              <a:t>Project Objectives &amp; Key Metrics</a:t>
            </a:r>
            <a:endParaRPr lang="en-US" sz="1700" dirty="0"/>
          </a:p>
        </p:txBody>
      </p:sp>
      <p:sp>
        <p:nvSpPr>
          <p:cNvPr id="13" name="Text 10"/>
          <p:cNvSpPr txBox="1"/>
          <p:nvPr/>
        </p:nvSpPr>
        <p:spPr>
          <a:xfrm>
            <a:off x="7208215" y="2029968"/>
            <a:ext cx="4251960" cy="640080"/>
          </a:xfrm>
          <a:prstGeom prst="rect">
            <a:avLst/>
          </a:prstGeom>
          <a:noFill/>
          <a:ln/>
        </p:spPr>
        <p:txBody>
          <a:bodyPr wrap="square" lIns="0" tIns="0" rIns="0" bIns="0" rtlCol="0" anchor="t"/>
          <a:lstStyle/>
          <a:p>
            <a:pPr marL="0" indent="0">
              <a:buNone/>
            </a:pPr>
            <a:r>
              <a:rPr lang="en-US" sz="1400" dirty="0">
                <a:solidFill>
                  <a:schemeClr val="tx1"/>
                </a:solidFill>
              </a:rPr>
              <a:t>Predict throughput, quantify uncertainty, score fidelity and flag mismatch.</a:t>
            </a:r>
            <a:endParaRPr lang="en-US" sz="1400" dirty="0"/>
          </a:p>
        </p:txBody>
      </p:sp>
      <p:sp>
        <p:nvSpPr>
          <p:cNvPr id="14" name="Outline card 3"/>
          <p:cNvSpPr/>
          <p:nvPr/>
        </p:nvSpPr>
        <p:spPr>
          <a:xfrm>
            <a:off x="548640" y="2999232"/>
            <a:ext cx="5440680" cy="1417320"/>
          </a:xfrm>
          <a:prstGeom prst="roundRect">
            <a:avLst>
              <a:gd name="adj" fmla="val 5161"/>
            </a:avLst>
          </a:prstGeom>
          <a:solidFill>
            <a:schemeClr val="bg2"/>
          </a:solidFill>
          <a:ln w="9525">
            <a:solidFill>
              <a:schemeClr val="accent3"/>
            </a:solidFill>
            <a:prstDash val="solid"/>
          </a:ln>
        </p:spPr>
      </p:sp>
      <p:sp>
        <p:nvSpPr>
          <p:cNvPr id="15" name="Number 3"/>
          <p:cNvSpPr/>
          <p:nvPr/>
        </p:nvSpPr>
        <p:spPr>
          <a:xfrm>
            <a:off x="777240" y="3429000"/>
            <a:ext cx="548640" cy="548640"/>
          </a:xfrm>
          <a:prstGeom prst="ellipse">
            <a:avLst/>
          </a:prstGeom>
          <a:solidFill>
            <a:schemeClr val="tx2"/>
          </a:solidFill>
          <a:ln w="6350">
            <a:solidFill>
              <a:schemeClr val="tx2"/>
            </a:solidFill>
            <a:prstDash val="solid"/>
          </a:ln>
        </p:spPr>
      </p:sp>
      <p:sp>
        <p:nvSpPr>
          <p:cNvPr id="16" name="Text 13"/>
          <p:cNvSpPr txBox="1"/>
          <p:nvPr/>
        </p:nvSpPr>
        <p:spPr>
          <a:xfrm>
            <a:off x="777240" y="34290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7" name="Text 14"/>
          <p:cNvSpPr txBox="1"/>
          <p:nvPr/>
        </p:nvSpPr>
        <p:spPr>
          <a:xfrm>
            <a:off x="1554480" y="3255264"/>
            <a:ext cx="4251960" cy="365760"/>
          </a:xfrm>
          <a:prstGeom prst="rect">
            <a:avLst/>
          </a:prstGeom>
          <a:noFill/>
          <a:ln/>
        </p:spPr>
        <p:txBody>
          <a:bodyPr wrap="square" lIns="0" tIns="0" rIns="0" bIns="0" rtlCol="0" anchor="t"/>
          <a:lstStyle/>
          <a:p>
            <a:pPr marL="0" indent="0">
              <a:buNone/>
            </a:pPr>
            <a:r>
              <a:rPr lang="en-US" sz="1700" b="1" dirty="0">
                <a:solidFill>
                  <a:schemeClr val="tx2"/>
                </a:solidFill>
              </a:rPr>
              <a:t>Proposed Approach &amp; Tools</a:t>
            </a:r>
            <a:endParaRPr lang="en-US" sz="1700" dirty="0"/>
          </a:p>
        </p:txBody>
      </p:sp>
      <p:sp>
        <p:nvSpPr>
          <p:cNvPr id="18" name="Text 15"/>
          <p:cNvSpPr txBox="1"/>
          <p:nvPr/>
        </p:nvSpPr>
        <p:spPr>
          <a:xfrm>
            <a:off x="1554480" y="3657600"/>
            <a:ext cx="4251960" cy="640080"/>
          </a:xfrm>
          <a:prstGeom prst="rect">
            <a:avLst/>
          </a:prstGeom>
          <a:noFill/>
          <a:ln/>
        </p:spPr>
        <p:txBody>
          <a:bodyPr wrap="square" lIns="0" tIns="0" rIns="0" bIns="0" rtlCol="0" anchor="t"/>
          <a:lstStyle/>
          <a:p>
            <a:pPr marL="0" indent="0">
              <a:buNone/>
            </a:pPr>
            <a:r>
              <a:rPr lang="en-US" sz="1400" dirty="0">
                <a:solidFill>
                  <a:schemeClr val="tx1"/>
                </a:solidFill>
              </a:rPr>
              <a:t>6-stage pipeline using Pandas, scikit-learn and PyTorch with MC Dropout.</a:t>
            </a:r>
            <a:endParaRPr lang="en-US" sz="1400" dirty="0"/>
          </a:p>
        </p:txBody>
      </p:sp>
      <p:sp>
        <p:nvSpPr>
          <p:cNvPr id="19" name="Outline card 4"/>
          <p:cNvSpPr/>
          <p:nvPr/>
        </p:nvSpPr>
        <p:spPr>
          <a:xfrm>
            <a:off x="6202375" y="2999232"/>
            <a:ext cx="5440680" cy="1417320"/>
          </a:xfrm>
          <a:prstGeom prst="roundRect">
            <a:avLst>
              <a:gd name="adj" fmla="val 5161"/>
            </a:avLst>
          </a:prstGeom>
          <a:solidFill>
            <a:schemeClr val="bg2"/>
          </a:solidFill>
          <a:ln w="9525">
            <a:solidFill>
              <a:schemeClr val="accent3"/>
            </a:solidFill>
            <a:prstDash val="solid"/>
          </a:ln>
        </p:spPr>
      </p:sp>
      <p:sp>
        <p:nvSpPr>
          <p:cNvPr id="20" name="Number 4"/>
          <p:cNvSpPr/>
          <p:nvPr/>
        </p:nvSpPr>
        <p:spPr>
          <a:xfrm>
            <a:off x="6430975" y="3429000"/>
            <a:ext cx="548640" cy="548640"/>
          </a:xfrm>
          <a:prstGeom prst="ellipse">
            <a:avLst/>
          </a:prstGeom>
          <a:solidFill>
            <a:schemeClr val="tx2"/>
          </a:solidFill>
          <a:ln w="6350">
            <a:solidFill>
              <a:schemeClr val="tx2"/>
            </a:solidFill>
            <a:prstDash val="solid"/>
          </a:ln>
        </p:spPr>
      </p:sp>
      <p:sp>
        <p:nvSpPr>
          <p:cNvPr id="21" name="Text 18"/>
          <p:cNvSpPr txBox="1"/>
          <p:nvPr/>
        </p:nvSpPr>
        <p:spPr>
          <a:xfrm>
            <a:off x="6430975" y="34290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2" name="Text 19"/>
          <p:cNvSpPr txBox="1"/>
          <p:nvPr/>
        </p:nvSpPr>
        <p:spPr>
          <a:xfrm>
            <a:off x="7208215" y="3255264"/>
            <a:ext cx="4251960" cy="365760"/>
          </a:xfrm>
          <a:prstGeom prst="rect">
            <a:avLst/>
          </a:prstGeom>
          <a:noFill/>
          <a:ln/>
        </p:spPr>
        <p:txBody>
          <a:bodyPr wrap="square" lIns="0" tIns="0" rIns="0" bIns="0" rtlCol="0" anchor="t"/>
          <a:lstStyle/>
          <a:p>
            <a:pPr marL="0" indent="0">
              <a:buNone/>
            </a:pPr>
            <a:r>
              <a:rPr lang="en-US" sz="1700" b="1" dirty="0">
                <a:solidFill>
                  <a:schemeClr val="tx2"/>
                </a:solidFill>
              </a:rPr>
              <a:t>Dataset &amp; Feature Design</a:t>
            </a:r>
            <a:endParaRPr lang="en-US" sz="1700" dirty="0"/>
          </a:p>
        </p:txBody>
      </p:sp>
      <p:sp>
        <p:nvSpPr>
          <p:cNvPr id="23" name="Text 20"/>
          <p:cNvSpPr txBox="1"/>
          <p:nvPr/>
        </p:nvSpPr>
        <p:spPr>
          <a:xfrm>
            <a:off x="7208215" y="3657600"/>
            <a:ext cx="4251960" cy="640080"/>
          </a:xfrm>
          <a:prstGeom prst="rect">
            <a:avLst/>
          </a:prstGeom>
          <a:noFill/>
          <a:ln/>
        </p:spPr>
        <p:txBody>
          <a:bodyPr wrap="square" lIns="0" tIns="0" rIns="0" bIns="0" rtlCol="0" anchor="t"/>
          <a:lstStyle/>
          <a:p>
            <a:pPr marL="0" indent="0">
              <a:buNone/>
            </a:pPr>
            <a:r>
              <a:rPr lang="en-US" sz="1400" dirty="0">
                <a:solidFill>
                  <a:schemeClr val="tx1"/>
                </a:solidFill>
              </a:rPr>
              <a:t>652 merged samples, 16 input features and 4 download targets from one flight.</a:t>
            </a:r>
            <a:endParaRPr lang="en-US" sz="1400" dirty="0"/>
          </a:p>
        </p:txBody>
      </p:sp>
      <p:sp>
        <p:nvSpPr>
          <p:cNvPr id="24" name="Outline card 5"/>
          <p:cNvSpPr/>
          <p:nvPr/>
        </p:nvSpPr>
        <p:spPr>
          <a:xfrm>
            <a:off x="548640" y="4626864"/>
            <a:ext cx="5440680" cy="1417320"/>
          </a:xfrm>
          <a:prstGeom prst="roundRect">
            <a:avLst>
              <a:gd name="adj" fmla="val 5161"/>
            </a:avLst>
          </a:prstGeom>
          <a:solidFill>
            <a:schemeClr val="bg2"/>
          </a:solidFill>
          <a:ln w="9525">
            <a:solidFill>
              <a:schemeClr val="accent3"/>
            </a:solidFill>
            <a:prstDash val="solid"/>
          </a:ln>
        </p:spPr>
      </p:sp>
      <p:sp>
        <p:nvSpPr>
          <p:cNvPr id="25" name="Number 5"/>
          <p:cNvSpPr/>
          <p:nvPr/>
        </p:nvSpPr>
        <p:spPr>
          <a:xfrm>
            <a:off x="777240" y="5056632"/>
            <a:ext cx="548640" cy="548640"/>
          </a:xfrm>
          <a:prstGeom prst="ellipse">
            <a:avLst/>
          </a:prstGeom>
          <a:solidFill>
            <a:schemeClr val="tx2"/>
          </a:solidFill>
          <a:ln w="6350">
            <a:solidFill>
              <a:schemeClr val="tx2"/>
            </a:solidFill>
            <a:prstDash val="solid"/>
          </a:ln>
        </p:spPr>
      </p:sp>
      <p:sp>
        <p:nvSpPr>
          <p:cNvPr id="26" name="Text 23"/>
          <p:cNvSpPr txBox="1"/>
          <p:nvPr/>
        </p:nvSpPr>
        <p:spPr>
          <a:xfrm>
            <a:off x="777240" y="5056632"/>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7" name="Text 24"/>
          <p:cNvSpPr txBox="1"/>
          <p:nvPr/>
        </p:nvSpPr>
        <p:spPr>
          <a:xfrm>
            <a:off x="1554480" y="4882896"/>
            <a:ext cx="4251960" cy="365760"/>
          </a:xfrm>
          <a:prstGeom prst="rect">
            <a:avLst/>
          </a:prstGeom>
          <a:noFill/>
          <a:ln/>
        </p:spPr>
        <p:txBody>
          <a:bodyPr wrap="square" lIns="0" tIns="0" rIns="0" bIns="0" rtlCol="0" anchor="t"/>
          <a:lstStyle/>
          <a:p>
            <a:pPr marL="0" indent="0">
              <a:buNone/>
            </a:pPr>
            <a:r>
              <a:rPr lang="en-US" sz="1700" b="1" dirty="0">
                <a:solidFill>
                  <a:schemeClr val="tx2"/>
                </a:solidFill>
              </a:rPr>
              <a:t>Training &amp; Comparative Results</a:t>
            </a:r>
            <a:endParaRPr lang="en-US" sz="1700" dirty="0"/>
          </a:p>
        </p:txBody>
      </p:sp>
      <p:sp>
        <p:nvSpPr>
          <p:cNvPr id="28" name="Text 25"/>
          <p:cNvSpPr txBox="1"/>
          <p:nvPr/>
        </p:nvSpPr>
        <p:spPr>
          <a:xfrm>
            <a:off x="1554480" y="5285232"/>
            <a:ext cx="4251960" cy="640080"/>
          </a:xfrm>
          <a:prstGeom prst="rect">
            <a:avLst/>
          </a:prstGeom>
          <a:noFill/>
          <a:ln/>
        </p:spPr>
        <p:txBody>
          <a:bodyPr wrap="square" lIns="0" tIns="0" rIns="0" bIns="0" rtlCol="0" anchor="t"/>
          <a:lstStyle/>
          <a:p>
            <a:pPr marL="0" indent="0">
              <a:buNone/>
            </a:pPr>
            <a:r>
              <a:rPr lang="en-US" sz="1400" dirty="0">
                <a:solidFill>
                  <a:schemeClr val="tx1"/>
                </a:solidFill>
              </a:rPr>
              <a:t>FidelityNet vs Random Forest and persistence, with shift analysis and alerts.</a:t>
            </a:r>
            <a:endParaRPr lang="en-US" sz="1400" dirty="0"/>
          </a:p>
        </p:txBody>
      </p:sp>
      <p:sp>
        <p:nvSpPr>
          <p:cNvPr id="29" name="Outline card 6"/>
          <p:cNvSpPr/>
          <p:nvPr/>
        </p:nvSpPr>
        <p:spPr>
          <a:xfrm>
            <a:off x="6202375" y="4626864"/>
            <a:ext cx="5440680" cy="1417320"/>
          </a:xfrm>
          <a:prstGeom prst="roundRect">
            <a:avLst>
              <a:gd name="adj" fmla="val 5161"/>
            </a:avLst>
          </a:prstGeom>
          <a:solidFill>
            <a:schemeClr val="bg2"/>
          </a:solidFill>
          <a:ln w="9525">
            <a:solidFill>
              <a:schemeClr val="accent3"/>
            </a:solidFill>
            <a:prstDash val="solid"/>
          </a:ln>
        </p:spPr>
      </p:sp>
      <p:sp>
        <p:nvSpPr>
          <p:cNvPr id="30" name="Number 6"/>
          <p:cNvSpPr/>
          <p:nvPr/>
        </p:nvSpPr>
        <p:spPr>
          <a:xfrm>
            <a:off x="6430975" y="5056632"/>
            <a:ext cx="548640" cy="548640"/>
          </a:xfrm>
          <a:prstGeom prst="ellipse">
            <a:avLst/>
          </a:prstGeom>
          <a:solidFill>
            <a:schemeClr val="tx2"/>
          </a:solidFill>
          <a:ln w="6350">
            <a:solidFill>
              <a:schemeClr val="tx2"/>
            </a:solidFill>
            <a:prstDash val="solid"/>
          </a:ln>
        </p:spPr>
      </p:sp>
      <p:sp>
        <p:nvSpPr>
          <p:cNvPr id="31" name="Text 28"/>
          <p:cNvSpPr txBox="1"/>
          <p:nvPr/>
        </p:nvSpPr>
        <p:spPr>
          <a:xfrm>
            <a:off x="6430975" y="5056632"/>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32" name="Text 29"/>
          <p:cNvSpPr txBox="1"/>
          <p:nvPr/>
        </p:nvSpPr>
        <p:spPr>
          <a:xfrm>
            <a:off x="7208215" y="4882896"/>
            <a:ext cx="4251960" cy="365760"/>
          </a:xfrm>
          <a:prstGeom prst="rect">
            <a:avLst/>
          </a:prstGeom>
          <a:noFill/>
          <a:ln/>
        </p:spPr>
        <p:txBody>
          <a:bodyPr wrap="square" lIns="0" tIns="0" rIns="0" bIns="0" rtlCol="0" anchor="t"/>
          <a:lstStyle/>
          <a:p>
            <a:pPr marL="0" indent="0">
              <a:buNone/>
            </a:pPr>
            <a:r>
              <a:rPr lang="en-US" sz="1700" b="1" dirty="0">
                <a:solidFill>
                  <a:schemeClr val="tx2"/>
                </a:solidFill>
              </a:rPr>
              <a:t>Conclusions &amp; Next Steps</a:t>
            </a:r>
            <a:endParaRPr lang="en-US" sz="1700" dirty="0"/>
          </a:p>
        </p:txBody>
      </p:sp>
      <p:sp>
        <p:nvSpPr>
          <p:cNvPr id="33" name="Text 30"/>
          <p:cNvSpPr txBox="1"/>
          <p:nvPr/>
        </p:nvSpPr>
        <p:spPr>
          <a:xfrm>
            <a:off x="7208215" y="5285232"/>
            <a:ext cx="4251960" cy="640080"/>
          </a:xfrm>
          <a:prstGeom prst="rect">
            <a:avLst/>
          </a:prstGeom>
          <a:noFill/>
          <a:ln/>
        </p:spPr>
        <p:txBody>
          <a:bodyPr wrap="square" lIns="0" tIns="0" rIns="0" bIns="0" rtlCol="0" anchor="t"/>
          <a:lstStyle/>
          <a:p>
            <a:pPr marL="0" indent="0">
              <a:buNone/>
            </a:pPr>
            <a:r>
              <a:rPr lang="en-US" sz="1400" dirty="0">
                <a:solidFill>
                  <a:schemeClr val="tx1"/>
                </a:solidFill>
              </a:rPr>
              <a:t>Key findings, honest limitations, multi-flight data and a Streamlit dashboard.</a:t>
            </a:r>
            <a:endParaRPr lang="en-US" sz="1400" dirty="0"/>
          </a:p>
        </p:txBody>
      </p:sp>
      <p:sp>
        <p:nvSpPr>
          <p:cNvPr id="3"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530352"/>
            <a:ext cx="11094415" cy="640080"/>
          </a:xfrm>
          <a:prstGeom prst="rect">
            <a:avLst/>
          </a:prstGeom>
          <a:noFill/>
          <a:ln/>
        </p:spPr>
        <p:txBody>
          <a:bodyPr wrap="square" lIns="0" tIns="0" rIns="0" bIns="0" rtlCol="0" anchor="t"/>
          <a:lstStyle/>
          <a:p>
            <a:pPr marL="0" indent="0" algn="l">
              <a:buNone/>
            </a:pPr>
            <a:r>
              <a:rPr lang="en-US" sz="2800" b="1" dirty="0">
                <a:solidFill>
                  <a:schemeClr val="tx2"/>
                </a:solidFill>
              </a:rPr>
              <a:t>Problem Statement &amp; Motivation</a:t>
            </a:r>
            <a:endParaRPr lang="en-US" sz="2800" dirty="0"/>
          </a:p>
        </p:txBody>
      </p:sp>
      <p:sp>
        <p:nvSpPr>
          <p:cNvPr id="4" name="Changing Link Conditions circle"/>
          <p:cNvSpPr/>
          <p:nvPr/>
        </p:nvSpPr>
        <p:spPr>
          <a:xfrm>
            <a:off x="548640" y="1371600"/>
            <a:ext cx="685800" cy="685800"/>
          </a:xfrm>
          <a:prstGeom prst="ellipse">
            <a:avLst/>
          </a:prstGeom>
          <a:solidFill>
            <a:schemeClr val="tx2"/>
          </a:solidFill>
          <a:ln w="6350">
            <a:solidFill>
              <a:schemeClr val="tx2"/>
            </a:solidFill>
            <a:prstDash val="solid"/>
          </a:ln>
        </p:spPr>
      </p:sp>
      <p:pic>
        <p:nvPicPr>
          <p:cNvPr id="5" name="Image 0" descr="Changing Link Conditions"/>
          <p:cNvPicPr>
            <a:picLocks noChangeAspect="1"/>
          </p:cNvPicPr>
          <p:nvPr/>
        </p:nvPicPr>
        <p:blipFill>
          <a:blip r:embed="rId3"/>
          <a:stretch>
            <a:fillRect/>
          </a:stretch>
        </p:blipFill>
        <p:spPr>
          <a:xfrm>
            <a:off x="726948" y="1549908"/>
            <a:ext cx="329184" cy="329184"/>
          </a:xfrm>
          <a:prstGeom prst="rect">
            <a:avLst/>
          </a:prstGeom>
        </p:spPr>
      </p:pic>
      <p:sp>
        <p:nvSpPr>
          <p:cNvPr id="6" name="Text 2"/>
          <p:cNvSpPr txBox="1"/>
          <p:nvPr/>
        </p:nvSpPr>
        <p:spPr>
          <a:xfrm>
            <a:off x="1463040" y="1325880"/>
            <a:ext cx="6309360" cy="347472"/>
          </a:xfrm>
          <a:prstGeom prst="rect">
            <a:avLst/>
          </a:prstGeom>
          <a:noFill/>
          <a:ln/>
        </p:spPr>
        <p:txBody>
          <a:bodyPr wrap="square" lIns="0" tIns="0" rIns="0" bIns="0" rtlCol="0" anchor="t"/>
          <a:lstStyle/>
          <a:p>
            <a:pPr marL="0" indent="0">
              <a:buNone/>
            </a:pPr>
            <a:r>
              <a:rPr lang="en-US" sz="1800" b="1" dirty="0">
                <a:solidFill>
                  <a:schemeClr val="tx2"/>
                </a:solidFill>
              </a:rPr>
              <a:t>Changing Link Conditions</a:t>
            </a:r>
            <a:endParaRPr lang="en-US" sz="1800" dirty="0"/>
          </a:p>
        </p:txBody>
      </p:sp>
      <p:sp>
        <p:nvSpPr>
          <p:cNvPr id="7" name="Text 3"/>
          <p:cNvSpPr txBox="1"/>
          <p:nvPr/>
        </p:nvSpPr>
        <p:spPr>
          <a:xfrm>
            <a:off x="1463040" y="1709928"/>
            <a:ext cx="6309360" cy="109728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SNR, position, speed and battery change continuously in flight.</a:t>
            </a:r>
            <a:endParaRPr lang="en-US" sz="1400" dirty="0"/>
          </a:p>
          <a:p>
            <a:pPr marL="177800" indent="-177800">
              <a:spcAft>
                <a:spcPts val="300"/>
              </a:spcAft>
              <a:buSzPct val="100000"/>
              <a:buChar char="•"/>
            </a:pPr>
            <a:r>
              <a:rPr lang="en-US" sz="1400" dirty="0">
                <a:solidFill>
                  <a:schemeClr val="tx1"/>
                </a:solidFill>
              </a:rPr>
              <a:t>Four wireless links (lw1 to lw4) are measured in the same flight.</a:t>
            </a:r>
            <a:endParaRPr lang="en-US" sz="1400" dirty="0"/>
          </a:p>
          <a:p>
            <a:pPr marL="177800" indent="-177800">
              <a:spcAft>
                <a:spcPts val="300"/>
              </a:spcAft>
              <a:buSzPct val="100000"/>
              <a:buChar char="•"/>
            </a:pPr>
            <a:r>
              <a:rPr lang="en-US" sz="1400" dirty="0">
                <a:solidFill>
                  <a:schemeClr val="tx1"/>
                </a:solidFill>
              </a:rPr>
              <a:t>Download throughput therefore keeps changing from link to link.</a:t>
            </a:r>
            <a:endParaRPr lang="en-US" sz="1400" dirty="0"/>
          </a:p>
        </p:txBody>
      </p:sp>
      <p:sp>
        <p:nvSpPr>
          <p:cNvPr id="8" name="Single-Value Predictions circle"/>
          <p:cNvSpPr/>
          <p:nvPr/>
        </p:nvSpPr>
        <p:spPr>
          <a:xfrm>
            <a:off x="548640" y="3035808"/>
            <a:ext cx="685800" cy="685800"/>
          </a:xfrm>
          <a:prstGeom prst="ellipse">
            <a:avLst/>
          </a:prstGeom>
          <a:solidFill>
            <a:schemeClr val="tx2"/>
          </a:solidFill>
          <a:ln w="6350">
            <a:solidFill>
              <a:schemeClr val="tx2"/>
            </a:solidFill>
            <a:prstDash val="solid"/>
          </a:ln>
        </p:spPr>
      </p:sp>
      <p:pic>
        <p:nvPicPr>
          <p:cNvPr id="9" name="Image 1" descr="Single-Value Predictions"/>
          <p:cNvPicPr>
            <a:picLocks noChangeAspect="1"/>
          </p:cNvPicPr>
          <p:nvPr/>
        </p:nvPicPr>
        <p:blipFill>
          <a:blip r:embed="rId4"/>
          <a:stretch>
            <a:fillRect/>
          </a:stretch>
        </p:blipFill>
        <p:spPr>
          <a:xfrm>
            <a:off x="726948" y="3214116"/>
            <a:ext cx="329184" cy="329184"/>
          </a:xfrm>
          <a:prstGeom prst="rect">
            <a:avLst/>
          </a:prstGeom>
        </p:spPr>
      </p:pic>
      <p:sp>
        <p:nvSpPr>
          <p:cNvPr id="10" name="Text 5"/>
          <p:cNvSpPr txBox="1"/>
          <p:nvPr/>
        </p:nvSpPr>
        <p:spPr>
          <a:xfrm>
            <a:off x="1463040" y="2990088"/>
            <a:ext cx="6309360" cy="347472"/>
          </a:xfrm>
          <a:prstGeom prst="rect">
            <a:avLst/>
          </a:prstGeom>
          <a:noFill/>
          <a:ln/>
        </p:spPr>
        <p:txBody>
          <a:bodyPr wrap="square" lIns="0" tIns="0" rIns="0" bIns="0" rtlCol="0" anchor="t"/>
          <a:lstStyle/>
          <a:p>
            <a:pPr marL="0" indent="0">
              <a:buNone/>
            </a:pPr>
            <a:r>
              <a:rPr lang="en-US" sz="1800" b="1" dirty="0">
                <a:solidFill>
                  <a:schemeClr val="tx2"/>
                </a:solidFill>
              </a:rPr>
              <a:t>Single-Value Predictions</a:t>
            </a:r>
            <a:endParaRPr lang="en-US" sz="1800" dirty="0"/>
          </a:p>
        </p:txBody>
      </p:sp>
      <p:sp>
        <p:nvSpPr>
          <p:cNvPr id="11" name="Text 6"/>
          <p:cNvSpPr txBox="1"/>
          <p:nvPr/>
        </p:nvSpPr>
        <p:spPr>
          <a:xfrm>
            <a:off x="1463040" y="3374136"/>
            <a:ext cx="6309360" cy="109728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Usual models return one number with no sign of reliability.</a:t>
            </a:r>
            <a:endParaRPr lang="en-US" sz="1400" dirty="0"/>
          </a:p>
          <a:p>
            <a:pPr marL="177800" indent="-177800">
              <a:spcAft>
                <a:spcPts val="300"/>
              </a:spcAft>
              <a:buSzPct val="100000"/>
              <a:buChar char="•"/>
            </a:pPr>
            <a:r>
              <a:rPr lang="en-US" sz="1400" dirty="0">
                <a:solidFill>
                  <a:schemeClr val="tx1"/>
                </a:solidFill>
              </a:rPr>
              <a:t>They fail silently when flight conditions change.</a:t>
            </a:r>
            <a:endParaRPr lang="en-US" sz="1400" dirty="0"/>
          </a:p>
          <a:p>
            <a:pPr marL="177800" indent="-177800">
              <a:spcAft>
                <a:spcPts val="300"/>
              </a:spcAft>
              <a:buSzPct val="100000"/>
              <a:buChar char="•"/>
            </a:pPr>
            <a:r>
              <a:rPr lang="en-US" sz="1400" dirty="0">
                <a:solidFill>
                  <a:schemeClr val="tx1"/>
                </a:solidFill>
              </a:rPr>
              <a:t>Knowing when a prediction is shaky is as useful as the value.</a:t>
            </a:r>
            <a:endParaRPr lang="en-US" sz="1400" dirty="0"/>
          </a:p>
        </p:txBody>
      </p:sp>
      <p:sp>
        <p:nvSpPr>
          <p:cNvPr id="12" name="Short Recording, Shifting Conditions circle"/>
          <p:cNvSpPr/>
          <p:nvPr/>
        </p:nvSpPr>
        <p:spPr>
          <a:xfrm>
            <a:off x="548640" y="4700016"/>
            <a:ext cx="685800" cy="685800"/>
          </a:xfrm>
          <a:prstGeom prst="ellipse">
            <a:avLst/>
          </a:prstGeom>
          <a:solidFill>
            <a:schemeClr val="tx2"/>
          </a:solidFill>
          <a:ln w="6350">
            <a:solidFill>
              <a:schemeClr val="tx2"/>
            </a:solidFill>
            <a:prstDash val="solid"/>
          </a:ln>
        </p:spPr>
      </p:sp>
      <p:pic>
        <p:nvPicPr>
          <p:cNvPr id="13" name="Image 2" descr="Short Recording, Shifting Conditions"/>
          <p:cNvPicPr>
            <a:picLocks noChangeAspect="1"/>
          </p:cNvPicPr>
          <p:nvPr/>
        </p:nvPicPr>
        <p:blipFill>
          <a:blip r:embed="rId5"/>
          <a:stretch>
            <a:fillRect/>
          </a:stretch>
        </p:blipFill>
        <p:spPr>
          <a:xfrm>
            <a:off x="726948" y="4878324"/>
            <a:ext cx="329184" cy="329184"/>
          </a:xfrm>
          <a:prstGeom prst="rect">
            <a:avLst/>
          </a:prstGeom>
        </p:spPr>
      </p:pic>
      <p:sp>
        <p:nvSpPr>
          <p:cNvPr id="14" name="Text 8"/>
          <p:cNvSpPr txBox="1"/>
          <p:nvPr/>
        </p:nvSpPr>
        <p:spPr>
          <a:xfrm>
            <a:off x="1463040" y="4654296"/>
            <a:ext cx="6309360" cy="347472"/>
          </a:xfrm>
          <a:prstGeom prst="rect">
            <a:avLst/>
          </a:prstGeom>
          <a:noFill/>
          <a:ln/>
        </p:spPr>
        <p:txBody>
          <a:bodyPr wrap="square" lIns="0" tIns="0" rIns="0" bIns="0" rtlCol="0" anchor="t"/>
          <a:lstStyle/>
          <a:p>
            <a:pPr marL="0" indent="0">
              <a:buNone/>
            </a:pPr>
            <a:r>
              <a:rPr lang="en-US" sz="1800" b="1" dirty="0">
                <a:solidFill>
                  <a:schemeClr val="tx2"/>
                </a:solidFill>
              </a:rPr>
              <a:t>Short Recording, Shifting Conditions</a:t>
            </a:r>
            <a:endParaRPr lang="en-US" sz="1800" dirty="0"/>
          </a:p>
        </p:txBody>
      </p:sp>
      <p:sp>
        <p:nvSpPr>
          <p:cNvPr id="15" name="Text 9"/>
          <p:cNvSpPr txBox="1"/>
          <p:nvPr/>
        </p:nvSpPr>
        <p:spPr>
          <a:xfrm>
            <a:off x="1463040" y="5038344"/>
            <a:ext cx="6309360" cy="109728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Only one flight of about 11 minutes (652 samples) is available.</a:t>
            </a:r>
            <a:endParaRPr lang="en-US" sz="1400" dirty="0"/>
          </a:p>
          <a:p>
            <a:pPr marL="177800" indent="-177800">
              <a:spcAft>
                <a:spcPts val="300"/>
              </a:spcAft>
              <a:buSzPct val="100000"/>
              <a:buChar char="•"/>
            </a:pPr>
            <a:r>
              <a:rPr lang="en-US" sz="1400" dirty="0">
                <a:solidFill>
                  <a:schemeClr val="tx1"/>
                </a:solidFill>
              </a:rPr>
              <a:t>Behaviour learned early in the flight may not hold later.</a:t>
            </a:r>
            <a:endParaRPr lang="en-US" sz="1400" dirty="0"/>
          </a:p>
          <a:p>
            <a:pPr marL="177800" indent="-177800">
              <a:spcAft>
                <a:spcPts val="300"/>
              </a:spcAft>
              <a:buSzPct val="100000"/>
              <a:buChar char="•"/>
            </a:pPr>
            <a:r>
              <a:rPr lang="en-US" sz="1400" dirty="0">
                <a:solidFill>
                  <a:schemeClr val="tx1"/>
                </a:solidFill>
              </a:rPr>
              <a:t>Time-ordered splitting exposes this problem honestly.</a:t>
            </a:r>
            <a:endParaRPr lang="en-US" sz="1400" dirty="0"/>
          </a:p>
        </p:txBody>
      </p:sp>
      <p:sp>
        <p:nvSpPr>
          <p:cNvPr id="16" name="Research gap card"/>
          <p:cNvSpPr/>
          <p:nvPr/>
        </p:nvSpPr>
        <p:spPr>
          <a:xfrm>
            <a:off x="7955280" y="1325880"/>
            <a:ext cx="3685032" cy="4919472"/>
          </a:xfrm>
          <a:prstGeom prst="roundRect">
            <a:avLst>
              <a:gd name="adj" fmla="val 1985"/>
            </a:avLst>
          </a:prstGeom>
          <a:solidFill>
            <a:schemeClr val="bg2"/>
          </a:solidFill>
          <a:ln w="9525">
            <a:solidFill>
              <a:schemeClr val="accent3"/>
            </a:solidFill>
            <a:prstDash val="solid"/>
          </a:ln>
        </p:spPr>
      </p:sp>
      <p:sp>
        <p:nvSpPr>
          <p:cNvPr id="17" name="Text 11"/>
          <p:cNvSpPr txBox="1"/>
          <p:nvPr/>
        </p:nvSpPr>
        <p:spPr>
          <a:xfrm>
            <a:off x="8183880" y="1508760"/>
            <a:ext cx="3246120" cy="548640"/>
          </a:xfrm>
          <a:prstGeom prst="rect">
            <a:avLst/>
          </a:prstGeom>
          <a:noFill/>
          <a:ln/>
        </p:spPr>
        <p:txBody>
          <a:bodyPr wrap="square" lIns="0" tIns="0" rIns="0" bIns="0" rtlCol="0" anchor="t"/>
          <a:lstStyle/>
          <a:p>
            <a:pPr marL="0" indent="0">
              <a:buNone/>
            </a:pPr>
            <a:r>
              <a:rPr lang="en-US" sz="1400" b="1" dirty="0">
                <a:solidFill>
                  <a:schemeClr val="tx2"/>
                </a:solidFill>
              </a:rPr>
              <a:t>THE CORE RESEARCH GAP IDENTIFIED:</a:t>
            </a:r>
            <a:endParaRPr lang="en-US" sz="1400" dirty="0"/>
          </a:p>
        </p:txBody>
      </p:sp>
      <p:sp>
        <p:nvSpPr>
          <p:cNvPr id="18" name="Text 12"/>
          <p:cNvSpPr txBox="1"/>
          <p:nvPr/>
        </p:nvSpPr>
        <p:spPr>
          <a:xfrm>
            <a:off x="8183880" y="2103120"/>
            <a:ext cx="3246120" cy="2011680"/>
          </a:xfrm>
          <a:prstGeom prst="rect">
            <a:avLst/>
          </a:prstGeom>
          <a:noFill/>
          <a:ln/>
        </p:spPr>
        <p:txBody>
          <a:bodyPr wrap="square" lIns="0" tIns="0" rIns="0" bIns="0" rtlCol="0" anchor="t"/>
          <a:lstStyle/>
          <a:p>
            <a:pPr marL="0" indent="0">
              <a:buNone/>
            </a:pPr>
            <a:r>
              <a:rPr lang="en-US" sz="1450" dirty="0">
                <a:solidFill>
                  <a:schemeClr val="tx1"/>
                </a:solidFill>
              </a:rPr>
              <a:t>Standard throughput predictors give a single number with no uncertainty and no mismatch warning. When flight conditions drift they keep predicting confidently while being wrong, and nothing tells the operator the twin can no longer be trusted.</a:t>
            </a:r>
            <a:endParaRPr lang="en-US" sz="1450" dirty="0"/>
          </a:p>
        </p:txBody>
      </p:sp>
      <p:sp>
        <p:nvSpPr>
          <p:cNvPr id="19" name="Text 13"/>
          <p:cNvSpPr txBox="1"/>
          <p:nvPr/>
        </p:nvSpPr>
        <p:spPr>
          <a:xfrm>
            <a:off x="8183880" y="4160520"/>
            <a:ext cx="3246120" cy="274320"/>
          </a:xfrm>
          <a:prstGeom prst="rect">
            <a:avLst/>
          </a:prstGeom>
          <a:noFill/>
          <a:ln/>
        </p:spPr>
        <p:txBody>
          <a:bodyPr wrap="square" lIns="0" tIns="0" rIns="0" bIns="0" rtlCol="0" anchor="t"/>
          <a:lstStyle/>
          <a:p>
            <a:pPr marL="0" indent="0">
              <a:buNone/>
            </a:pPr>
            <a:r>
              <a:rPr lang="en-US" sz="1400" b="1" dirty="0">
                <a:solidFill>
                  <a:schemeClr val="tx2"/>
                </a:solidFill>
              </a:rPr>
              <a:t>PROJECT GOAL:</a:t>
            </a:r>
            <a:endParaRPr lang="en-US" sz="1400" dirty="0"/>
          </a:p>
        </p:txBody>
      </p:sp>
      <p:sp>
        <p:nvSpPr>
          <p:cNvPr id="20" name="Text 14"/>
          <p:cNvSpPr txBox="1"/>
          <p:nvPr/>
        </p:nvSpPr>
        <p:spPr>
          <a:xfrm>
            <a:off x="8183880" y="4480560"/>
            <a:ext cx="3246120" cy="640080"/>
          </a:xfrm>
          <a:prstGeom prst="rect">
            <a:avLst/>
          </a:prstGeom>
          <a:noFill/>
          <a:ln/>
        </p:spPr>
        <p:txBody>
          <a:bodyPr wrap="square" lIns="0" tIns="0" rIns="0" bIns="0" rtlCol="0" anchor="t"/>
          <a:lstStyle/>
          <a:p>
            <a:pPr marL="0" indent="0">
              <a:buNone/>
            </a:pPr>
            <a:r>
              <a:rPr lang="en-US" sz="1700" b="1" i="1" dirty="0">
                <a:solidFill>
                  <a:schemeClr val="tx2"/>
                </a:solidFill>
              </a:rPr>
              <a:t>value  ±  uncertainty  +  mismatch alert</a:t>
            </a:r>
            <a:endParaRPr lang="en-US" sz="1700" dirty="0"/>
          </a:p>
        </p:txBody>
      </p:sp>
      <p:sp>
        <p:nvSpPr>
          <p:cNvPr id="21" name="Text 15"/>
          <p:cNvSpPr txBox="1"/>
          <p:nvPr/>
        </p:nvSpPr>
        <p:spPr>
          <a:xfrm>
            <a:off x="8183880" y="5166360"/>
            <a:ext cx="3246120" cy="1005840"/>
          </a:xfrm>
          <a:prstGeom prst="rect">
            <a:avLst/>
          </a:prstGeom>
          <a:noFill/>
          <a:ln/>
        </p:spPr>
        <p:txBody>
          <a:bodyPr wrap="square" lIns="0" tIns="0" rIns="0" bIns="0" rtlCol="0" anchor="t"/>
          <a:lstStyle/>
          <a:p>
            <a:pPr marL="0" indent="0">
              <a:buNone/>
            </a:pPr>
            <a:r>
              <a:rPr lang="en-US" sz="1400" dirty="0">
                <a:solidFill>
                  <a:schemeClr val="tx1"/>
                </a:solidFill>
              </a:rPr>
              <a:t>Predict UAV download throughput with uncertainty and check whether the twin can be trusted.</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530352"/>
            <a:ext cx="11094415" cy="640080"/>
          </a:xfrm>
          <a:prstGeom prst="rect">
            <a:avLst/>
          </a:prstGeom>
          <a:noFill/>
          <a:ln/>
        </p:spPr>
        <p:txBody>
          <a:bodyPr wrap="square" lIns="0" tIns="0" rIns="0" bIns="0" rtlCol="0" anchor="t"/>
          <a:lstStyle/>
          <a:p>
            <a:pPr marL="0" indent="0" algn="l">
              <a:buNone/>
            </a:pPr>
            <a:r>
              <a:rPr lang="en-US" sz="2800" b="1" dirty="0">
                <a:solidFill>
                  <a:schemeClr val="tx2"/>
                </a:solidFill>
              </a:rPr>
              <a:t>Project Objectives &amp; Evaluation Metrics</a:t>
            </a:r>
            <a:endParaRPr lang="en-US" sz="2800" dirty="0"/>
          </a:p>
        </p:txBody>
      </p:sp>
      <p:sp>
        <p:nvSpPr>
          <p:cNvPr id="4" name="Objective card 1"/>
          <p:cNvSpPr/>
          <p:nvPr/>
        </p:nvSpPr>
        <p:spPr>
          <a:xfrm>
            <a:off x="548640" y="1325880"/>
            <a:ext cx="5440680" cy="1965960"/>
          </a:xfrm>
          <a:prstGeom prst="roundRect">
            <a:avLst>
              <a:gd name="adj" fmla="val 3721"/>
            </a:avLst>
          </a:prstGeom>
          <a:solidFill>
            <a:schemeClr val="bg2"/>
          </a:solidFill>
          <a:ln w="9525">
            <a:solidFill>
              <a:schemeClr val="accent3"/>
            </a:solidFill>
            <a:prstDash val="solid"/>
          </a:ln>
        </p:spPr>
      </p:sp>
      <p:sp>
        <p:nvSpPr>
          <p:cNvPr id="5" name="Predict Download Throughput circle"/>
          <p:cNvSpPr/>
          <p:nvPr/>
        </p:nvSpPr>
        <p:spPr>
          <a:xfrm>
            <a:off x="777240" y="1600200"/>
            <a:ext cx="685800" cy="685800"/>
          </a:xfrm>
          <a:prstGeom prst="ellipse">
            <a:avLst/>
          </a:prstGeom>
          <a:solidFill>
            <a:schemeClr val="tx2"/>
          </a:solidFill>
          <a:ln w="6350">
            <a:solidFill>
              <a:schemeClr val="tx2"/>
            </a:solidFill>
            <a:prstDash val="solid"/>
          </a:ln>
        </p:spPr>
      </p:sp>
      <p:pic>
        <p:nvPicPr>
          <p:cNvPr id="6" name="Image 0" descr="Predict Download Throughput"/>
          <p:cNvPicPr>
            <a:picLocks noChangeAspect="1"/>
          </p:cNvPicPr>
          <p:nvPr/>
        </p:nvPicPr>
        <p:blipFill>
          <a:blip r:embed="rId3"/>
          <a:stretch>
            <a:fillRect/>
          </a:stretch>
        </p:blipFill>
        <p:spPr>
          <a:xfrm>
            <a:off x="955548" y="1778508"/>
            <a:ext cx="329184" cy="329184"/>
          </a:xfrm>
          <a:prstGeom prst="rect">
            <a:avLst/>
          </a:prstGeom>
        </p:spPr>
      </p:pic>
      <p:sp>
        <p:nvSpPr>
          <p:cNvPr id="7" name="Text 3"/>
          <p:cNvSpPr txBox="1"/>
          <p:nvPr/>
        </p:nvSpPr>
        <p:spPr>
          <a:xfrm>
            <a:off x="1691640" y="1581912"/>
            <a:ext cx="4114800" cy="365760"/>
          </a:xfrm>
          <a:prstGeom prst="rect">
            <a:avLst/>
          </a:prstGeom>
          <a:noFill/>
          <a:ln/>
        </p:spPr>
        <p:txBody>
          <a:bodyPr wrap="square" lIns="0" tIns="0" rIns="0" bIns="0" rtlCol="0" anchor="t"/>
          <a:lstStyle/>
          <a:p>
            <a:pPr marL="0" indent="0">
              <a:buNone/>
            </a:pPr>
            <a:r>
              <a:rPr lang="en-US" sz="1800" b="1" dirty="0">
                <a:solidFill>
                  <a:schemeClr val="tx2"/>
                </a:solidFill>
              </a:rPr>
              <a:t>Predict Download Throughput</a:t>
            </a:r>
            <a:endParaRPr lang="en-US" sz="1800" dirty="0"/>
          </a:p>
        </p:txBody>
      </p:sp>
      <p:sp>
        <p:nvSpPr>
          <p:cNvPr id="8" name="Text 4"/>
          <p:cNvSpPr txBox="1"/>
          <p:nvPr/>
        </p:nvSpPr>
        <p:spPr>
          <a:xfrm>
            <a:off x="1691640" y="2057400"/>
            <a:ext cx="4114800" cy="1143000"/>
          </a:xfrm>
          <a:prstGeom prst="rect">
            <a:avLst/>
          </a:prstGeom>
          <a:noFill/>
          <a:ln/>
        </p:spPr>
        <p:txBody>
          <a:bodyPr wrap="square" lIns="0" tIns="0" rIns="0" bIns="0" rtlCol="0" anchor="t"/>
          <a:lstStyle/>
          <a:p>
            <a:pPr marL="0" indent="0">
              <a:buNone/>
            </a:pPr>
            <a:r>
              <a:rPr lang="en-US" sz="1550" dirty="0">
                <a:solidFill>
                  <a:schemeClr val="tx1"/>
                </a:solidFill>
              </a:rPr>
              <a:t>Predict the download measurement of four wireless links (dl_lw1 to dl_lw4) from SNR and UAV flight state.</a:t>
            </a:r>
            <a:endParaRPr lang="en-US" sz="1550" dirty="0"/>
          </a:p>
        </p:txBody>
      </p:sp>
      <p:sp>
        <p:nvSpPr>
          <p:cNvPr id="9" name="Objective card 2"/>
          <p:cNvSpPr/>
          <p:nvPr/>
        </p:nvSpPr>
        <p:spPr>
          <a:xfrm>
            <a:off x="6202375" y="1325880"/>
            <a:ext cx="5440680" cy="1965960"/>
          </a:xfrm>
          <a:prstGeom prst="roundRect">
            <a:avLst>
              <a:gd name="adj" fmla="val 3721"/>
            </a:avLst>
          </a:prstGeom>
          <a:solidFill>
            <a:schemeClr val="bg2"/>
          </a:solidFill>
          <a:ln w="9525">
            <a:solidFill>
              <a:schemeClr val="accent3"/>
            </a:solidFill>
            <a:prstDash val="solid"/>
          </a:ln>
        </p:spPr>
      </p:sp>
      <p:sp>
        <p:nvSpPr>
          <p:cNvPr id="10" name="Quantify Prediction Uncertainty circle"/>
          <p:cNvSpPr/>
          <p:nvPr/>
        </p:nvSpPr>
        <p:spPr>
          <a:xfrm>
            <a:off x="6430975" y="1600200"/>
            <a:ext cx="685800" cy="685800"/>
          </a:xfrm>
          <a:prstGeom prst="ellipse">
            <a:avLst/>
          </a:prstGeom>
          <a:solidFill>
            <a:schemeClr val="tx2"/>
          </a:solidFill>
          <a:ln w="6350">
            <a:solidFill>
              <a:schemeClr val="tx2"/>
            </a:solidFill>
            <a:prstDash val="solid"/>
          </a:ln>
        </p:spPr>
      </p:sp>
      <p:pic>
        <p:nvPicPr>
          <p:cNvPr id="11" name="Image 1" descr="Quantify Prediction Uncertainty"/>
          <p:cNvPicPr>
            <a:picLocks noChangeAspect="1"/>
          </p:cNvPicPr>
          <p:nvPr/>
        </p:nvPicPr>
        <p:blipFill>
          <a:blip r:embed="rId4"/>
          <a:stretch>
            <a:fillRect/>
          </a:stretch>
        </p:blipFill>
        <p:spPr>
          <a:xfrm>
            <a:off x="6609283" y="1778508"/>
            <a:ext cx="329184" cy="329184"/>
          </a:xfrm>
          <a:prstGeom prst="rect">
            <a:avLst/>
          </a:prstGeom>
        </p:spPr>
      </p:pic>
      <p:sp>
        <p:nvSpPr>
          <p:cNvPr id="12" name="Text 7"/>
          <p:cNvSpPr txBox="1"/>
          <p:nvPr/>
        </p:nvSpPr>
        <p:spPr>
          <a:xfrm>
            <a:off x="7345375" y="1581912"/>
            <a:ext cx="4114800" cy="365760"/>
          </a:xfrm>
          <a:prstGeom prst="rect">
            <a:avLst/>
          </a:prstGeom>
          <a:noFill/>
          <a:ln/>
        </p:spPr>
        <p:txBody>
          <a:bodyPr wrap="square" lIns="0" tIns="0" rIns="0" bIns="0" rtlCol="0" anchor="t"/>
          <a:lstStyle/>
          <a:p>
            <a:pPr marL="0" indent="0">
              <a:buNone/>
            </a:pPr>
            <a:r>
              <a:rPr lang="en-US" sz="1800" b="1" dirty="0">
                <a:solidFill>
                  <a:schemeClr val="tx2"/>
                </a:solidFill>
              </a:rPr>
              <a:t>Quantify Prediction Uncertainty</a:t>
            </a:r>
            <a:endParaRPr lang="en-US" sz="1800" dirty="0"/>
          </a:p>
        </p:txBody>
      </p:sp>
      <p:sp>
        <p:nvSpPr>
          <p:cNvPr id="13" name="Text 8"/>
          <p:cNvSpPr txBox="1"/>
          <p:nvPr/>
        </p:nvSpPr>
        <p:spPr>
          <a:xfrm>
            <a:off x="7345375" y="2057400"/>
            <a:ext cx="4114800" cy="1143000"/>
          </a:xfrm>
          <a:prstGeom prst="rect">
            <a:avLst/>
          </a:prstGeom>
          <a:noFill/>
          <a:ln/>
        </p:spPr>
        <p:txBody>
          <a:bodyPr wrap="square" lIns="0" tIns="0" rIns="0" bIns="0" rtlCol="0" anchor="t"/>
          <a:lstStyle/>
          <a:p>
            <a:pPr marL="0" indent="0">
              <a:buNone/>
            </a:pPr>
            <a:r>
              <a:rPr lang="en-US" sz="1550" dirty="0">
                <a:solidFill>
                  <a:schemeClr val="tx1"/>
                </a:solidFill>
              </a:rPr>
              <a:t>Use Monte Carlo Dropout (100 passes) to return a mean and a standard deviation instead of a single number.</a:t>
            </a:r>
            <a:endParaRPr lang="en-US" sz="1550" dirty="0"/>
          </a:p>
        </p:txBody>
      </p:sp>
      <p:sp>
        <p:nvSpPr>
          <p:cNvPr id="14" name="Objective card 3"/>
          <p:cNvSpPr/>
          <p:nvPr/>
        </p:nvSpPr>
        <p:spPr>
          <a:xfrm>
            <a:off x="548640" y="3474720"/>
            <a:ext cx="5440680" cy="1965960"/>
          </a:xfrm>
          <a:prstGeom prst="roundRect">
            <a:avLst>
              <a:gd name="adj" fmla="val 3721"/>
            </a:avLst>
          </a:prstGeom>
          <a:solidFill>
            <a:schemeClr val="bg2"/>
          </a:solidFill>
          <a:ln w="9525">
            <a:solidFill>
              <a:schemeClr val="accent3"/>
            </a:solidFill>
            <a:prstDash val="solid"/>
          </a:ln>
        </p:spPr>
      </p:sp>
      <p:sp>
        <p:nvSpPr>
          <p:cNvPr id="15" name="Score Twin Fidelity circle"/>
          <p:cNvSpPr/>
          <p:nvPr/>
        </p:nvSpPr>
        <p:spPr>
          <a:xfrm>
            <a:off x="777240" y="3749040"/>
            <a:ext cx="685800" cy="685800"/>
          </a:xfrm>
          <a:prstGeom prst="ellipse">
            <a:avLst/>
          </a:prstGeom>
          <a:solidFill>
            <a:schemeClr val="tx2"/>
          </a:solidFill>
          <a:ln w="6350">
            <a:solidFill>
              <a:schemeClr val="tx2"/>
            </a:solidFill>
            <a:prstDash val="solid"/>
          </a:ln>
        </p:spPr>
      </p:sp>
      <p:pic>
        <p:nvPicPr>
          <p:cNvPr id="16" name="Image 2" descr="Score Twin Fidelity"/>
          <p:cNvPicPr>
            <a:picLocks noChangeAspect="1"/>
          </p:cNvPicPr>
          <p:nvPr/>
        </p:nvPicPr>
        <p:blipFill>
          <a:blip r:embed="rId5"/>
          <a:stretch>
            <a:fillRect/>
          </a:stretch>
        </p:blipFill>
        <p:spPr>
          <a:xfrm>
            <a:off x="955548" y="3927348"/>
            <a:ext cx="329184" cy="329184"/>
          </a:xfrm>
          <a:prstGeom prst="rect">
            <a:avLst/>
          </a:prstGeom>
        </p:spPr>
      </p:pic>
      <p:sp>
        <p:nvSpPr>
          <p:cNvPr id="17" name="Text 11"/>
          <p:cNvSpPr txBox="1"/>
          <p:nvPr/>
        </p:nvSpPr>
        <p:spPr>
          <a:xfrm>
            <a:off x="1691640" y="3730752"/>
            <a:ext cx="4114800" cy="365760"/>
          </a:xfrm>
          <a:prstGeom prst="rect">
            <a:avLst/>
          </a:prstGeom>
          <a:noFill/>
          <a:ln/>
        </p:spPr>
        <p:txBody>
          <a:bodyPr wrap="square" lIns="0" tIns="0" rIns="0" bIns="0" rtlCol="0" anchor="t"/>
          <a:lstStyle/>
          <a:p>
            <a:pPr marL="0" indent="0">
              <a:buNone/>
            </a:pPr>
            <a:r>
              <a:rPr lang="en-US" sz="1800" b="1" dirty="0">
                <a:solidFill>
                  <a:schemeClr val="tx2"/>
                </a:solidFill>
              </a:rPr>
              <a:t>Score Twin Fidelity</a:t>
            </a:r>
            <a:endParaRPr lang="en-US" sz="1800" dirty="0"/>
          </a:p>
        </p:txBody>
      </p:sp>
      <p:sp>
        <p:nvSpPr>
          <p:cNvPr id="18" name="Text 12"/>
          <p:cNvSpPr txBox="1"/>
          <p:nvPr/>
        </p:nvSpPr>
        <p:spPr>
          <a:xfrm>
            <a:off x="1691640" y="4206240"/>
            <a:ext cx="4114800" cy="1143000"/>
          </a:xfrm>
          <a:prstGeom prst="rect">
            <a:avLst/>
          </a:prstGeom>
          <a:noFill/>
          <a:ln/>
        </p:spPr>
        <p:txBody>
          <a:bodyPr wrap="square" lIns="0" tIns="0" rIns="0" bIns="0" rtlCol="0" anchor="t"/>
          <a:lstStyle/>
          <a:p>
            <a:pPr marL="0" indent="0">
              <a:buNone/>
            </a:pPr>
            <a:r>
              <a:rPr lang="en-US" sz="1550" dirty="0">
                <a:solidFill>
                  <a:schemeClr val="tx1"/>
                </a:solidFill>
              </a:rPr>
              <a:t>Score fidelity per link with a relative-error metric and compare against Random Forest and persistence.</a:t>
            </a:r>
            <a:endParaRPr lang="en-US" sz="1550" dirty="0"/>
          </a:p>
        </p:txBody>
      </p:sp>
      <p:sp>
        <p:nvSpPr>
          <p:cNvPr id="19" name="Objective card 4"/>
          <p:cNvSpPr/>
          <p:nvPr/>
        </p:nvSpPr>
        <p:spPr>
          <a:xfrm>
            <a:off x="6202375" y="3474720"/>
            <a:ext cx="5440680" cy="1965960"/>
          </a:xfrm>
          <a:prstGeom prst="roundRect">
            <a:avLst>
              <a:gd name="adj" fmla="val 3721"/>
            </a:avLst>
          </a:prstGeom>
          <a:solidFill>
            <a:schemeClr val="bg2"/>
          </a:solidFill>
          <a:ln w="9525">
            <a:solidFill>
              <a:schemeClr val="accent3"/>
            </a:solidFill>
            <a:prstDash val="solid"/>
          </a:ln>
        </p:spPr>
      </p:sp>
      <p:sp>
        <p:nvSpPr>
          <p:cNvPr id="20" name="Detect Twin-Reality Mismatch circle"/>
          <p:cNvSpPr/>
          <p:nvPr/>
        </p:nvSpPr>
        <p:spPr>
          <a:xfrm>
            <a:off x="6430975" y="3749040"/>
            <a:ext cx="685800" cy="685800"/>
          </a:xfrm>
          <a:prstGeom prst="ellipse">
            <a:avLst/>
          </a:prstGeom>
          <a:solidFill>
            <a:schemeClr val="tx2"/>
          </a:solidFill>
          <a:ln w="6350">
            <a:solidFill>
              <a:schemeClr val="tx2"/>
            </a:solidFill>
            <a:prstDash val="solid"/>
          </a:ln>
        </p:spPr>
      </p:sp>
      <p:pic>
        <p:nvPicPr>
          <p:cNvPr id="21" name="Image 3" descr="Detect Twin-Reality Mismatch"/>
          <p:cNvPicPr>
            <a:picLocks noChangeAspect="1"/>
          </p:cNvPicPr>
          <p:nvPr/>
        </p:nvPicPr>
        <p:blipFill>
          <a:blip r:embed="rId6"/>
          <a:stretch>
            <a:fillRect/>
          </a:stretch>
        </p:blipFill>
        <p:spPr>
          <a:xfrm>
            <a:off x="6609283" y="3927348"/>
            <a:ext cx="329184" cy="329184"/>
          </a:xfrm>
          <a:prstGeom prst="rect">
            <a:avLst/>
          </a:prstGeom>
        </p:spPr>
      </p:pic>
      <p:sp>
        <p:nvSpPr>
          <p:cNvPr id="22" name="Text 15"/>
          <p:cNvSpPr txBox="1"/>
          <p:nvPr/>
        </p:nvSpPr>
        <p:spPr>
          <a:xfrm>
            <a:off x="7345375" y="3730752"/>
            <a:ext cx="4114800" cy="365760"/>
          </a:xfrm>
          <a:prstGeom prst="rect">
            <a:avLst/>
          </a:prstGeom>
          <a:noFill/>
          <a:ln/>
        </p:spPr>
        <p:txBody>
          <a:bodyPr wrap="square" lIns="0" tIns="0" rIns="0" bIns="0" rtlCol="0" anchor="t"/>
          <a:lstStyle/>
          <a:p>
            <a:pPr marL="0" indent="0">
              <a:buNone/>
            </a:pPr>
            <a:r>
              <a:rPr lang="en-US" sz="1800" b="1" dirty="0">
                <a:solidFill>
                  <a:schemeClr val="tx2"/>
                </a:solidFill>
              </a:rPr>
              <a:t>Detect Twin-Reality Mismatch</a:t>
            </a:r>
            <a:endParaRPr lang="en-US" sz="1800" dirty="0"/>
          </a:p>
        </p:txBody>
      </p:sp>
      <p:sp>
        <p:nvSpPr>
          <p:cNvPr id="23" name="Text 16"/>
          <p:cNvSpPr txBox="1"/>
          <p:nvPr/>
        </p:nvSpPr>
        <p:spPr>
          <a:xfrm>
            <a:off x="7345375" y="4206240"/>
            <a:ext cx="4114800" cy="1143000"/>
          </a:xfrm>
          <a:prstGeom prst="rect">
            <a:avLst/>
          </a:prstGeom>
          <a:noFill/>
          <a:ln/>
        </p:spPr>
        <p:txBody>
          <a:bodyPr wrap="square" lIns="0" tIns="0" rIns="0" bIns="0" rtlCol="0" anchor="t"/>
          <a:lstStyle/>
          <a:p>
            <a:pPr marL="0" indent="0">
              <a:buNone/>
            </a:pPr>
            <a:r>
              <a:rPr lang="en-US" sz="1550" dirty="0">
                <a:solidFill>
                  <a:schemeClr val="tx1"/>
                </a:solidFill>
              </a:rPr>
              <a:t>Raise an alert when a test error exceeds the 95th-percentile validation error, so shaky predictions are caught.</a:t>
            </a:r>
            <a:endParaRPr lang="en-US" sz="1550" dirty="0"/>
          </a:p>
        </p:txBody>
      </p:sp>
      <p:sp>
        <p:nvSpPr>
          <p:cNvPr id="24" name="Metrics strip"/>
          <p:cNvSpPr/>
          <p:nvPr/>
        </p:nvSpPr>
        <p:spPr>
          <a:xfrm>
            <a:off x="548640" y="5623560"/>
            <a:ext cx="11094415" cy="594360"/>
          </a:xfrm>
          <a:prstGeom prst="roundRect">
            <a:avLst>
              <a:gd name="adj" fmla="val 12308"/>
            </a:avLst>
          </a:prstGeom>
          <a:solidFill>
            <a:schemeClr val="bg2"/>
          </a:solidFill>
          <a:ln w="9525">
            <a:solidFill>
              <a:schemeClr val="accent3"/>
            </a:solidFill>
            <a:prstDash val="solid"/>
          </a:ln>
        </p:spPr>
      </p:sp>
      <p:sp>
        <p:nvSpPr>
          <p:cNvPr id="25" name="Text 18"/>
          <p:cNvSpPr txBox="1"/>
          <p:nvPr/>
        </p:nvSpPr>
        <p:spPr>
          <a:xfrm>
            <a:off x="777240" y="5623560"/>
            <a:ext cx="10637215" cy="594360"/>
          </a:xfrm>
          <a:prstGeom prst="rect">
            <a:avLst/>
          </a:prstGeom>
          <a:noFill/>
          <a:ln/>
        </p:spPr>
        <p:txBody>
          <a:bodyPr wrap="square" lIns="0" tIns="0" rIns="0" bIns="0" rtlCol="0" anchor="ctr"/>
          <a:lstStyle/>
          <a:p>
            <a:pPr marL="0" indent="0">
              <a:buNone/>
            </a:pPr>
            <a:r>
              <a:rPr lang="en-US" sz="1400" b="1" dirty="0">
                <a:solidFill>
                  <a:schemeClr val="tx2"/>
                </a:solidFill>
              </a:rPr>
              <a:t>CORE METRICS EVALUATED:  </a:t>
            </a:r>
            <a:r>
              <a:rPr lang="en-US" sz="1400" dirty="0">
                <a:solidFill>
                  <a:schemeClr val="tx1"/>
                </a:solidFill>
              </a:rPr>
              <a:t>1. MAE / RMSE   |   2. Mean Predictive σ   |   3. Fidelity Score (%)   |   4. Mismatch Alerts (count, %)</a:t>
            </a:r>
            <a:endParaRPr lang="en-US" sz="1400" dirty="0"/>
          </a:p>
        </p:txBody>
      </p:sp>
      <p:sp>
        <p:nvSpPr>
          <p:cNvPr id="3"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530352"/>
            <a:ext cx="11094415" cy="640080"/>
          </a:xfrm>
          <a:prstGeom prst="rect">
            <a:avLst/>
          </a:prstGeom>
          <a:noFill/>
          <a:ln/>
        </p:spPr>
        <p:txBody>
          <a:bodyPr wrap="square" lIns="0" tIns="0" rIns="0" bIns="0" rtlCol="0" anchor="t"/>
          <a:lstStyle/>
          <a:p>
            <a:pPr marL="0" indent="0" algn="l">
              <a:buNone/>
            </a:pPr>
            <a:r>
              <a:rPr lang="en-US" sz="2800" b="1" dirty="0">
                <a:solidFill>
                  <a:schemeClr val="tx2"/>
                </a:solidFill>
              </a:rPr>
              <a:t>Proposed 6-Step Methodology &amp; System Workflow</a:t>
            </a:r>
            <a:endParaRPr lang="en-US" sz="2800" dirty="0"/>
          </a:p>
        </p:txBody>
      </p:sp>
      <p:sp>
        <p:nvSpPr>
          <p:cNvPr id="4" name="Step card 1"/>
          <p:cNvSpPr/>
          <p:nvPr/>
        </p:nvSpPr>
        <p:spPr>
          <a:xfrm>
            <a:off x="548640" y="1325880"/>
            <a:ext cx="1734617" cy="3200400"/>
          </a:xfrm>
          <a:prstGeom prst="roundRect">
            <a:avLst>
              <a:gd name="adj" fmla="val 4217"/>
            </a:avLst>
          </a:prstGeom>
          <a:solidFill>
            <a:schemeClr val="bg2"/>
          </a:solidFill>
          <a:ln w="9525">
            <a:solidFill>
              <a:schemeClr val="accent3"/>
            </a:solidFill>
            <a:prstDash val="solid"/>
          </a:ln>
        </p:spPr>
      </p:sp>
      <p:sp>
        <p:nvSpPr>
          <p:cNvPr id="5" name="Number 1"/>
          <p:cNvSpPr/>
          <p:nvPr/>
        </p:nvSpPr>
        <p:spPr>
          <a:xfrm>
            <a:off x="1141628" y="1508760"/>
            <a:ext cx="548640" cy="548640"/>
          </a:xfrm>
          <a:prstGeom prst="ellipse">
            <a:avLst/>
          </a:prstGeom>
          <a:solidFill>
            <a:schemeClr val="tx2"/>
          </a:solidFill>
          <a:ln w="6350">
            <a:solidFill>
              <a:schemeClr val="tx2"/>
            </a:solidFill>
            <a:prstDash val="solid"/>
          </a:ln>
        </p:spPr>
      </p:sp>
      <p:sp>
        <p:nvSpPr>
          <p:cNvPr id="6" name="Text 3"/>
          <p:cNvSpPr txBox="1"/>
          <p:nvPr/>
        </p:nvSpPr>
        <p:spPr>
          <a:xfrm>
            <a:off x="1141628" y="1508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640080" y="2194560"/>
            <a:ext cx="1551737" cy="365760"/>
          </a:xfrm>
          <a:prstGeom prst="rect">
            <a:avLst/>
          </a:prstGeom>
          <a:noFill/>
          <a:ln/>
        </p:spPr>
        <p:txBody>
          <a:bodyPr wrap="square" lIns="0" tIns="0" rIns="0" bIns="0" rtlCol="0" anchor="t"/>
          <a:lstStyle/>
          <a:p>
            <a:pPr marL="0" indent="0" algn="ctr">
              <a:buNone/>
            </a:pPr>
            <a:r>
              <a:rPr lang="en-US" sz="1550" b="1" dirty="0">
                <a:solidFill>
                  <a:schemeClr val="tx2"/>
                </a:solidFill>
              </a:rPr>
              <a:t>Merge the Data</a:t>
            </a:r>
            <a:endParaRPr lang="en-US" sz="1550" dirty="0"/>
          </a:p>
        </p:txBody>
      </p:sp>
      <p:sp>
        <p:nvSpPr>
          <p:cNvPr id="8" name="Text 5"/>
          <p:cNvSpPr txBox="1"/>
          <p:nvPr/>
        </p:nvSpPr>
        <p:spPr>
          <a:xfrm>
            <a:off x="685800" y="2651760"/>
            <a:ext cx="1460297" cy="1828800"/>
          </a:xfrm>
          <a:prstGeom prst="rect">
            <a:avLst/>
          </a:prstGeom>
          <a:noFill/>
          <a:ln/>
        </p:spPr>
        <p:txBody>
          <a:bodyPr wrap="square" lIns="0" tIns="0" rIns="0" bIns="0" rtlCol="0" anchor="t"/>
          <a:lstStyle/>
          <a:p>
            <a:pPr marL="0" indent="0">
              <a:buNone/>
            </a:pPr>
            <a:r>
              <a:rPr lang="en-US" sz="1450" dirty="0">
                <a:solidFill>
                  <a:schemeClr val="tx1"/>
                </a:solidFill>
              </a:rPr>
              <a:t>Match SNR, download and telemetry files by timestamp (within 2 s): 652 × 22.</a:t>
            </a:r>
            <a:endParaRPr lang="en-US" sz="1450" dirty="0"/>
          </a:p>
        </p:txBody>
      </p:sp>
      <p:sp>
        <p:nvSpPr>
          <p:cNvPr id="9" name="Step card 2"/>
          <p:cNvSpPr/>
          <p:nvPr/>
        </p:nvSpPr>
        <p:spPr>
          <a:xfrm>
            <a:off x="2420417" y="1325880"/>
            <a:ext cx="1734617" cy="3200400"/>
          </a:xfrm>
          <a:prstGeom prst="roundRect">
            <a:avLst>
              <a:gd name="adj" fmla="val 4217"/>
            </a:avLst>
          </a:prstGeom>
          <a:solidFill>
            <a:schemeClr val="bg2"/>
          </a:solidFill>
          <a:ln w="9525">
            <a:solidFill>
              <a:schemeClr val="accent3"/>
            </a:solidFill>
            <a:prstDash val="solid"/>
          </a:ln>
        </p:spPr>
      </p:sp>
      <p:sp>
        <p:nvSpPr>
          <p:cNvPr id="10" name="Number 2"/>
          <p:cNvSpPr/>
          <p:nvPr/>
        </p:nvSpPr>
        <p:spPr>
          <a:xfrm>
            <a:off x="3013405" y="1508760"/>
            <a:ext cx="548640" cy="548640"/>
          </a:xfrm>
          <a:prstGeom prst="ellipse">
            <a:avLst/>
          </a:prstGeom>
          <a:solidFill>
            <a:schemeClr val="tx2"/>
          </a:solidFill>
          <a:ln w="6350">
            <a:solidFill>
              <a:schemeClr val="tx2"/>
            </a:solidFill>
            <a:prstDash val="solid"/>
          </a:ln>
        </p:spPr>
      </p:sp>
      <p:sp>
        <p:nvSpPr>
          <p:cNvPr id="11" name="Text 8"/>
          <p:cNvSpPr txBox="1"/>
          <p:nvPr/>
        </p:nvSpPr>
        <p:spPr>
          <a:xfrm>
            <a:off x="3013405" y="1508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9"/>
          <p:cNvSpPr txBox="1"/>
          <p:nvPr/>
        </p:nvSpPr>
        <p:spPr>
          <a:xfrm>
            <a:off x="2511857" y="2194560"/>
            <a:ext cx="1551737" cy="365760"/>
          </a:xfrm>
          <a:prstGeom prst="rect">
            <a:avLst/>
          </a:prstGeom>
          <a:noFill/>
          <a:ln/>
        </p:spPr>
        <p:txBody>
          <a:bodyPr wrap="square" lIns="0" tIns="0" rIns="0" bIns="0" rtlCol="0" anchor="t"/>
          <a:lstStyle/>
          <a:p>
            <a:pPr marL="0" indent="0" algn="ctr">
              <a:buNone/>
            </a:pPr>
            <a:r>
              <a:rPr lang="en-US" sz="1550" b="1" dirty="0">
                <a:solidFill>
                  <a:schemeClr val="tx2"/>
                </a:solidFill>
              </a:rPr>
              <a:t>Split by Time</a:t>
            </a:r>
            <a:endParaRPr lang="en-US" sz="1550" dirty="0"/>
          </a:p>
        </p:txBody>
      </p:sp>
      <p:sp>
        <p:nvSpPr>
          <p:cNvPr id="13" name="Text 10"/>
          <p:cNvSpPr txBox="1"/>
          <p:nvPr/>
        </p:nvSpPr>
        <p:spPr>
          <a:xfrm>
            <a:off x="2557577" y="2651760"/>
            <a:ext cx="1460297" cy="1828800"/>
          </a:xfrm>
          <a:prstGeom prst="rect">
            <a:avLst/>
          </a:prstGeom>
          <a:noFill/>
          <a:ln/>
        </p:spPr>
        <p:txBody>
          <a:bodyPr wrap="square" lIns="0" tIns="0" rIns="0" bIns="0" rtlCol="0" anchor="t"/>
          <a:lstStyle/>
          <a:p>
            <a:pPr marL="0" indent="0">
              <a:buNone/>
            </a:pPr>
            <a:r>
              <a:rPr lang="en-US" sz="1450" dirty="0">
                <a:solidFill>
                  <a:schemeClr val="tx1"/>
                </a:solidFill>
              </a:rPr>
              <a:t>First 70% train, next 15% validation, last 15% test: 456 / 98 / 98, no shuffling.</a:t>
            </a:r>
            <a:endParaRPr lang="en-US" sz="1450" dirty="0"/>
          </a:p>
        </p:txBody>
      </p:sp>
      <p:sp>
        <p:nvSpPr>
          <p:cNvPr id="14" name="Step card 3"/>
          <p:cNvSpPr/>
          <p:nvPr/>
        </p:nvSpPr>
        <p:spPr>
          <a:xfrm>
            <a:off x="4292194" y="1325880"/>
            <a:ext cx="1734617" cy="3200400"/>
          </a:xfrm>
          <a:prstGeom prst="roundRect">
            <a:avLst>
              <a:gd name="adj" fmla="val 4217"/>
            </a:avLst>
          </a:prstGeom>
          <a:solidFill>
            <a:schemeClr val="bg2"/>
          </a:solidFill>
          <a:ln w="9525">
            <a:solidFill>
              <a:schemeClr val="accent3"/>
            </a:solidFill>
            <a:prstDash val="solid"/>
          </a:ln>
        </p:spPr>
      </p:sp>
      <p:sp>
        <p:nvSpPr>
          <p:cNvPr id="15" name="Number 3"/>
          <p:cNvSpPr/>
          <p:nvPr/>
        </p:nvSpPr>
        <p:spPr>
          <a:xfrm>
            <a:off x="4885182" y="1508760"/>
            <a:ext cx="548640" cy="548640"/>
          </a:xfrm>
          <a:prstGeom prst="ellipse">
            <a:avLst/>
          </a:prstGeom>
          <a:solidFill>
            <a:schemeClr val="tx2"/>
          </a:solidFill>
          <a:ln w="6350">
            <a:solidFill>
              <a:schemeClr val="tx2"/>
            </a:solidFill>
            <a:prstDash val="solid"/>
          </a:ln>
        </p:spPr>
      </p:sp>
      <p:sp>
        <p:nvSpPr>
          <p:cNvPr id="16" name="Text 13"/>
          <p:cNvSpPr txBox="1"/>
          <p:nvPr/>
        </p:nvSpPr>
        <p:spPr>
          <a:xfrm>
            <a:off x="4885182" y="1508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7" name="Text 14"/>
          <p:cNvSpPr txBox="1"/>
          <p:nvPr/>
        </p:nvSpPr>
        <p:spPr>
          <a:xfrm>
            <a:off x="4383634" y="2194560"/>
            <a:ext cx="1551737" cy="365760"/>
          </a:xfrm>
          <a:prstGeom prst="rect">
            <a:avLst/>
          </a:prstGeom>
          <a:noFill/>
          <a:ln/>
        </p:spPr>
        <p:txBody>
          <a:bodyPr wrap="square" lIns="0" tIns="0" rIns="0" bIns="0" rtlCol="0" anchor="t"/>
          <a:lstStyle/>
          <a:p>
            <a:pPr marL="0" indent="0" algn="ctr">
              <a:buNone/>
            </a:pPr>
            <a:r>
              <a:rPr lang="en-US" sz="1550" b="1" dirty="0">
                <a:solidFill>
                  <a:schemeClr val="tx2"/>
                </a:solidFill>
              </a:rPr>
              <a:t>Scale Features</a:t>
            </a:r>
            <a:endParaRPr lang="en-US" sz="1550" dirty="0"/>
          </a:p>
        </p:txBody>
      </p:sp>
      <p:sp>
        <p:nvSpPr>
          <p:cNvPr id="18" name="Text 15"/>
          <p:cNvSpPr txBox="1"/>
          <p:nvPr/>
        </p:nvSpPr>
        <p:spPr>
          <a:xfrm>
            <a:off x="4429354" y="2651760"/>
            <a:ext cx="1460297" cy="1828800"/>
          </a:xfrm>
          <a:prstGeom prst="rect">
            <a:avLst/>
          </a:prstGeom>
          <a:noFill/>
          <a:ln/>
        </p:spPr>
        <p:txBody>
          <a:bodyPr wrap="square" lIns="0" tIns="0" rIns="0" bIns="0" rtlCol="0" anchor="t"/>
          <a:lstStyle/>
          <a:p>
            <a:pPr marL="0" indent="0">
              <a:buNone/>
            </a:pPr>
            <a:r>
              <a:rPr lang="en-US" sz="1450" dirty="0">
                <a:solidFill>
                  <a:schemeClr val="tx1"/>
                </a:solidFill>
              </a:rPr>
              <a:t>StandardScaler fitted on training data only, for inputs and targets.</a:t>
            </a:r>
            <a:endParaRPr lang="en-US" sz="1450" dirty="0"/>
          </a:p>
        </p:txBody>
      </p:sp>
      <p:sp>
        <p:nvSpPr>
          <p:cNvPr id="19" name="Step card 4"/>
          <p:cNvSpPr/>
          <p:nvPr/>
        </p:nvSpPr>
        <p:spPr>
          <a:xfrm>
            <a:off x="6163970" y="1325880"/>
            <a:ext cx="1734617" cy="3200400"/>
          </a:xfrm>
          <a:prstGeom prst="roundRect">
            <a:avLst>
              <a:gd name="adj" fmla="val 4217"/>
            </a:avLst>
          </a:prstGeom>
          <a:solidFill>
            <a:schemeClr val="bg2"/>
          </a:solidFill>
          <a:ln w="9525">
            <a:solidFill>
              <a:schemeClr val="accent3"/>
            </a:solidFill>
            <a:prstDash val="solid"/>
          </a:ln>
        </p:spPr>
      </p:sp>
      <p:sp>
        <p:nvSpPr>
          <p:cNvPr id="20" name="Number 4"/>
          <p:cNvSpPr/>
          <p:nvPr/>
        </p:nvSpPr>
        <p:spPr>
          <a:xfrm>
            <a:off x="6756959" y="1508760"/>
            <a:ext cx="548640" cy="548640"/>
          </a:xfrm>
          <a:prstGeom prst="ellipse">
            <a:avLst/>
          </a:prstGeom>
          <a:solidFill>
            <a:schemeClr val="tx2"/>
          </a:solidFill>
          <a:ln w="6350">
            <a:solidFill>
              <a:schemeClr val="tx2"/>
            </a:solidFill>
            <a:prstDash val="solid"/>
          </a:ln>
        </p:spPr>
      </p:sp>
      <p:sp>
        <p:nvSpPr>
          <p:cNvPr id="21" name="Text 18"/>
          <p:cNvSpPr txBox="1"/>
          <p:nvPr/>
        </p:nvSpPr>
        <p:spPr>
          <a:xfrm>
            <a:off x="6756959" y="1508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2" name="Text 19"/>
          <p:cNvSpPr txBox="1"/>
          <p:nvPr/>
        </p:nvSpPr>
        <p:spPr>
          <a:xfrm>
            <a:off x="6255410" y="2194560"/>
            <a:ext cx="1551737" cy="365760"/>
          </a:xfrm>
          <a:prstGeom prst="rect">
            <a:avLst/>
          </a:prstGeom>
          <a:noFill/>
          <a:ln/>
        </p:spPr>
        <p:txBody>
          <a:bodyPr wrap="square" lIns="0" tIns="0" rIns="0" bIns="0" rtlCol="0" anchor="t"/>
          <a:lstStyle/>
          <a:p>
            <a:pPr marL="0" indent="0" algn="ctr">
              <a:buNone/>
            </a:pPr>
            <a:r>
              <a:rPr lang="en-US" sz="1550" b="1" dirty="0">
                <a:solidFill>
                  <a:schemeClr val="tx2"/>
                </a:solidFill>
              </a:rPr>
              <a:t>Train Models</a:t>
            </a:r>
            <a:endParaRPr lang="en-US" sz="1550" dirty="0"/>
          </a:p>
        </p:txBody>
      </p:sp>
      <p:sp>
        <p:nvSpPr>
          <p:cNvPr id="23" name="Text 20"/>
          <p:cNvSpPr txBox="1"/>
          <p:nvPr/>
        </p:nvSpPr>
        <p:spPr>
          <a:xfrm>
            <a:off x="6301130" y="2651760"/>
            <a:ext cx="1460297" cy="1828800"/>
          </a:xfrm>
          <a:prstGeom prst="rect">
            <a:avLst/>
          </a:prstGeom>
          <a:noFill/>
          <a:ln/>
        </p:spPr>
        <p:txBody>
          <a:bodyPr wrap="square" lIns="0" tIns="0" rIns="0" bIns="0" rtlCol="0" anchor="t"/>
          <a:lstStyle/>
          <a:p>
            <a:pPr marL="0" indent="0">
              <a:buNone/>
            </a:pPr>
            <a:r>
              <a:rPr lang="en-US" sz="1450" dirty="0">
                <a:solidFill>
                  <a:schemeClr val="tx1"/>
                </a:solidFill>
              </a:rPr>
              <a:t>Random Forest baseline and the FidelityNet neural network (3,300 parameters).</a:t>
            </a:r>
            <a:endParaRPr lang="en-US" sz="1450" dirty="0"/>
          </a:p>
        </p:txBody>
      </p:sp>
      <p:sp>
        <p:nvSpPr>
          <p:cNvPr id="24" name="Step card 5"/>
          <p:cNvSpPr/>
          <p:nvPr/>
        </p:nvSpPr>
        <p:spPr>
          <a:xfrm>
            <a:off x="8035747" y="1325880"/>
            <a:ext cx="1734617" cy="3200400"/>
          </a:xfrm>
          <a:prstGeom prst="roundRect">
            <a:avLst>
              <a:gd name="adj" fmla="val 4217"/>
            </a:avLst>
          </a:prstGeom>
          <a:solidFill>
            <a:schemeClr val="bg2"/>
          </a:solidFill>
          <a:ln w="9525">
            <a:solidFill>
              <a:schemeClr val="accent3"/>
            </a:solidFill>
            <a:prstDash val="solid"/>
          </a:ln>
        </p:spPr>
      </p:sp>
      <p:sp>
        <p:nvSpPr>
          <p:cNvPr id="25" name="Number 5"/>
          <p:cNvSpPr/>
          <p:nvPr/>
        </p:nvSpPr>
        <p:spPr>
          <a:xfrm>
            <a:off x="8628736" y="1508760"/>
            <a:ext cx="548640" cy="548640"/>
          </a:xfrm>
          <a:prstGeom prst="ellipse">
            <a:avLst/>
          </a:prstGeom>
          <a:solidFill>
            <a:schemeClr val="tx2"/>
          </a:solidFill>
          <a:ln w="6350">
            <a:solidFill>
              <a:schemeClr val="tx2"/>
            </a:solidFill>
            <a:prstDash val="solid"/>
          </a:ln>
        </p:spPr>
      </p:sp>
      <p:sp>
        <p:nvSpPr>
          <p:cNvPr id="26" name="Text 23"/>
          <p:cNvSpPr txBox="1"/>
          <p:nvPr/>
        </p:nvSpPr>
        <p:spPr>
          <a:xfrm>
            <a:off x="8628736" y="1508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7" name="Text 24"/>
          <p:cNvSpPr txBox="1"/>
          <p:nvPr/>
        </p:nvSpPr>
        <p:spPr>
          <a:xfrm>
            <a:off x="8127187" y="2194560"/>
            <a:ext cx="1551737" cy="365760"/>
          </a:xfrm>
          <a:prstGeom prst="rect">
            <a:avLst/>
          </a:prstGeom>
          <a:noFill/>
          <a:ln/>
        </p:spPr>
        <p:txBody>
          <a:bodyPr wrap="square" lIns="0" tIns="0" rIns="0" bIns="0" rtlCol="0" anchor="t"/>
          <a:lstStyle/>
          <a:p>
            <a:pPr marL="0" indent="0" algn="ctr">
              <a:buNone/>
            </a:pPr>
            <a:r>
              <a:rPr lang="en-US" sz="1550" b="1" dirty="0">
                <a:solidFill>
                  <a:schemeClr val="tx2"/>
                </a:solidFill>
              </a:rPr>
              <a:t>Add Uncertainty</a:t>
            </a:r>
            <a:endParaRPr lang="en-US" sz="1550" dirty="0"/>
          </a:p>
        </p:txBody>
      </p:sp>
      <p:sp>
        <p:nvSpPr>
          <p:cNvPr id="28" name="Text 25"/>
          <p:cNvSpPr txBox="1"/>
          <p:nvPr/>
        </p:nvSpPr>
        <p:spPr>
          <a:xfrm>
            <a:off x="8172907" y="2651760"/>
            <a:ext cx="1460297" cy="1828800"/>
          </a:xfrm>
          <a:prstGeom prst="rect">
            <a:avLst/>
          </a:prstGeom>
          <a:noFill/>
          <a:ln/>
        </p:spPr>
        <p:txBody>
          <a:bodyPr wrap="square" lIns="0" tIns="0" rIns="0" bIns="0" rtlCol="0" anchor="t"/>
          <a:lstStyle/>
          <a:p>
            <a:pPr marL="0" indent="0">
              <a:buNone/>
            </a:pPr>
            <a:r>
              <a:rPr lang="en-US" sz="1450" dirty="0">
                <a:solidFill>
                  <a:schemeClr val="tx1"/>
                </a:solidFill>
              </a:rPr>
              <a:t>Keep dropout ON and predict 100 times: mean = answer, std = uncertainty.</a:t>
            </a:r>
            <a:endParaRPr lang="en-US" sz="1450" dirty="0"/>
          </a:p>
        </p:txBody>
      </p:sp>
      <p:sp>
        <p:nvSpPr>
          <p:cNvPr id="29" name="Step card 6"/>
          <p:cNvSpPr/>
          <p:nvPr/>
        </p:nvSpPr>
        <p:spPr>
          <a:xfrm>
            <a:off x="9907524" y="1325880"/>
            <a:ext cx="1734617" cy="3200400"/>
          </a:xfrm>
          <a:prstGeom prst="roundRect">
            <a:avLst>
              <a:gd name="adj" fmla="val 4217"/>
            </a:avLst>
          </a:prstGeom>
          <a:solidFill>
            <a:schemeClr val="bg2"/>
          </a:solidFill>
          <a:ln w="9525">
            <a:solidFill>
              <a:schemeClr val="accent3"/>
            </a:solidFill>
            <a:prstDash val="solid"/>
          </a:ln>
        </p:spPr>
      </p:sp>
      <p:sp>
        <p:nvSpPr>
          <p:cNvPr id="30" name="Number 6"/>
          <p:cNvSpPr/>
          <p:nvPr/>
        </p:nvSpPr>
        <p:spPr>
          <a:xfrm>
            <a:off x="10500512" y="1508760"/>
            <a:ext cx="548640" cy="548640"/>
          </a:xfrm>
          <a:prstGeom prst="ellipse">
            <a:avLst/>
          </a:prstGeom>
          <a:solidFill>
            <a:schemeClr val="tx2"/>
          </a:solidFill>
          <a:ln w="6350">
            <a:solidFill>
              <a:schemeClr val="tx2"/>
            </a:solidFill>
            <a:prstDash val="solid"/>
          </a:ln>
        </p:spPr>
      </p:sp>
      <p:sp>
        <p:nvSpPr>
          <p:cNvPr id="31" name="Text 28"/>
          <p:cNvSpPr txBox="1"/>
          <p:nvPr/>
        </p:nvSpPr>
        <p:spPr>
          <a:xfrm>
            <a:off x="10500512" y="1508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32" name="Text 29"/>
          <p:cNvSpPr txBox="1"/>
          <p:nvPr/>
        </p:nvSpPr>
        <p:spPr>
          <a:xfrm>
            <a:off x="9998964" y="2194560"/>
            <a:ext cx="1551737" cy="365760"/>
          </a:xfrm>
          <a:prstGeom prst="rect">
            <a:avLst/>
          </a:prstGeom>
          <a:noFill/>
          <a:ln/>
        </p:spPr>
        <p:txBody>
          <a:bodyPr wrap="square" lIns="0" tIns="0" rIns="0" bIns="0" rtlCol="0" anchor="t"/>
          <a:lstStyle/>
          <a:p>
            <a:pPr marL="0" indent="0" algn="ctr">
              <a:buNone/>
            </a:pPr>
            <a:r>
              <a:rPr lang="en-US" sz="1550" b="1" dirty="0">
                <a:solidFill>
                  <a:schemeClr val="tx2"/>
                </a:solidFill>
              </a:rPr>
              <a:t>Check the Twin</a:t>
            </a:r>
            <a:endParaRPr lang="en-US" sz="1550" dirty="0"/>
          </a:p>
        </p:txBody>
      </p:sp>
      <p:sp>
        <p:nvSpPr>
          <p:cNvPr id="33" name="Text 30"/>
          <p:cNvSpPr txBox="1"/>
          <p:nvPr/>
        </p:nvSpPr>
        <p:spPr>
          <a:xfrm>
            <a:off x="10044684" y="2651760"/>
            <a:ext cx="1460297" cy="1828800"/>
          </a:xfrm>
          <a:prstGeom prst="rect">
            <a:avLst/>
          </a:prstGeom>
          <a:noFill/>
          <a:ln/>
        </p:spPr>
        <p:txBody>
          <a:bodyPr wrap="square" lIns="0" tIns="0" rIns="0" bIns="0" rtlCol="0" anchor="t"/>
          <a:lstStyle/>
          <a:p>
            <a:pPr marL="0" indent="0">
              <a:buNone/>
            </a:pPr>
            <a:r>
              <a:rPr lang="en-US" sz="1450" dirty="0">
                <a:solidFill>
                  <a:schemeClr val="tx1"/>
                </a:solidFill>
              </a:rPr>
              <a:t>Fidelity score, persistence baseline and mismatch alerts from validation errors.</a:t>
            </a:r>
            <a:endParaRPr lang="en-US" sz="1450" dirty="0"/>
          </a:p>
        </p:txBody>
      </p:sp>
      <p:sp>
        <p:nvSpPr>
          <p:cNvPr id="34" name="Philosophy card"/>
          <p:cNvSpPr/>
          <p:nvPr/>
        </p:nvSpPr>
        <p:spPr>
          <a:xfrm>
            <a:off x="548640" y="4754880"/>
            <a:ext cx="11094415" cy="1463040"/>
          </a:xfrm>
          <a:prstGeom prst="roundRect">
            <a:avLst>
              <a:gd name="adj" fmla="val 5000"/>
            </a:avLst>
          </a:prstGeom>
          <a:solidFill>
            <a:schemeClr val="bg2"/>
          </a:solidFill>
          <a:ln w="9525">
            <a:solidFill>
              <a:schemeClr val="accent3"/>
            </a:solidFill>
            <a:prstDash val="solid"/>
          </a:ln>
        </p:spPr>
      </p:sp>
      <p:sp>
        <p:nvSpPr>
          <p:cNvPr id="35" name="Text 32"/>
          <p:cNvSpPr txBox="1"/>
          <p:nvPr/>
        </p:nvSpPr>
        <p:spPr>
          <a:xfrm>
            <a:off x="822960" y="4754880"/>
            <a:ext cx="10545775" cy="1463040"/>
          </a:xfrm>
          <a:prstGeom prst="rect">
            <a:avLst/>
          </a:prstGeom>
          <a:noFill/>
          <a:ln/>
        </p:spPr>
        <p:txBody>
          <a:bodyPr wrap="square" lIns="0" tIns="0" rIns="0" bIns="0" rtlCol="0" anchor="ctr"/>
          <a:lstStyle/>
          <a:p>
            <a:pPr marL="0" indent="0">
              <a:buNone/>
            </a:pPr>
            <a:r>
              <a:rPr lang="en-US" sz="1650" b="1" dirty="0">
                <a:solidFill>
                  <a:schemeClr val="tx2"/>
                </a:solidFill>
              </a:rPr>
              <a:t>KEY PHILOSOPHY:  </a:t>
            </a:r>
            <a:r>
              <a:rPr lang="en-US" sz="1650" dirty="0">
                <a:solidFill>
                  <a:schemeClr val="tx1"/>
                </a:solidFill>
              </a:rPr>
              <a:t>Everything is learned from the past and judged on the future. Scalers and alert thresholds use earlier data only, and the test segment stays untouched until final evaluation, so results show how the twin would behave on new flight data.</a:t>
            </a:r>
            <a:endParaRPr lang="en-US" sz="1650" dirty="0"/>
          </a:p>
        </p:txBody>
      </p:sp>
      <p:sp>
        <p:nvSpPr>
          <p:cNvPr id="3"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530352"/>
            <a:ext cx="11094415" cy="640080"/>
          </a:xfrm>
          <a:prstGeom prst="rect">
            <a:avLst/>
          </a:prstGeom>
          <a:noFill/>
          <a:ln/>
        </p:spPr>
        <p:txBody>
          <a:bodyPr wrap="square" lIns="0" tIns="0" rIns="0" bIns="0" rtlCol="0" anchor="t"/>
          <a:lstStyle/>
          <a:p>
            <a:pPr marL="0" indent="0" algn="l">
              <a:buNone/>
            </a:pPr>
            <a:r>
              <a:rPr lang="en-US" sz="2800" b="1" dirty="0">
                <a:solidFill>
                  <a:schemeClr val="tx2"/>
                </a:solidFill>
              </a:rPr>
              <a:t>Software Stack &amp; Technical Tools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4681728"/>
        </p:xfrm>
        <a:graphic>
          <a:graphicData uri="http://schemas.openxmlformats.org/drawingml/2006/table">
            <a:tbl>
              <a:tblPr/>
              <a:tblGrid>
                <a:gridCol w="246888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gridCol w="2590495">
                  <a:extLst>
                    <a:ext uri="{9D8B030D-6E8A-4147-A177-3AD203B41FA5}">
                      <a16:colId xmlns:a16="http://schemas.microsoft.com/office/drawing/2014/main" val="20002"/>
                    </a:ext>
                  </a:extLst>
                </a:gridCol>
              </a:tblGrid>
              <a:tr h="585216">
                <a:tc>
                  <a:txBody>
                    <a:bodyPr/>
                    <a:lstStyle/>
                    <a:p>
                      <a:pPr marL="0" indent="0" algn="l">
                        <a:buNone/>
                      </a:pPr>
                      <a:r>
                        <a:rPr lang="en-US" sz="1300" b="1" dirty="0">
                          <a:solidFill>
                            <a:schemeClr val="bg1"/>
                          </a:solidFill>
                        </a:rPr>
                        <a:t>Tool / Framework</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l">
                        <a:buNone/>
                      </a:pPr>
                      <a:r>
                        <a:rPr lang="en-US" sz="1300" b="1" dirty="0">
                          <a:solidFill>
                            <a:schemeClr val="bg1"/>
                          </a:solidFill>
                        </a:rPr>
                        <a:t>Specific Project Purpose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Engineering Role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85216">
                <a:tc>
                  <a:txBody>
                    <a:bodyPr/>
                    <a:lstStyle/>
                    <a:p>
                      <a:pPr marL="0" indent="0" algn="l">
                        <a:buNone/>
                      </a:pPr>
                      <a:r>
                        <a:rPr lang="en-US" sz="1300" b="1" dirty="0">
                          <a:solidFill>
                            <a:schemeClr val="tx2"/>
                          </a:solidFill>
                        </a:rPr>
                        <a:t>Python 3</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Primary language for data merging, the training loop and evaluation</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accent2"/>
                          </a:solidFill>
                        </a:rPr>
                        <a:t>Core Development</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85216">
                <a:tc>
                  <a:txBody>
                    <a:bodyPr/>
                    <a:lstStyle/>
                    <a:p>
                      <a:pPr marL="0" indent="0" algn="l">
                        <a:buNone/>
                      </a:pPr>
                      <a:r>
                        <a:rPr lang="en-US" sz="1300" b="1" dirty="0">
                          <a:solidFill>
                            <a:schemeClr val="tx2"/>
                          </a:solidFill>
                        </a:rPr>
                        <a:t>Google Colab</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Notebook environment with Google Drive access to the flight files (CPU runtime)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accent2"/>
                          </a:solidFill>
                        </a:rPr>
                        <a:t>Training Platform</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85216">
                <a:tc>
                  <a:txBody>
                    <a:bodyPr/>
                    <a:lstStyle/>
                    <a:p>
                      <a:pPr marL="0" indent="0" algn="l">
                        <a:buNone/>
                      </a:pPr>
                      <a:r>
                        <a:rPr lang="en-US" sz="1300" b="1" dirty="0">
                          <a:solidFill>
                            <a:schemeClr val="tx2"/>
                          </a:solidFill>
                        </a:rPr>
                        <a:t>NumPy 2.1 &amp; Pandas 2.2</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Timestamp merging (merge_asof), cleaning, percentiles and error computation</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accent2"/>
                          </a:solidFill>
                        </a:rPr>
                        <a:t>Data &amp; Math Computation</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85216">
                <a:tc>
                  <a:txBody>
                    <a:bodyPr/>
                    <a:lstStyle/>
                    <a:p>
                      <a:pPr marL="0" indent="0" algn="l">
                        <a:buNone/>
                      </a:pPr>
                      <a:r>
                        <a:rPr lang="en-US" sz="1300" b="1" dirty="0">
                          <a:solidFill>
                            <a:schemeClr val="tx2"/>
                          </a:solidFill>
                        </a:rPr>
                        <a:t>Matplotlib</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Uncertainty bands, learning curves, shift and mismatch plots</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accent2"/>
                          </a:solidFill>
                        </a:rPr>
                        <a:t>Visual Analytics</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85216">
                <a:tc>
                  <a:txBody>
                    <a:bodyPr/>
                    <a:lstStyle/>
                    <a:p>
                      <a:pPr marL="0" indent="0" algn="l">
                        <a:buNone/>
                      </a:pPr>
                      <a:r>
                        <a:rPr lang="en-US" sz="1300" b="1" dirty="0">
                          <a:solidFill>
                            <a:schemeClr val="tx2"/>
                          </a:solidFill>
                        </a:rPr>
                        <a:t>scikit-learn</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RandomForestRegressor baseline, StandardScaler, MAE / RMSE / R² metrics</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accent2"/>
                          </a:solidFill>
                        </a:rPr>
                        <a:t>Classical ML Toolkit</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85216">
                <a:tc>
                  <a:txBody>
                    <a:bodyPr/>
                    <a:lstStyle/>
                    <a:p>
                      <a:pPr marL="0" indent="0" algn="l">
                        <a:buNone/>
                      </a:pPr>
                      <a:r>
                        <a:rPr lang="en-US" sz="1300" b="1" dirty="0">
                          <a:solidFill>
                            <a:schemeClr val="tx2"/>
                          </a:solidFill>
                        </a:rPr>
                        <a:t>PyTorch 2.11 (CPU)</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FidelityNet (16 → 64 → 32 → 4), Adam optimiser and MC Dropout inference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accent2"/>
                          </a:solidFill>
                        </a:rPr>
                        <a:t>Neural Network Engine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585216">
                <a:tc>
                  <a:txBody>
                    <a:bodyPr/>
                    <a:lstStyle/>
                    <a:p>
                      <a:pPr marL="0" indent="0" algn="l">
                        <a:buNone/>
                      </a:pPr>
                      <a:r>
                        <a:rPr lang="en-US" sz="1300" b="1" dirty="0">
                          <a:solidFill>
                            <a:schemeClr val="tx2"/>
                          </a:solidFill>
                        </a:rPr>
                        <a:t>Streamlit (planned)</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Interactive dashboard for the final end-to-end demonstration</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accent2"/>
                          </a:solidFill>
                        </a:rPr>
                        <a:t>Planned Deliverable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530352"/>
            <a:ext cx="11094415" cy="640080"/>
          </a:xfrm>
          <a:prstGeom prst="rect">
            <a:avLst/>
          </a:prstGeom>
          <a:noFill/>
          <a:ln/>
        </p:spPr>
        <p:txBody>
          <a:bodyPr wrap="square" lIns="0" tIns="0" rIns="0" bIns="0" rtlCol="0" anchor="t"/>
          <a:lstStyle/>
          <a:p>
            <a:pPr marL="0" indent="0" algn="l">
              <a:buNone/>
            </a:pPr>
            <a:r>
              <a:rPr lang="en-US" sz="2800" b="1" dirty="0">
                <a:solidFill>
                  <a:schemeClr val="tx2"/>
                </a:solidFill>
              </a:rPr>
              <a:t>Dataset: Merged UAV 5G Flight Measurements</a:t>
            </a:r>
            <a:endParaRPr lang="en-US" sz="2800" dirty="0"/>
          </a:p>
        </p:txBody>
      </p:sp>
      <p:sp>
        <p:nvSpPr>
          <p:cNvPr id="4" name="Stat 652"/>
          <p:cNvSpPr/>
          <p:nvPr/>
        </p:nvSpPr>
        <p:spPr>
          <a:xfrm>
            <a:off x="548640" y="1325880"/>
            <a:ext cx="2636444" cy="1051560"/>
          </a:xfrm>
          <a:prstGeom prst="roundRect">
            <a:avLst>
              <a:gd name="adj" fmla="val 6957"/>
            </a:avLst>
          </a:prstGeom>
          <a:solidFill>
            <a:schemeClr val="bg2"/>
          </a:solidFill>
          <a:ln w="9525">
            <a:solidFill>
              <a:schemeClr val="accent3"/>
            </a:solidFill>
            <a:prstDash val="solid"/>
          </a:ln>
        </p:spPr>
      </p:sp>
      <p:sp>
        <p:nvSpPr>
          <p:cNvPr id="5" name="Text 2"/>
          <p:cNvSpPr txBox="1"/>
          <p:nvPr/>
        </p:nvSpPr>
        <p:spPr>
          <a:xfrm>
            <a:off x="640080" y="1417320"/>
            <a:ext cx="2453564" cy="525780"/>
          </a:xfrm>
          <a:prstGeom prst="rect">
            <a:avLst/>
          </a:prstGeom>
          <a:noFill/>
          <a:ln/>
        </p:spPr>
        <p:txBody>
          <a:bodyPr wrap="square" lIns="0" tIns="0" rIns="0" bIns="0" rtlCol="0" anchor="ctr"/>
          <a:lstStyle/>
          <a:p>
            <a:pPr marL="0" indent="0" algn="ctr">
              <a:buNone/>
            </a:pPr>
            <a:r>
              <a:rPr lang="en-US" sz="2800" b="1" dirty="0">
                <a:solidFill>
                  <a:schemeClr val="tx2"/>
                </a:solidFill>
              </a:rPr>
              <a:t>652</a:t>
            </a:r>
            <a:endParaRPr lang="en-US" sz="2800" dirty="0"/>
          </a:p>
        </p:txBody>
      </p:sp>
      <p:sp>
        <p:nvSpPr>
          <p:cNvPr id="6" name="Text 3"/>
          <p:cNvSpPr txBox="1"/>
          <p:nvPr/>
        </p:nvSpPr>
        <p:spPr>
          <a:xfrm>
            <a:off x="640080" y="1935785"/>
            <a:ext cx="2453564" cy="378562"/>
          </a:xfrm>
          <a:prstGeom prst="rect">
            <a:avLst/>
          </a:prstGeom>
          <a:noFill/>
          <a:ln/>
        </p:spPr>
        <p:txBody>
          <a:bodyPr wrap="square" lIns="0" tIns="0" rIns="0" bIns="0" rtlCol="0" anchor="t"/>
          <a:lstStyle/>
          <a:p>
            <a:pPr marL="0" indent="0" algn="ctr">
              <a:buNone/>
            </a:pPr>
            <a:r>
              <a:rPr lang="en-US" sz="1300" dirty="0">
                <a:solidFill>
                  <a:schemeClr val="accent2"/>
                </a:solidFill>
              </a:rPr>
              <a:t>Merged Samples</a:t>
            </a:r>
            <a:endParaRPr lang="en-US" sz="1300" dirty="0"/>
          </a:p>
        </p:txBody>
      </p:sp>
      <p:sp>
        <p:nvSpPr>
          <p:cNvPr id="7" name="Stat 16"/>
          <p:cNvSpPr/>
          <p:nvPr/>
        </p:nvSpPr>
        <p:spPr>
          <a:xfrm>
            <a:off x="3367964" y="1325880"/>
            <a:ext cx="2636444" cy="1051560"/>
          </a:xfrm>
          <a:prstGeom prst="roundRect">
            <a:avLst>
              <a:gd name="adj" fmla="val 6957"/>
            </a:avLst>
          </a:prstGeom>
          <a:solidFill>
            <a:schemeClr val="bg2"/>
          </a:solidFill>
          <a:ln w="9525">
            <a:solidFill>
              <a:schemeClr val="accent3"/>
            </a:solidFill>
            <a:prstDash val="solid"/>
          </a:ln>
        </p:spPr>
      </p:sp>
      <p:sp>
        <p:nvSpPr>
          <p:cNvPr id="8" name="Text 5"/>
          <p:cNvSpPr txBox="1"/>
          <p:nvPr/>
        </p:nvSpPr>
        <p:spPr>
          <a:xfrm>
            <a:off x="3459404" y="1417320"/>
            <a:ext cx="2453564" cy="525780"/>
          </a:xfrm>
          <a:prstGeom prst="rect">
            <a:avLst/>
          </a:prstGeom>
          <a:noFill/>
          <a:ln/>
        </p:spPr>
        <p:txBody>
          <a:bodyPr wrap="square" lIns="0" tIns="0" rIns="0" bIns="0" rtlCol="0" anchor="ctr"/>
          <a:lstStyle/>
          <a:p>
            <a:pPr marL="0" indent="0" algn="ctr">
              <a:buNone/>
            </a:pPr>
            <a:r>
              <a:rPr lang="en-US" sz="2800" b="1" dirty="0">
                <a:solidFill>
                  <a:schemeClr val="tx2"/>
                </a:solidFill>
              </a:rPr>
              <a:t>16</a:t>
            </a:r>
            <a:endParaRPr lang="en-US" sz="2800" dirty="0"/>
          </a:p>
        </p:txBody>
      </p:sp>
      <p:sp>
        <p:nvSpPr>
          <p:cNvPr id="9" name="Text 6"/>
          <p:cNvSpPr txBox="1"/>
          <p:nvPr/>
        </p:nvSpPr>
        <p:spPr>
          <a:xfrm>
            <a:off x="3459404" y="1935785"/>
            <a:ext cx="2453564" cy="378562"/>
          </a:xfrm>
          <a:prstGeom prst="rect">
            <a:avLst/>
          </a:prstGeom>
          <a:noFill/>
          <a:ln/>
        </p:spPr>
        <p:txBody>
          <a:bodyPr wrap="square" lIns="0" tIns="0" rIns="0" bIns="0" rtlCol="0" anchor="t"/>
          <a:lstStyle/>
          <a:p>
            <a:pPr marL="0" indent="0" algn="ctr">
              <a:buNone/>
            </a:pPr>
            <a:r>
              <a:rPr lang="en-US" sz="1300" dirty="0">
                <a:solidFill>
                  <a:schemeClr val="accent2"/>
                </a:solidFill>
              </a:rPr>
              <a:t>Input Features</a:t>
            </a:r>
            <a:endParaRPr lang="en-US" sz="1300" dirty="0"/>
          </a:p>
        </p:txBody>
      </p:sp>
      <p:sp>
        <p:nvSpPr>
          <p:cNvPr id="10" name="Stat 4"/>
          <p:cNvSpPr/>
          <p:nvPr/>
        </p:nvSpPr>
        <p:spPr>
          <a:xfrm>
            <a:off x="6187288" y="1325880"/>
            <a:ext cx="2636444" cy="1051560"/>
          </a:xfrm>
          <a:prstGeom prst="roundRect">
            <a:avLst>
              <a:gd name="adj" fmla="val 6957"/>
            </a:avLst>
          </a:prstGeom>
          <a:solidFill>
            <a:schemeClr val="bg2"/>
          </a:solidFill>
          <a:ln w="9525">
            <a:solidFill>
              <a:schemeClr val="accent3"/>
            </a:solidFill>
            <a:prstDash val="solid"/>
          </a:ln>
        </p:spPr>
      </p:sp>
      <p:sp>
        <p:nvSpPr>
          <p:cNvPr id="11" name="Text 8"/>
          <p:cNvSpPr txBox="1"/>
          <p:nvPr/>
        </p:nvSpPr>
        <p:spPr>
          <a:xfrm>
            <a:off x="6278728" y="1417320"/>
            <a:ext cx="2453564" cy="525780"/>
          </a:xfrm>
          <a:prstGeom prst="rect">
            <a:avLst/>
          </a:prstGeom>
          <a:noFill/>
          <a:ln/>
        </p:spPr>
        <p:txBody>
          <a:bodyPr wrap="square" lIns="0" tIns="0" rIns="0" bIns="0" rtlCol="0" anchor="ctr"/>
          <a:lstStyle/>
          <a:p>
            <a:pPr marL="0" indent="0" algn="ctr">
              <a:buNone/>
            </a:pPr>
            <a:r>
              <a:rPr lang="en-US" sz="2800" b="1" dirty="0">
                <a:solidFill>
                  <a:schemeClr val="tx2"/>
                </a:solidFill>
              </a:rPr>
              <a:t>4</a:t>
            </a:r>
            <a:endParaRPr lang="en-US" sz="2800" dirty="0"/>
          </a:p>
        </p:txBody>
      </p:sp>
      <p:sp>
        <p:nvSpPr>
          <p:cNvPr id="12" name="Text 9"/>
          <p:cNvSpPr txBox="1"/>
          <p:nvPr/>
        </p:nvSpPr>
        <p:spPr>
          <a:xfrm>
            <a:off x="6278728" y="1935785"/>
            <a:ext cx="2453564" cy="378562"/>
          </a:xfrm>
          <a:prstGeom prst="rect">
            <a:avLst/>
          </a:prstGeom>
          <a:noFill/>
          <a:ln/>
        </p:spPr>
        <p:txBody>
          <a:bodyPr wrap="square" lIns="0" tIns="0" rIns="0" bIns="0" rtlCol="0" anchor="t"/>
          <a:lstStyle/>
          <a:p>
            <a:pPr marL="0" indent="0" algn="ctr">
              <a:buNone/>
            </a:pPr>
            <a:r>
              <a:rPr lang="en-US" sz="1300" dirty="0">
                <a:solidFill>
                  <a:schemeClr val="accent2"/>
                </a:solidFill>
              </a:rPr>
              <a:t>Download Targets</a:t>
            </a:r>
            <a:endParaRPr lang="en-US" sz="1300" dirty="0"/>
          </a:p>
        </p:txBody>
      </p:sp>
      <p:sp>
        <p:nvSpPr>
          <p:cNvPr id="13" name="Stat ~11 min"/>
          <p:cNvSpPr/>
          <p:nvPr/>
        </p:nvSpPr>
        <p:spPr>
          <a:xfrm>
            <a:off x="9006611" y="1325880"/>
            <a:ext cx="2636444" cy="1051560"/>
          </a:xfrm>
          <a:prstGeom prst="roundRect">
            <a:avLst>
              <a:gd name="adj" fmla="val 6957"/>
            </a:avLst>
          </a:prstGeom>
          <a:solidFill>
            <a:schemeClr val="bg2"/>
          </a:solidFill>
          <a:ln w="9525">
            <a:solidFill>
              <a:schemeClr val="accent3"/>
            </a:solidFill>
            <a:prstDash val="solid"/>
          </a:ln>
        </p:spPr>
      </p:sp>
      <p:sp>
        <p:nvSpPr>
          <p:cNvPr id="14" name="Text 11"/>
          <p:cNvSpPr txBox="1"/>
          <p:nvPr/>
        </p:nvSpPr>
        <p:spPr>
          <a:xfrm>
            <a:off x="9098051" y="1417320"/>
            <a:ext cx="2453564" cy="525780"/>
          </a:xfrm>
          <a:prstGeom prst="rect">
            <a:avLst/>
          </a:prstGeom>
          <a:noFill/>
          <a:ln/>
        </p:spPr>
        <p:txBody>
          <a:bodyPr wrap="square" lIns="0" tIns="0" rIns="0" bIns="0" rtlCol="0" anchor="ctr"/>
          <a:lstStyle/>
          <a:p>
            <a:pPr marL="0" indent="0" algn="ctr">
              <a:buNone/>
            </a:pPr>
            <a:r>
              <a:rPr lang="en-US" sz="2800" b="1" dirty="0">
                <a:solidFill>
                  <a:schemeClr val="tx2"/>
                </a:solidFill>
              </a:rPr>
              <a:t>~11 min</a:t>
            </a:r>
            <a:endParaRPr lang="en-US" sz="2800" dirty="0"/>
          </a:p>
        </p:txBody>
      </p:sp>
      <p:sp>
        <p:nvSpPr>
          <p:cNvPr id="15" name="Text 12"/>
          <p:cNvSpPr txBox="1"/>
          <p:nvPr/>
        </p:nvSpPr>
        <p:spPr>
          <a:xfrm>
            <a:off x="9098051" y="1935785"/>
            <a:ext cx="2453564" cy="378562"/>
          </a:xfrm>
          <a:prstGeom prst="rect">
            <a:avLst/>
          </a:prstGeom>
          <a:noFill/>
          <a:ln/>
        </p:spPr>
        <p:txBody>
          <a:bodyPr wrap="square" lIns="0" tIns="0" rIns="0" bIns="0" rtlCol="0" anchor="t"/>
          <a:lstStyle/>
          <a:p>
            <a:pPr marL="0" indent="0" algn="ctr">
              <a:buNone/>
            </a:pPr>
            <a:r>
              <a:rPr lang="en-US" sz="1300" dirty="0">
                <a:solidFill>
                  <a:schemeClr val="accent2"/>
                </a:solidFill>
              </a:rPr>
              <a:t>One Flight, 11 Sep 2025</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5394960" cy="2057400"/>
        </p:xfrm>
        <a:graphic>
          <a:graphicData uri="http://schemas.openxmlformats.org/drawingml/2006/table">
            <a:tbl>
              <a:tblPr/>
              <a:tblGrid>
                <a:gridCol w="28346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411480">
                <a:tc>
                  <a:txBody>
                    <a:bodyPr/>
                    <a:lstStyle/>
                    <a:p>
                      <a:pPr marL="0" indent="0" algn="l">
                        <a:buNone/>
                      </a:pPr>
                      <a:r>
                        <a:rPr lang="en-US" sz="1300" b="1" dirty="0">
                          <a:solidFill>
                            <a:schemeClr val="bg1"/>
                          </a:solidFill>
                        </a:rPr>
                        <a:t>File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Rows</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Columns</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11480">
                <a:tc>
                  <a:txBody>
                    <a:bodyPr/>
                    <a:lstStyle/>
                    <a:p>
                      <a:pPr marL="0" indent="0" algn="l">
                        <a:buNone/>
                      </a:pPr>
                      <a:r>
                        <a:rPr lang="en-US" sz="1300" dirty="0">
                          <a:solidFill>
                            <a:schemeClr val="tx1"/>
                          </a:solidFill>
                        </a:rPr>
                        <a:t>SNR measurements</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653</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18</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1480">
                <a:tc>
                  <a:txBody>
                    <a:bodyPr/>
                    <a:lstStyle/>
                    <a:p>
                      <a:pPr marL="0" indent="0" algn="l">
                        <a:buNone/>
                      </a:pPr>
                      <a:r>
                        <a:rPr lang="en-US" sz="1300" dirty="0">
                          <a:solidFill>
                            <a:schemeClr val="tx1"/>
                          </a:solidFill>
                        </a:rPr>
                        <a:t>Download measurements</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652</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18</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11480">
                <a:tc>
                  <a:txBody>
                    <a:bodyPr/>
                    <a:lstStyle/>
                    <a:p>
                      <a:pPr marL="0" indent="0" algn="l">
                        <a:buNone/>
                      </a:pPr>
                      <a:r>
                        <a:rPr lang="en-US" sz="1300" dirty="0">
                          <a:solidFill>
                            <a:schemeClr val="tx1"/>
                          </a:solidFill>
                        </a:rPr>
                        <a:t>UAV telemetry</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716</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14</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pPr marL="0" indent="0" algn="l">
                        <a:buNone/>
                      </a:pPr>
                      <a:r>
                        <a:rPr lang="en-US" sz="1300" b="1" dirty="0">
                          <a:solidFill>
                            <a:schemeClr val="tx2"/>
                          </a:solidFill>
                        </a:rPr>
                        <a:t>Merged + cleaned</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652</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22</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17" name="Split Train (70%)"/>
          <p:cNvSpPr/>
          <p:nvPr/>
        </p:nvSpPr>
        <p:spPr>
          <a:xfrm>
            <a:off x="548640" y="4846320"/>
            <a:ext cx="1706880" cy="868680"/>
          </a:xfrm>
          <a:prstGeom prst="roundRect">
            <a:avLst>
              <a:gd name="adj" fmla="val 8421"/>
            </a:avLst>
          </a:prstGeom>
          <a:solidFill>
            <a:schemeClr val="bg2"/>
          </a:solidFill>
          <a:ln w="9525">
            <a:solidFill>
              <a:schemeClr val="accent3"/>
            </a:solidFill>
            <a:prstDash val="solid"/>
          </a:ln>
        </p:spPr>
      </p:sp>
      <p:sp>
        <p:nvSpPr>
          <p:cNvPr id="18" name="Text 14"/>
          <p:cNvSpPr txBox="1"/>
          <p:nvPr/>
        </p:nvSpPr>
        <p:spPr>
          <a:xfrm>
            <a:off x="548640" y="4892040"/>
            <a:ext cx="1706880" cy="457200"/>
          </a:xfrm>
          <a:prstGeom prst="rect">
            <a:avLst/>
          </a:prstGeom>
          <a:noFill/>
          <a:ln/>
        </p:spPr>
        <p:txBody>
          <a:bodyPr wrap="square" lIns="0" tIns="0" rIns="0" bIns="0" rtlCol="0" anchor="t"/>
          <a:lstStyle/>
          <a:p>
            <a:pPr marL="0" indent="0" algn="ctr">
              <a:buNone/>
            </a:pPr>
            <a:r>
              <a:rPr lang="en-US" sz="2200" b="1" dirty="0">
                <a:solidFill>
                  <a:schemeClr val="tx2"/>
                </a:solidFill>
              </a:rPr>
              <a:t>456</a:t>
            </a:r>
            <a:endParaRPr lang="en-US" sz="2200" dirty="0"/>
          </a:p>
        </p:txBody>
      </p:sp>
      <p:sp>
        <p:nvSpPr>
          <p:cNvPr id="19" name="Text 15"/>
          <p:cNvSpPr txBox="1"/>
          <p:nvPr/>
        </p:nvSpPr>
        <p:spPr>
          <a:xfrm>
            <a:off x="548640" y="5349240"/>
            <a:ext cx="1706880" cy="274320"/>
          </a:xfrm>
          <a:prstGeom prst="rect">
            <a:avLst/>
          </a:prstGeom>
          <a:noFill/>
          <a:ln/>
        </p:spPr>
        <p:txBody>
          <a:bodyPr wrap="square" lIns="0" tIns="0" rIns="0" bIns="0" rtlCol="0" anchor="t"/>
          <a:lstStyle/>
          <a:p>
            <a:pPr marL="0" indent="0" algn="ctr">
              <a:buNone/>
            </a:pPr>
            <a:r>
              <a:rPr lang="en-US" sz="1300" dirty="0">
                <a:solidFill>
                  <a:schemeClr val="accent2"/>
                </a:solidFill>
              </a:rPr>
              <a:t>Train (70%)</a:t>
            </a:r>
            <a:endParaRPr lang="en-US" sz="1300" dirty="0"/>
          </a:p>
        </p:txBody>
      </p:sp>
      <p:sp>
        <p:nvSpPr>
          <p:cNvPr id="20" name="Split Validation (15%)"/>
          <p:cNvSpPr/>
          <p:nvPr/>
        </p:nvSpPr>
        <p:spPr>
          <a:xfrm>
            <a:off x="2392680" y="4846320"/>
            <a:ext cx="1706880" cy="868680"/>
          </a:xfrm>
          <a:prstGeom prst="roundRect">
            <a:avLst>
              <a:gd name="adj" fmla="val 8421"/>
            </a:avLst>
          </a:prstGeom>
          <a:solidFill>
            <a:schemeClr val="bg2"/>
          </a:solidFill>
          <a:ln w="9525">
            <a:solidFill>
              <a:schemeClr val="accent3"/>
            </a:solidFill>
            <a:prstDash val="solid"/>
          </a:ln>
        </p:spPr>
      </p:sp>
      <p:sp>
        <p:nvSpPr>
          <p:cNvPr id="21" name="Text 17"/>
          <p:cNvSpPr txBox="1"/>
          <p:nvPr/>
        </p:nvSpPr>
        <p:spPr>
          <a:xfrm>
            <a:off x="2392680" y="4892040"/>
            <a:ext cx="1706880" cy="457200"/>
          </a:xfrm>
          <a:prstGeom prst="rect">
            <a:avLst/>
          </a:prstGeom>
          <a:noFill/>
          <a:ln/>
        </p:spPr>
        <p:txBody>
          <a:bodyPr wrap="square" lIns="0" tIns="0" rIns="0" bIns="0" rtlCol="0" anchor="t"/>
          <a:lstStyle/>
          <a:p>
            <a:pPr marL="0" indent="0" algn="ctr">
              <a:buNone/>
            </a:pPr>
            <a:r>
              <a:rPr lang="en-US" sz="2200" b="1" dirty="0">
                <a:solidFill>
                  <a:schemeClr val="tx2"/>
                </a:solidFill>
              </a:rPr>
              <a:t>98</a:t>
            </a:r>
            <a:endParaRPr lang="en-US" sz="2200" dirty="0"/>
          </a:p>
        </p:txBody>
      </p:sp>
      <p:sp>
        <p:nvSpPr>
          <p:cNvPr id="22" name="Text 18"/>
          <p:cNvSpPr txBox="1"/>
          <p:nvPr/>
        </p:nvSpPr>
        <p:spPr>
          <a:xfrm>
            <a:off x="2392680" y="5349240"/>
            <a:ext cx="1706880" cy="274320"/>
          </a:xfrm>
          <a:prstGeom prst="rect">
            <a:avLst/>
          </a:prstGeom>
          <a:noFill/>
          <a:ln/>
        </p:spPr>
        <p:txBody>
          <a:bodyPr wrap="square" lIns="0" tIns="0" rIns="0" bIns="0" rtlCol="0" anchor="t"/>
          <a:lstStyle/>
          <a:p>
            <a:pPr marL="0" indent="0" algn="ctr">
              <a:buNone/>
            </a:pPr>
            <a:r>
              <a:rPr lang="en-US" sz="1300" dirty="0">
                <a:solidFill>
                  <a:schemeClr val="accent2"/>
                </a:solidFill>
              </a:rPr>
              <a:t>Validation (15%)</a:t>
            </a:r>
            <a:endParaRPr lang="en-US" sz="1300" dirty="0"/>
          </a:p>
        </p:txBody>
      </p:sp>
      <p:sp>
        <p:nvSpPr>
          <p:cNvPr id="23" name="Split Test (15%)"/>
          <p:cNvSpPr/>
          <p:nvPr/>
        </p:nvSpPr>
        <p:spPr>
          <a:xfrm>
            <a:off x="4236720" y="4846320"/>
            <a:ext cx="1706880" cy="868680"/>
          </a:xfrm>
          <a:prstGeom prst="roundRect">
            <a:avLst>
              <a:gd name="adj" fmla="val 8421"/>
            </a:avLst>
          </a:prstGeom>
          <a:solidFill>
            <a:schemeClr val="bg2"/>
          </a:solidFill>
          <a:ln w="9525">
            <a:solidFill>
              <a:schemeClr val="accent3"/>
            </a:solidFill>
            <a:prstDash val="solid"/>
          </a:ln>
        </p:spPr>
      </p:sp>
      <p:sp>
        <p:nvSpPr>
          <p:cNvPr id="24" name="Text 20"/>
          <p:cNvSpPr txBox="1"/>
          <p:nvPr/>
        </p:nvSpPr>
        <p:spPr>
          <a:xfrm>
            <a:off x="4236720" y="4892040"/>
            <a:ext cx="1706880" cy="457200"/>
          </a:xfrm>
          <a:prstGeom prst="rect">
            <a:avLst/>
          </a:prstGeom>
          <a:noFill/>
          <a:ln/>
        </p:spPr>
        <p:txBody>
          <a:bodyPr wrap="square" lIns="0" tIns="0" rIns="0" bIns="0" rtlCol="0" anchor="t"/>
          <a:lstStyle/>
          <a:p>
            <a:pPr marL="0" indent="0" algn="ctr">
              <a:buNone/>
            </a:pPr>
            <a:r>
              <a:rPr lang="en-US" sz="2200" b="1" dirty="0">
                <a:solidFill>
                  <a:schemeClr val="tx2"/>
                </a:solidFill>
              </a:rPr>
              <a:t>98</a:t>
            </a:r>
            <a:endParaRPr lang="en-US" sz="2200" dirty="0"/>
          </a:p>
        </p:txBody>
      </p:sp>
      <p:sp>
        <p:nvSpPr>
          <p:cNvPr id="25" name="Text 21"/>
          <p:cNvSpPr txBox="1"/>
          <p:nvPr/>
        </p:nvSpPr>
        <p:spPr>
          <a:xfrm>
            <a:off x="4236720" y="5349240"/>
            <a:ext cx="1706880" cy="274320"/>
          </a:xfrm>
          <a:prstGeom prst="rect">
            <a:avLst/>
          </a:prstGeom>
          <a:noFill/>
          <a:ln/>
        </p:spPr>
        <p:txBody>
          <a:bodyPr wrap="square" lIns="0" tIns="0" rIns="0" bIns="0" rtlCol="0" anchor="t"/>
          <a:lstStyle/>
          <a:p>
            <a:pPr marL="0" indent="0" algn="ctr">
              <a:buNone/>
            </a:pPr>
            <a:r>
              <a:rPr lang="en-US" sz="1300" dirty="0">
                <a:solidFill>
                  <a:schemeClr val="accent2"/>
                </a:solidFill>
              </a:rPr>
              <a:t>Test (15%)</a:t>
            </a:r>
            <a:endParaRPr lang="en-US" sz="1300" dirty="0"/>
          </a:p>
        </p:txBody>
      </p:sp>
      <p:sp>
        <p:nvSpPr>
          <p:cNvPr id="26" name="Text 22"/>
          <p:cNvSpPr txBox="1"/>
          <p:nvPr/>
        </p:nvSpPr>
        <p:spPr>
          <a:xfrm>
            <a:off x="548640" y="5852160"/>
            <a:ext cx="5394960" cy="365760"/>
          </a:xfrm>
          <a:prstGeom prst="rect">
            <a:avLst/>
          </a:prstGeom>
          <a:noFill/>
          <a:ln/>
        </p:spPr>
        <p:txBody>
          <a:bodyPr wrap="square" lIns="0" tIns="0" rIns="0" bIns="0" rtlCol="0" anchor="t"/>
          <a:lstStyle/>
          <a:p>
            <a:pPr marL="0" indent="0">
              <a:buNone/>
            </a:pPr>
            <a:r>
              <a:rPr lang="en-US" sz="1350" i="1" dirty="0">
                <a:solidFill>
                  <a:schemeClr val="accent2"/>
                </a:solidFill>
              </a:rPr>
              <a:t>Chronological split, no missing values or duplicates after merging.</a:t>
            </a:r>
            <a:endParaRPr lang="en-US" sz="1350" dirty="0"/>
          </a:p>
        </p:txBody>
      </p:sp>
      <p:sp>
        <p:nvSpPr>
          <p:cNvPr id="16"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7</a:t>
            </a:fld>
            <a:endParaRPr lang="en-US"/>
          </a:p>
        </p:txBody>
      </p:sp>
      <p:pic>
        <p:nvPicPr>
          <p:cNvPr id="34" name="Picture 33">
            <a:extLst>
              <a:ext uri="{FF2B5EF4-FFF2-40B4-BE49-F238E27FC236}">
                <a16:creationId xmlns:a16="http://schemas.microsoft.com/office/drawing/2014/main" id="{A3F653DD-F428-ED94-59FE-E37F81541BC3}"/>
              </a:ext>
            </a:extLst>
          </p:cNvPr>
          <p:cNvPicPr>
            <a:picLocks noChangeAspect="1"/>
          </p:cNvPicPr>
          <p:nvPr/>
        </p:nvPicPr>
        <p:blipFill>
          <a:blip r:embed="rId3"/>
          <a:stretch>
            <a:fillRect/>
          </a:stretch>
        </p:blipFill>
        <p:spPr>
          <a:xfrm>
            <a:off x="6187288" y="2796311"/>
            <a:ext cx="5921253" cy="264436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530352"/>
            <a:ext cx="11094415" cy="640080"/>
          </a:xfrm>
          <a:prstGeom prst="rect">
            <a:avLst/>
          </a:prstGeom>
          <a:noFill/>
          <a:ln/>
        </p:spPr>
        <p:txBody>
          <a:bodyPr wrap="square" lIns="0" tIns="0" rIns="0" bIns="0" rtlCol="0" anchor="t"/>
          <a:lstStyle/>
          <a:p>
            <a:pPr marL="0" indent="0" algn="l">
              <a:buNone/>
            </a:pPr>
            <a:r>
              <a:rPr lang="en-US" sz="2800" b="1" dirty="0">
                <a:solidFill>
                  <a:schemeClr val="tx2"/>
                </a:solidFill>
              </a:rPr>
              <a:t>Download Behaviour Over the Flight &amp; Chronological Split</a:t>
            </a:r>
            <a:endParaRPr lang="en-US" sz="2800" dirty="0"/>
          </a:p>
        </p:txBody>
      </p:sp>
      <p:sp>
        <p:nvSpPr>
          <p:cNvPr id="4" name="UPLOAD HERE - Notebook Cell 10 plot"/>
          <p:cNvSpPr/>
          <p:nvPr/>
        </p:nvSpPr>
        <p:spPr>
          <a:xfrm>
            <a:off x="548640" y="1325880"/>
            <a:ext cx="6675120" cy="4919472"/>
          </a:xfrm>
          <a:prstGeom prst="roundRect">
            <a:avLst>
              <a:gd name="adj" fmla="val 1487"/>
            </a:avLst>
          </a:prstGeom>
          <a:solidFill>
            <a:schemeClr val="bg1"/>
          </a:solidFill>
          <a:ln w="19050">
            <a:solidFill>
              <a:schemeClr val="tx2"/>
            </a:solidFill>
            <a:prstDash val="dash"/>
          </a:ln>
        </p:spPr>
      </p:sp>
      <p:sp>
        <p:nvSpPr>
          <p:cNvPr id="5" name="Camera circle"/>
          <p:cNvSpPr/>
          <p:nvPr/>
        </p:nvSpPr>
        <p:spPr>
          <a:xfrm>
            <a:off x="3566160" y="2633472"/>
            <a:ext cx="640080" cy="640080"/>
          </a:xfrm>
          <a:prstGeom prst="ellipse">
            <a:avLst/>
          </a:prstGeom>
          <a:solidFill>
            <a:schemeClr val="tx2"/>
          </a:solidFill>
          <a:ln w="6350">
            <a:solidFill>
              <a:schemeClr val="tx2"/>
            </a:solidFill>
            <a:prstDash val="solid"/>
          </a:ln>
        </p:spPr>
      </p:sp>
      <p:pic>
        <p:nvPicPr>
          <p:cNvPr id="6" name="Image 0" descr="Camera"/>
          <p:cNvPicPr>
            <a:picLocks noChangeAspect="1"/>
          </p:cNvPicPr>
          <p:nvPr/>
        </p:nvPicPr>
        <p:blipFill>
          <a:blip r:embed="rId3"/>
          <a:stretch>
            <a:fillRect/>
          </a:stretch>
        </p:blipFill>
        <p:spPr>
          <a:xfrm>
            <a:off x="3732581" y="2799893"/>
            <a:ext cx="307238" cy="307238"/>
          </a:xfrm>
          <a:prstGeom prst="rect">
            <a:avLst/>
          </a:prstGeom>
        </p:spPr>
      </p:pic>
      <p:sp>
        <p:nvSpPr>
          <p:cNvPr id="7" name="Text 3"/>
          <p:cNvSpPr txBox="1"/>
          <p:nvPr/>
        </p:nvSpPr>
        <p:spPr>
          <a:xfrm>
            <a:off x="822960" y="3383280"/>
            <a:ext cx="6126480" cy="274320"/>
          </a:xfrm>
          <a:prstGeom prst="rect">
            <a:avLst/>
          </a:prstGeom>
          <a:noFill/>
          <a:ln/>
        </p:spPr>
        <p:txBody>
          <a:bodyPr wrap="square" lIns="0" tIns="0" rIns="0" bIns="0" rtlCol="0" anchor="t"/>
          <a:lstStyle/>
          <a:p>
            <a:pPr marL="0" indent="0" algn="ctr">
              <a:buNone/>
            </a:pPr>
            <a:r>
              <a:rPr lang="en-US" sz="1500" b="1" dirty="0">
                <a:solidFill>
                  <a:schemeClr val="tx2"/>
                </a:solidFill>
              </a:rPr>
              <a:t>UPLOAD SCREENSHOT HERE</a:t>
            </a:r>
            <a:endParaRPr lang="en-US" sz="1500" dirty="0"/>
          </a:p>
        </p:txBody>
      </p:sp>
      <p:sp>
        <p:nvSpPr>
          <p:cNvPr id="8" name="Text 4"/>
          <p:cNvSpPr txBox="1"/>
          <p:nvPr/>
        </p:nvSpPr>
        <p:spPr>
          <a:xfrm>
            <a:off x="822960" y="3657600"/>
            <a:ext cx="6126480" cy="274320"/>
          </a:xfrm>
          <a:prstGeom prst="rect">
            <a:avLst/>
          </a:prstGeom>
          <a:noFill/>
          <a:ln/>
        </p:spPr>
        <p:txBody>
          <a:bodyPr wrap="square" lIns="0" tIns="0" rIns="0" bIns="0" rtlCol="0" anchor="t"/>
          <a:lstStyle/>
          <a:p>
            <a:pPr marL="0" indent="0" algn="ctr">
              <a:buNone/>
            </a:pPr>
            <a:r>
              <a:rPr lang="en-US" sz="1400" b="1" dirty="0">
                <a:solidFill>
                  <a:schemeClr val="accent2"/>
                </a:solidFill>
              </a:rPr>
              <a:t>Notebook Cell 10 plot</a:t>
            </a:r>
            <a:endParaRPr lang="en-US" sz="1400" dirty="0"/>
          </a:p>
        </p:txBody>
      </p:sp>
      <p:sp>
        <p:nvSpPr>
          <p:cNvPr id="9" name="Text 5"/>
          <p:cNvSpPr txBox="1"/>
          <p:nvPr/>
        </p:nvSpPr>
        <p:spPr>
          <a:xfrm>
            <a:off x="914400" y="4023360"/>
            <a:ext cx="5943600" cy="914400"/>
          </a:xfrm>
          <a:prstGeom prst="rect">
            <a:avLst/>
          </a:prstGeom>
          <a:noFill/>
          <a:ln/>
        </p:spPr>
        <p:txBody>
          <a:bodyPr wrap="square" lIns="0" tIns="0" rIns="0" bIns="0" rtlCol="0" anchor="t"/>
          <a:lstStyle/>
          <a:p>
            <a:pPr marL="0" indent="0" algn="ctr">
              <a:buNone/>
            </a:pPr>
            <a:r>
              <a:rPr lang="en-US" sz="1200" dirty="0">
                <a:solidFill>
                  <a:schemeClr val="accent2"/>
                </a:solidFill>
              </a:rPr>
              <a:t>Capture the full 4-panel figure (dl_lw1 to dl_lw4 over time) including the two dashed Train/Validation and Validation/Test lines. Crop to the figure only.</a:t>
            </a:r>
            <a:endParaRPr lang="en-US" sz="1200" dirty="0"/>
          </a:p>
        </p:txBody>
      </p:sp>
      <p:sp>
        <p:nvSpPr>
          <p:cNvPr id="10" name="Observations card"/>
          <p:cNvSpPr/>
          <p:nvPr/>
        </p:nvSpPr>
        <p:spPr>
          <a:xfrm>
            <a:off x="7452360" y="1325880"/>
            <a:ext cx="4187952" cy="4919472"/>
          </a:xfrm>
          <a:prstGeom prst="roundRect">
            <a:avLst>
              <a:gd name="adj" fmla="val 1747"/>
            </a:avLst>
          </a:prstGeom>
          <a:solidFill>
            <a:schemeClr val="bg2"/>
          </a:solidFill>
          <a:ln w="9525">
            <a:solidFill>
              <a:schemeClr val="accent3"/>
            </a:solidFill>
            <a:prstDash val="solid"/>
          </a:ln>
        </p:spPr>
      </p:sp>
      <p:sp>
        <p:nvSpPr>
          <p:cNvPr id="11" name="Text 7"/>
          <p:cNvSpPr txBox="1"/>
          <p:nvPr/>
        </p:nvSpPr>
        <p:spPr>
          <a:xfrm>
            <a:off x="7680960" y="1508760"/>
            <a:ext cx="3749040" cy="320040"/>
          </a:xfrm>
          <a:prstGeom prst="rect">
            <a:avLst/>
          </a:prstGeom>
          <a:noFill/>
          <a:ln/>
        </p:spPr>
        <p:txBody>
          <a:bodyPr wrap="square" lIns="0" tIns="0" rIns="0" bIns="0" rtlCol="0" anchor="t"/>
          <a:lstStyle/>
          <a:p>
            <a:pPr marL="0" indent="0">
              <a:buNone/>
            </a:pPr>
            <a:r>
              <a:rPr lang="en-US" sz="1400" b="1" dirty="0">
                <a:solidFill>
                  <a:schemeClr val="tx2"/>
                </a:solidFill>
              </a:rPr>
              <a:t>WHAT THE TARGET PLOT SHOWS</a:t>
            </a:r>
            <a:endParaRPr lang="en-US" sz="1400" dirty="0"/>
          </a:p>
        </p:txBody>
      </p:sp>
      <p:sp>
        <p:nvSpPr>
          <p:cNvPr id="12" name="Text 8"/>
          <p:cNvSpPr txBox="1"/>
          <p:nvPr/>
        </p:nvSpPr>
        <p:spPr>
          <a:xfrm>
            <a:off x="7680960" y="1965960"/>
            <a:ext cx="3749040" cy="4206240"/>
          </a:xfrm>
          <a:prstGeom prst="rect">
            <a:avLst/>
          </a:prstGeom>
          <a:noFill/>
          <a:ln/>
        </p:spPr>
        <p:txBody>
          <a:bodyPr wrap="square" lIns="0" tIns="0" rIns="0" bIns="0" rtlCol="0" anchor="t"/>
          <a:lstStyle/>
          <a:p>
            <a:pPr marL="177800" indent="-177800">
              <a:spcAft>
                <a:spcPts val="1200"/>
              </a:spcAft>
              <a:buSzPct val="100000"/>
              <a:buChar char="•"/>
            </a:pPr>
            <a:r>
              <a:rPr lang="en-US" sz="1550" b="1" dirty="0">
                <a:solidFill>
                  <a:schemeClr val="tx2"/>
                </a:solidFill>
              </a:rPr>
              <a:t>Ramp, then plateau: </a:t>
            </a:r>
            <a:r>
              <a:rPr lang="en-US" sz="1550" dirty="0">
                <a:solidFill>
                  <a:schemeClr val="tx1"/>
                </a:solidFill>
              </a:rPr>
              <a:t>each link climbs, then saturates near 600 (lw1 to lw3) or 21.7 (lw4).</a:t>
            </a:r>
            <a:endParaRPr lang="en-US" sz="1400" dirty="0"/>
          </a:p>
          <a:p>
            <a:pPr marL="177800" indent="-177800">
              <a:spcAft>
                <a:spcPts val="1200"/>
              </a:spcAft>
              <a:buSzPct val="100000"/>
              <a:buChar char="•"/>
            </a:pPr>
            <a:r>
              <a:rPr lang="en-US" sz="1550" b="1" dirty="0">
                <a:solidFill>
                  <a:schemeClr val="tx2"/>
                </a:solidFill>
              </a:rPr>
              <a:t>Staggered start: </a:t>
            </a:r>
            <a:r>
              <a:rPr lang="en-US" sz="1550" dirty="0">
                <a:solidFill>
                  <a:schemeClr val="tx1"/>
                </a:solidFill>
              </a:rPr>
              <a:t>lw1 rises first; lw3 stays at zero until late in training.</a:t>
            </a:r>
            <a:endParaRPr lang="en-US" sz="1400" dirty="0"/>
          </a:p>
          <a:p>
            <a:pPr marL="177800" indent="-177800">
              <a:spcAft>
                <a:spcPts val="1200"/>
              </a:spcAft>
              <a:buSzPct val="100000"/>
              <a:buChar char="•"/>
            </a:pPr>
            <a:r>
              <a:rPr lang="en-US" sz="1550" b="1" dirty="0">
                <a:solidFill>
                  <a:schemeClr val="tx2"/>
                </a:solidFill>
              </a:rPr>
              <a:t>Many zeros: </a:t>
            </a:r>
            <a:r>
              <a:rPr lang="en-US" sz="1550" dirty="0">
                <a:solidFill>
                  <a:schemeClr val="tx1"/>
                </a:solidFill>
              </a:rPr>
              <a:t>83 (lw2), 380 (lw3) and 200 (lw4) of 652 readings are exactly 0.</a:t>
            </a:r>
            <a:endParaRPr lang="en-US" sz="1400" dirty="0"/>
          </a:p>
          <a:p>
            <a:pPr marL="177800" indent="-177800">
              <a:spcAft>
                <a:spcPts val="1200"/>
              </a:spcAft>
              <a:buSzPct val="100000"/>
              <a:buChar char="•"/>
            </a:pPr>
            <a:r>
              <a:rPr lang="en-US" sz="1550" b="1" dirty="0">
                <a:solidFill>
                  <a:schemeClr val="tx2"/>
                </a:solidFill>
              </a:rPr>
              <a:t>Dashed lines: </a:t>
            </a:r>
            <a:r>
              <a:rPr lang="en-US" sz="1550" dirty="0">
                <a:solidFill>
                  <a:schemeClr val="tx1"/>
                </a:solidFill>
              </a:rPr>
              <a:t>validation starts at 09:50:20 and test at 09:51:59.</a:t>
            </a:r>
            <a:endParaRPr lang="en-US" sz="1400" dirty="0"/>
          </a:p>
          <a:p>
            <a:pPr marL="177800" indent="-177800">
              <a:spcAft>
                <a:spcPts val="1200"/>
              </a:spcAft>
              <a:buSzPct val="100000"/>
              <a:buChar char="•"/>
            </a:pPr>
            <a:r>
              <a:rPr lang="en-US" sz="1550" b="1" dirty="0">
                <a:solidFill>
                  <a:schemeClr val="tx2"/>
                </a:solidFill>
              </a:rPr>
              <a:t>Implication: </a:t>
            </a:r>
            <a:r>
              <a:rPr lang="en-US" sz="1550" dirty="0">
                <a:solidFill>
                  <a:schemeClr val="tx1"/>
                </a:solidFill>
              </a:rPr>
              <a:t>shuffling would leak the future, so a chronological split is essential.</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8</a:t>
            </a:fld>
            <a:endParaRPr lang="en-US"/>
          </a:p>
        </p:txBody>
      </p:sp>
      <p:pic>
        <p:nvPicPr>
          <p:cNvPr id="3" name="Picture 2">
            <a:extLst>
              <a:ext uri="{FF2B5EF4-FFF2-40B4-BE49-F238E27FC236}">
                <a16:creationId xmlns:a16="http://schemas.microsoft.com/office/drawing/2014/main" id="{8F2E2A69-1F79-E6AE-5A08-8B693851ECB4}"/>
              </a:ext>
            </a:extLst>
          </p:cNvPr>
          <p:cNvPicPr>
            <a:picLocks noChangeAspect="1"/>
          </p:cNvPicPr>
          <p:nvPr/>
        </p:nvPicPr>
        <p:blipFill>
          <a:blip r:embed="rId4"/>
          <a:stretch>
            <a:fillRect/>
          </a:stretch>
        </p:blipFill>
        <p:spPr>
          <a:xfrm>
            <a:off x="431633" y="1108111"/>
            <a:ext cx="6810415" cy="521953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530352"/>
            <a:ext cx="11094415" cy="640080"/>
          </a:xfrm>
          <a:prstGeom prst="rect">
            <a:avLst/>
          </a:prstGeom>
          <a:noFill/>
          <a:ln/>
        </p:spPr>
        <p:txBody>
          <a:bodyPr wrap="square" lIns="0" tIns="0" rIns="0" bIns="0" rtlCol="0" anchor="t"/>
          <a:lstStyle/>
          <a:p>
            <a:pPr marL="0" indent="0" algn="l">
              <a:buNone/>
            </a:pPr>
            <a:r>
              <a:rPr lang="en-US" sz="2800" b="1" dirty="0">
                <a:solidFill>
                  <a:schemeClr val="tx2"/>
                </a:solidFill>
              </a:rPr>
              <a:t>Input Features &amp; Prediction Targets</a:t>
            </a:r>
            <a:endParaRPr lang="en-US" sz="2800" dirty="0"/>
          </a:p>
        </p:txBody>
      </p:sp>
      <p:sp>
        <p:nvSpPr>
          <p:cNvPr id="4" name="Column Signal Quality"/>
          <p:cNvSpPr/>
          <p:nvPr/>
        </p:nvSpPr>
        <p:spPr>
          <a:xfrm>
            <a:off x="548640" y="1325880"/>
            <a:ext cx="3383280" cy="3611880"/>
          </a:xfrm>
          <a:prstGeom prst="roundRect">
            <a:avLst>
              <a:gd name="adj" fmla="val 2162"/>
            </a:avLst>
          </a:prstGeom>
          <a:solidFill>
            <a:schemeClr val="bg2"/>
          </a:solidFill>
          <a:ln w="9525">
            <a:solidFill>
              <a:schemeClr val="accent3"/>
            </a:solidFill>
            <a:prstDash val="solid"/>
          </a:ln>
        </p:spPr>
      </p:sp>
      <p:sp>
        <p:nvSpPr>
          <p:cNvPr id="5" name="Signal Quality circle"/>
          <p:cNvSpPr/>
          <p:nvPr/>
        </p:nvSpPr>
        <p:spPr>
          <a:xfrm>
            <a:off x="777240" y="1508760"/>
            <a:ext cx="640080" cy="640080"/>
          </a:xfrm>
          <a:prstGeom prst="ellipse">
            <a:avLst/>
          </a:prstGeom>
          <a:solidFill>
            <a:schemeClr val="tx2"/>
          </a:solidFill>
          <a:ln w="6350">
            <a:solidFill>
              <a:schemeClr val="tx2"/>
            </a:solidFill>
            <a:prstDash val="solid"/>
          </a:ln>
        </p:spPr>
      </p:sp>
      <p:pic>
        <p:nvPicPr>
          <p:cNvPr id="6" name="Image 0" descr="Signal Quality"/>
          <p:cNvPicPr>
            <a:picLocks noChangeAspect="1"/>
          </p:cNvPicPr>
          <p:nvPr/>
        </p:nvPicPr>
        <p:blipFill>
          <a:blip r:embed="rId3"/>
          <a:stretch>
            <a:fillRect/>
          </a:stretch>
        </p:blipFill>
        <p:spPr>
          <a:xfrm>
            <a:off x="943661" y="1675181"/>
            <a:ext cx="307238" cy="307238"/>
          </a:xfrm>
          <a:prstGeom prst="rect">
            <a:avLst/>
          </a:prstGeom>
        </p:spPr>
      </p:pic>
      <p:sp>
        <p:nvSpPr>
          <p:cNvPr id="7" name="Text 3"/>
          <p:cNvSpPr txBox="1"/>
          <p:nvPr/>
        </p:nvSpPr>
        <p:spPr>
          <a:xfrm>
            <a:off x="1554480" y="1527048"/>
            <a:ext cx="2240280" cy="320040"/>
          </a:xfrm>
          <a:prstGeom prst="rect">
            <a:avLst/>
          </a:prstGeom>
          <a:noFill/>
          <a:ln/>
        </p:spPr>
        <p:txBody>
          <a:bodyPr wrap="square" lIns="0" tIns="0" rIns="0" bIns="0" rtlCol="0" anchor="t"/>
          <a:lstStyle/>
          <a:p>
            <a:pPr marL="0" indent="0">
              <a:buNone/>
            </a:pPr>
            <a:r>
              <a:rPr lang="en-US" sz="1700" b="1" dirty="0">
                <a:solidFill>
                  <a:schemeClr val="tx2"/>
                </a:solidFill>
              </a:rPr>
              <a:t>Signal Quality</a:t>
            </a:r>
            <a:endParaRPr lang="en-US" sz="1700" dirty="0"/>
          </a:p>
        </p:txBody>
      </p:sp>
      <p:sp>
        <p:nvSpPr>
          <p:cNvPr id="8" name="Text 4"/>
          <p:cNvSpPr txBox="1"/>
          <p:nvPr/>
        </p:nvSpPr>
        <p:spPr>
          <a:xfrm>
            <a:off x="1554480" y="1874520"/>
            <a:ext cx="2240280" cy="274320"/>
          </a:xfrm>
          <a:prstGeom prst="rect">
            <a:avLst/>
          </a:prstGeom>
          <a:noFill/>
          <a:ln/>
        </p:spPr>
        <p:txBody>
          <a:bodyPr wrap="square" lIns="0" tIns="0" rIns="0" bIns="0" rtlCol="0" anchor="t"/>
          <a:lstStyle/>
          <a:p>
            <a:pPr marL="0" indent="0">
              <a:buNone/>
            </a:pPr>
            <a:r>
              <a:rPr lang="en-US" sz="1350" dirty="0">
                <a:solidFill>
                  <a:schemeClr val="accent2"/>
                </a:solidFill>
              </a:rPr>
              <a:t>4 inputs</a:t>
            </a:r>
            <a:endParaRPr lang="en-US" sz="1350" dirty="0"/>
          </a:p>
        </p:txBody>
      </p:sp>
      <p:sp>
        <p:nvSpPr>
          <p:cNvPr id="9" name="Text 5"/>
          <p:cNvSpPr txBox="1"/>
          <p:nvPr/>
        </p:nvSpPr>
        <p:spPr>
          <a:xfrm>
            <a:off x="822960" y="2423160"/>
            <a:ext cx="2926080" cy="182880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chemeClr val="tx1"/>
                </a:solidFill>
              </a:rPr>
              <a:t>snr_lw1</a:t>
            </a:r>
            <a:endParaRPr lang="en-US" sz="1400" dirty="0"/>
          </a:p>
          <a:p>
            <a:pPr marL="177800" indent="-177800">
              <a:spcAft>
                <a:spcPts val="900"/>
              </a:spcAft>
              <a:buSzPct val="100000"/>
              <a:buChar char="•"/>
            </a:pPr>
            <a:r>
              <a:rPr lang="en-US" sz="1500" dirty="0">
                <a:solidFill>
                  <a:schemeClr val="tx1"/>
                </a:solidFill>
              </a:rPr>
              <a:t>snr_lw2</a:t>
            </a:r>
            <a:endParaRPr lang="en-US" sz="1400" dirty="0"/>
          </a:p>
          <a:p>
            <a:pPr marL="177800" indent="-177800">
              <a:spcAft>
                <a:spcPts val="900"/>
              </a:spcAft>
              <a:buSzPct val="100000"/>
              <a:buChar char="•"/>
            </a:pPr>
            <a:r>
              <a:rPr lang="en-US" sz="1500" dirty="0">
                <a:solidFill>
                  <a:schemeClr val="tx1"/>
                </a:solidFill>
              </a:rPr>
              <a:t>snr_lw3</a:t>
            </a:r>
            <a:endParaRPr lang="en-US" sz="1400" dirty="0"/>
          </a:p>
          <a:p>
            <a:pPr marL="177800" indent="-177800">
              <a:spcAft>
                <a:spcPts val="900"/>
              </a:spcAft>
              <a:buSzPct val="100000"/>
              <a:buChar char="•"/>
            </a:pPr>
            <a:r>
              <a:rPr lang="en-US" sz="1500" dirty="0">
                <a:solidFill>
                  <a:schemeClr val="tx1"/>
                </a:solidFill>
              </a:rPr>
              <a:t>snr_lw4</a:t>
            </a:r>
            <a:endParaRPr lang="en-US" sz="1400" dirty="0"/>
          </a:p>
        </p:txBody>
      </p:sp>
      <p:sp>
        <p:nvSpPr>
          <p:cNvPr id="10" name="Text 6"/>
          <p:cNvSpPr txBox="1"/>
          <p:nvPr/>
        </p:nvSpPr>
        <p:spPr>
          <a:xfrm>
            <a:off x="822960" y="4160520"/>
            <a:ext cx="2926080" cy="640080"/>
          </a:xfrm>
          <a:prstGeom prst="rect">
            <a:avLst/>
          </a:prstGeom>
          <a:noFill/>
          <a:ln/>
        </p:spPr>
        <p:txBody>
          <a:bodyPr wrap="square" lIns="0" tIns="0" rIns="0" bIns="0" rtlCol="0" anchor="t"/>
          <a:lstStyle/>
          <a:p>
            <a:pPr marL="0" indent="0">
              <a:buNone/>
            </a:pPr>
            <a:r>
              <a:rPr lang="en-US" sz="1400" i="1" dirty="0">
                <a:solidFill>
                  <a:schemeClr val="accent2"/>
                </a:solidFill>
              </a:rPr>
              <a:t>SNR measured on each of the four wireless links.</a:t>
            </a:r>
            <a:endParaRPr lang="en-US" sz="1400" dirty="0"/>
          </a:p>
        </p:txBody>
      </p:sp>
      <p:sp>
        <p:nvSpPr>
          <p:cNvPr id="11" name="Column UAV Flight State"/>
          <p:cNvSpPr/>
          <p:nvPr/>
        </p:nvSpPr>
        <p:spPr>
          <a:xfrm>
            <a:off x="4114800" y="1325880"/>
            <a:ext cx="4480560" cy="3611880"/>
          </a:xfrm>
          <a:prstGeom prst="roundRect">
            <a:avLst>
              <a:gd name="adj" fmla="val 2025"/>
            </a:avLst>
          </a:prstGeom>
          <a:solidFill>
            <a:schemeClr val="bg2"/>
          </a:solidFill>
          <a:ln w="9525">
            <a:solidFill>
              <a:schemeClr val="accent3"/>
            </a:solidFill>
            <a:prstDash val="solid"/>
          </a:ln>
        </p:spPr>
      </p:sp>
      <p:sp>
        <p:nvSpPr>
          <p:cNvPr id="12" name="UAV Flight State circle"/>
          <p:cNvSpPr/>
          <p:nvPr/>
        </p:nvSpPr>
        <p:spPr>
          <a:xfrm>
            <a:off x="4343400" y="1508760"/>
            <a:ext cx="640080" cy="640080"/>
          </a:xfrm>
          <a:prstGeom prst="ellipse">
            <a:avLst/>
          </a:prstGeom>
          <a:solidFill>
            <a:schemeClr val="tx2"/>
          </a:solidFill>
          <a:ln w="6350">
            <a:solidFill>
              <a:schemeClr val="tx2"/>
            </a:solidFill>
            <a:prstDash val="solid"/>
          </a:ln>
        </p:spPr>
      </p:sp>
      <p:pic>
        <p:nvPicPr>
          <p:cNvPr id="13" name="Image 1" descr="UAV Flight State"/>
          <p:cNvPicPr>
            <a:picLocks noChangeAspect="1"/>
          </p:cNvPicPr>
          <p:nvPr/>
        </p:nvPicPr>
        <p:blipFill>
          <a:blip r:embed="rId4"/>
          <a:stretch>
            <a:fillRect/>
          </a:stretch>
        </p:blipFill>
        <p:spPr>
          <a:xfrm>
            <a:off x="4509821" y="1675181"/>
            <a:ext cx="307238" cy="307238"/>
          </a:xfrm>
          <a:prstGeom prst="rect">
            <a:avLst/>
          </a:prstGeom>
        </p:spPr>
      </p:pic>
      <p:sp>
        <p:nvSpPr>
          <p:cNvPr id="14" name="Text 9"/>
          <p:cNvSpPr txBox="1"/>
          <p:nvPr/>
        </p:nvSpPr>
        <p:spPr>
          <a:xfrm>
            <a:off x="5120640" y="1527048"/>
            <a:ext cx="3337560" cy="320040"/>
          </a:xfrm>
          <a:prstGeom prst="rect">
            <a:avLst/>
          </a:prstGeom>
          <a:noFill/>
          <a:ln/>
        </p:spPr>
        <p:txBody>
          <a:bodyPr wrap="square" lIns="0" tIns="0" rIns="0" bIns="0" rtlCol="0" anchor="t"/>
          <a:lstStyle/>
          <a:p>
            <a:pPr marL="0" indent="0">
              <a:buNone/>
            </a:pPr>
            <a:r>
              <a:rPr lang="en-US" sz="1700" b="1" dirty="0">
                <a:solidFill>
                  <a:schemeClr val="tx2"/>
                </a:solidFill>
              </a:rPr>
              <a:t>UAV Flight State</a:t>
            </a:r>
            <a:endParaRPr lang="en-US" sz="1700" dirty="0"/>
          </a:p>
        </p:txBody>
      </p:sp>
      <p:sp>
        <p:nvSpPr>
          <p:cNvPr id="15" name="Text 10"/>
          <p:cNvSpPr txBox="1"/>
          <p:nvPr/>
        </p:nvSpPr>
        <p:spPr>
          <a:xfrm>
            <a:off x="5120640" y="1874520"/>
            <a:ext cx="3337560" cy="274320"/>
          </a:xfrm>
          <a:prstGeom prst="rect">
            <a:avLst/>
          </a:prstGeom>
          <a:noFill/>
          <a:ln/>
        </p:spPr>
        <p:txBody>
          <a:bodyPr wrap="square" lIns="0" tIns="0" rIns="0" bIns="0" rtlCol="0" anchor="t"/>
          <a:lstStyle/>
          <a:p>
            <a:pPr marL="0" indent="0">
              <a:buNone/>
            </a:pPr>
            <a:r>
              <a:rPr lang="en-US" sz="1350" dirty="0">
                <a:solidFill>
                  <a:schemeClr val="accent2"/>
                </a:solidFill>
              </a:rPr>
              <a:t>12 inputs</a:t>
            </a:r>
            <a:endParaRPr lang="en-US" sz="1350" dirty="0"/>
          </a:p>
        </p:txBody>
      </p:sp>
      <p:sp>
        <p:nvSpPr>
          <p:cNvPr id="16" name="Text 11"/>
          <p:cNvSpPr txBox="1"/>
          <p:nvPr/>
        </p:nvSpPr>
        <p:spPr>
          <a:xfrm>
            <a:off x="4389120" y="2423160"/>
            <a:ext cx="4023360" cy="1828800"/>
          </a:xfrm>
          <a:prstGeom prst="rect">
            <a:avLst/>
          </a:prstGeom>
          <a:noFill/>
          <a:ln/>
        </p:spPr>
        <p:txBody>
          <a:bodyPr wrap="square" lIns="0" tIns="0" rIns="0" bIns="0" rtlCol="0" anchor="t"/>
          <a:lstStyle/>
          <a:p>
            <a:pPr marL="177800" indent="-177800">
              <a:spcAft>
                <a:spcPts val="900"/>
              </a:spcAft>
              <a:buSzPct val="100000"/>
              <a:buChar char="•"/>
            </a:pPr>
            <a:r>
              <a:rPr lang="en-US" sz="1500" b="1" dirty="0">
                <a:solidFill>
                  <a:schemeClr val="tx2"/>
                </a:solidFill>
              </a:rPr>
              <a:t>Position: </a:t>
            </a:r>
            <a:r>
              <a:rPr lang="en-US" sz="1500" dirty="0">
                <a:solidFill>
                  <a:schemeClr val="tx1"/>
                </a:solidFill>
              </a:rPr>
              <a:t>Longitude, Latitude, Altitude</a:t>
            </a:r>
            <a:endParaRPr lang="en-US" sz="1400" dirty="0"/>
          </a:p>
          <a:p>
            <a:pPr marL="177800" indent="-177800">
              <a:spcAft>
                <a:spcPts val="900"/>
              </a:spcAft>
              <a:buSzPct val="100000"/>
              <a:buChar char="•"/>
            </a:pPr>
            <a:r>
              <a:rPr lang="en-US" sz="1500" b="1" dirty="0">
                <a:solidFill>
                  <a:schemeClr val="tx2"/>
                </a:solidFill>
              </a:rPr>
              <a:t>Attitude: </a:t>
            </a:r>
            <a:r>
              <a:rPr lang="en-US" sz="1500" dirty="0">
                <a:solidFill>
                  <a:schemeClr val="tx1"/>
                </a:solidFill>
              </a:rPr>
              <a:t>Pitch, Yaw, Roll</a:t>
            </a:r>
            <a:endParaRPr lang="en-US" sz="1400" dirty="0"/>
          </a:p>
          <a:p>
            <a:pPr marL="177800" indent="-177800">
              <a:spcAft>
                <a:spcPts val="900"/>
              </a:spcAft>
              <a:buSzPct val="100000"/>
              <a:buChar char="•"/>
            </a:pPr>
            <a:r>
              <a:rPr lang="en-US" sz="1500" b="1" dirty="0">
                <a:solidFill>
                  <a:schemeClr val="tx2"/>
                </a:solidFill>
              </a:rPr>
              <a:t>Velocity: </a:t>
            </a:r>
            <a:r>
              <a:rPr lang="en-US" sz="1500" dirty="0">
                <a:solidFill>
                  <a:schemeClr val="tx1"/>
                </a:solidFill>
              </a:rPr>
              <a:t>VelocityX, VelocityY, VelocityZ</a:t>
            </a:r>
            <a:endParaRPr lang="en-US" sz="1400" dirty="0"/>
          </a:p>
          <a:p>
            <a:pPr marL="177800" indent="-177800">
              <a:spcAft>
                <a:spcPts val="900"/>
              </a:spcAft>
              <a:buSzPct val="100000"/>
              <a:buChar char="•"/>
            </a:pPr>
            <a:r>
              <a:rPr lang="en-US" sz="1500" b="1" dirty="0">
                <a:solidFill>
                  <a:schemeClr val="tx2"/>
                </a:solidFill>
              </a:rPr>
              <a:t>Health: </a:t>
            </a:r>
            <a:r>
              <a:rPr lang="en-US" sz="1500" dirty="0">
                <a:solidFill>
                  <a:schemeClr val="tx1"/>
                </a:solidFill>
              </a:rPr>
              <a:t>BatteryVolts, GPSFix, NumberOfSatellites</a:t>
            </a:r>
            <a:endParaRPr lang="en-US" sz="1400" dirty="0"/>
          </a:p>
        </p:txBody>
      </p:sp>
      <p:sp>
        <p:nvSpPr>
          <p:cNvPr id="17" name="Column Targets"/>
          <p:cNvSpPr/>
          <p:nvPr/>
        </p:nvSpPr>
        <p:spPr>
          <a:xfrm>
            <a:off x="8778240" y="1325880"/>
            <a:ext cx="2834640" cy="3611880"/>
          </a:xfrm>
          <a:prstGeom prst="roundRect">
            <a:avLst>
              <a:gd name="adj" fmla="val 2581"/>
            </a:avLst>
          </a:prstGeom>
          <a:solidFill>
            <a:schemeClr val="bg2"/>
          </a:solidFill>
          <a:ln w="9525">
            <a:solidFill>
              <a:schemeClr val="accent3"/>
            </a:solidFill>
            <a:prstDash val="solid"/>
          </a:ln>
        </p:spPr>
      </p:sp>
      <p:sp>
        <p:nvSpPr>
          <p:cNvPr id="18" name="Targets circle"/>
          <p:cNvSpPr/>
          <p:nvPr/>
        </p:nvSpPr>
        <p:spPr>
          <a:xfrm>
            <a:off x="9006840" y="1508760"/>
            <a:ext cx="640080" cy="640080"/>
          </a:xfrm>
          <a:prstGeom prst="ellipse">
            <a:avLst/>
          </a:prstGeom>
          <a:solidFill>
            <a:schemeClr val="tx2"/>
          </a:solidFill>
          <a:ln w="6350">
            <a:solidFill>
              <a:schemeClr val="tx2"/>
            </a:solidFill>
            <a:prstDash val="solid"/>
          </a:ln>
        </p:spPr>
      </p:sp>
      <p:pic>
        <p:nvPicPr>
          <p:cNvPr id="19" name="Image 2" descr="Targets"/>
          <p:cNvPicPr>
            <a:picLocks noChangeAspect="1"/>
          </p:cNvPicPr>
          <p:nvPr/>
        </p:nvPicPr>
        <p:blipFill>
          <a:blip r:embed="rId5"/>
          <a:stretch>
            <a:fillRect/>
          </a:stretch>
        </p:blipFill>
        <p:spPr>
          <a:xfrm>
            <a:off x="9173261" y="1675181"/>
            <a:ext cx="307238" cy="307238"/>
          </a:xfrm>
          <a:prstGeom prst="rect">
            <a:avLst/>
          </a:prstGeom>
        </p:spPr>
      </p:pic>
      <p:sp>
        <p:nvSpPr>
          <p:cNvPr id="20" name="Text 14"/>
          <p:cNvSpPr txBox="1"/>
          <p:nvPr/>
        </p:nvSpPr>
        <p:spPr>
          <a:xfrm>
            <a:off x="9784080" y="1527048"/>
            <a:ext cx="1691640" cy="320040"/>
          </a:xfrm>
          <a:prstGeom prst="rect">
            <a:avLst/>
          </a:prstGeom>
          <a:noFill/>
          <a:ln/>
        </p:spPr>
        <p:txBody>
          <a:bodyPr wrap="square" lIns="0" tIns="0" rIns="0" bIns="0" rtlCol="0" anchor="t"/>
          <a:lstStyle/>
          <a:p>
            <a:pPr marL="0" indent="0">
              <a:buNone/>
            </a:pPr>
            <a:r>
              <a:rPr lang="en-US" sz="1700" b="1" dirty="0">
                <a:solidFill>
                  <a:schemeClr val="tx2"/>
                </a:solidFill>
              </a:rPr>
              <a:t>Targets</a:t>
            </a:r>
            <a:endParaRPr lang="en-US" sz="1700" dirty="0"/>
          </a:p>
        </p:txBody>
      </p:sp>
      <p:sp>
        <p:nvSpPr>
          <p:cNvPr id="21" name="Text 15"/>
          <p:cNvSpPr txBox="1"/>
          <p:nvPr/>
        </p:nvSpPr>
        <p:spPr>
          <a:xfrm>
            <a:off x="9784080" y="1874520"/>
            <a:ext cx="1691640" cy="274320"/>
          </a:xfrm>
          <a:prstGeom prst="rect">
            <a:avLst/>
          </a:prstGeom>
          <a:noFill/>
          <a:ln/>
        </p:spPr>
        <p:txBody>
          <a:bodyPr wrap="square" lIns="0" tIns="0" rIns="0" bIns="0" rtlCol="0" anchor="t"/>
          <a:lstStyle/>
          <a:p>
            <a:pPr marL="0" indent="0">
              <a:buNone/>
            </a:pPr>
            <a:r>
              <a:rPr lang="en-US" sz="1350" dirty="0">
                <a:solidFill>
                  <a:schemeClr val="accent2"/>
                </a:solidFill>
              </a:rPr>
              <a:t>4 outputs</a:t>
            </a:r>
            <a:endParaRPr lang="en-US" sz="1350" dirty="0"/>
          </a:p>
        </p:txBody>
      </p:sp>
      <p:sp>
        <p:nvSpPr>
          <p:cNvPr id="22" name="Text 16"/>
          <p:cNvSpPr txBox="1"/>
          <p:nvPr/>
        </p:nvSpPr>
        <p:spPr>
          <a:xfrm>
            <a:off x="9052560" y="2423160"/>
            <a:ext cx="2377440" cy="182880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chemeClr val="tx1"/>
                </a:solidFill>
              </a:rPr>
              <a:t>dl_lw1  (link 1)</a:t>
            </a:r>
            <a:endParaRPr lang="en-US" sz="1400" dirty="0"/>
          </a:p>
          <a:p>
            <a:pPr marL="177800" indent="-177800">
              <a:spcAft>
                <a:spcPts val="900"/>
              </a:spcAft>
              <a:buSzPct val="100000"/>
              <a:buChar char="•"/>
            </a:pPr>
            <a:r>
              <a:rPr lang="en-US" sz="1500" dirty="0">
                <a:solidFill>
                  <a:schemeClr val="tx1"/>
                </a:solidFill>
              </a:rPr>
              <a:t>dl_lw2  (link 2)</a:t>
            </a:r>
            <a:endParaRPr lang="en-US" sz="1400" dirty="0"/>
          </a:p>
          <a:p>
            <a:pPr marL="177800" indent="-177800">
              <a:spcAft>
                <a:spcPts val="900"/>
              </a:spcAft>
              <a:buSzPct val="100000"/>
              <a:buChar char="•"/>
            </a:pPr>
            <a:r>
              <a:rPr lang="en-US" sz="1500" dirty="0">
                <a:solidFill>
                  <a:schemeClr val="tx1"/>
                </a:solidFill>
              </a:rPr>
              <a:t>dl_lw3  (link 3)</a:t>
            </a:r>
            <a:endParaRPr lang="en-US" sz="1400" dirty="0"/>
          </a:p>
          <a:p>
            <a:pPr marL="177800" indent="-177800">
              <a:spcAft>
                <a:spcPts val="900"/>
              </a:spcAft>
              <a:buSzPct val="100000"/>
              <a:buChar char="•"/>
            </a:pPr>
            <a:r>
              <a:rPr lang="en-US" sz="1500" dirty="0">
                <a:solidFill>
                  <a:schemeClr val="tx1"/>
                </a:solidFill>
              </a:rPr>
              <a:t>dl_lw4  (link 4)</a:t>
            </a:r>
            <a:endParaRPr lang="en-US" sz="1400" dirty="0"/>
          </a:p>
        </p:txBody>
      </p:sp>
      <p:sp>
        <p:nvSpPr>
          <p:cNvPr id="23" name="Text 17"/>
          <p:cNvSpPr txBox="1"/>
          <p:nvPr/>
        </p:nvSpPr>
        <p:spPr>
          <a:xfrm>
            <a:off x="9052560" y="4160520"/>
            <a:ext cx="2377440" cy="640080"/>
          </a:xfrm>
          <a:prstGeom prst="rect">
            <a:avLst/>
          </a:prstGeom>
          <a:noFill/>
          <a:ln/>
        </p:spPr>
        <p:txBody>
          <a:bodyPr wrap="square" lIns="0" tIns="0" rIns="0" bIns="0" rtlCol="0" anchor="t"/>
          <a:lstStyle/>
          <a:p>
            <a:pPr marL="0" indent="0">
              <a:buNone/>
            </a:pPr>
            <a:r>
              <a:rPr lang="en-US" sz="1400" i="1" dirty="0">
                <a:solidFill>
                  <a:schemeClr val="accent2"/>
                </a:solidFill>
              </a:rPr>
              <a:t>Download per link, predicted jointly.</a:t>
            </a:r>
            <a:endParaRPr lang="en-US" sz="1400" dirty="0"/>
          </a:p>
        </p:txBody>
      </p:sp>
      <p:sp>
        <p:nvSpPr>
          <p:cNvPr id="24" name="Stat 16"/>
          <p:cNvSpPr/>
          <p:nvPr/>
        </p:nvSpPr>
        <p:spPr>
          <a:xfrm>
            <a:off x="548640" y="5166360"/>
            <a:ext cx="2636444" cy="1051560"/>
          </a:xfrm>
          <a:prstGeom prst="roundRect">
            <a:avLst>
              <a:gd name="adj" fmla="val 6957"/>
            </a:avLst>
          </a:prstGeom>
          <a:solidFill>
            <a:schemeClr val="bg2"/>
          </a:solidFill>
          <a:ln w="9525">
            <a:solidFill>
              <a:schemeClr val="accent3"/>
            </a:solidFill>
            <a:prstDash val="solid"/>
          </a:ln>
        </p:spPr>
      </p:sp>
      <p:sp>
        <p:nvSpPr>
          <p:cNvPr id="25" name="Text 19"/>
          <p:cNvSpPr txBox="1"/>
          <p:nvPr/>
        </p:nvSpPr>
        <p:spPr>
          <a:xfrm>
            <a:off x="640080" y="5257800"/>
            <a:ext cx="2453564" cy="525780"/>
          </a:xfrm>
          <a:prstGeom prst="rect">
            <a:avLst/>
          </a:prstGeom>
          <a:noFill/>
          <a:ln/>
        </p:spPr>
        <p:txBody>
          <a:bodyPr wrap="square" lIns="0" tIns="0" rIns="0" bIns="0" rtlCol="0" anchor="ctr"/>
          <a:lstStyle/>
          <a:p>
            <a:pPr marL="0" indent="0" algn="ctr">
              <a:buNone/>
            </a:pPr>
            <a:r>
              <a:rPr lang="en-US" sz="2400" b="1" dirty="0">
                <a:solidFill>
                  <a:schemeClr val="tx2"/>
                </a:solidFill>
              </a:rPr>
              <a:t>16</a:t>
            </a:r>
            <a:endParaRPr lang="en-US" sz="2400" dirty="0"/>
          </a:p>
        </p:txBody>
      </p:sp>
      <p:sp>
        <p:nvSpPr>
          <p:cNvPr id="26" name="Text 20"/>
          <p:cNvSpPr txBox="1"/>
          <p:nvPr/>
        </p:nvSpPr>
        <p:spPr>
          <a:xfrm>
            <a:off x="640080" y="5776265"/>
            <a:ext cx="2453564" cy="378562"/>
          </a:xfrm>
          <a:prstGeom prst="rect">
            <a:avLst/>
          </a:prstGeom>
          <a:noFill/>
          <a:ln/>
        </p:spPr>
        <p:txBody>
          <a:bodyPr wrap="square" lIns="0" tIns="0" rIns="0" bIns="0" rtlCol="0" anchor="t"/>
          <a:lstStyle/>
          <a:p>
            <a:pPr marL="0" indent="0" algn="ctr">
              <a:buNone/>
            </a:pPr>
            <a:r>
              <a:rPr lang="en-US" sz="1300" dirty="0">
                <a:solidFill>
                  <a:schemeClr val="accent2"/>
                </a:solidFill>
              </a:rPr>
              <a:t>Input Features</a:t>
            </a:r>
            <a:endParaRPr lang="en-US" sz="1300" dirty="0"/>
          </a:p>
        </p:txBody>
      </p:sp>
      <p:sp>
        <p:nvSpPr>
          <p:cNvPr id="27" name="Stat 4"/>
          <p:cNvSpPr/>
          <p:nvPr/>
        </p:nvSpPr>
        <p:spPr>
          <a:xfrm>
            <a:off x="3367964" y="5166360"/>
            <a:ext cx="2636444" cy="1051560"/>
          </a:xfrm>
          <a:prstGeom prst="roundRect">
            <a:avLst>
              <a:gd name="adj" fmla="val 6957"/>
            </a:avLst>
          </a:prstGeom>
          <a:solidFill>
            <a:schemeClr val="bg2"/>
          </a:solidFill>
          <a:ln w="9525">
            <a:solidFill>
              <a:schemeClr val="accent3"/>
            </a:solidFill>
            <a:prstDash val="solid"/>
          </a:ln>
        </p:spPr>
      </p:sp>
      <p:sp>
        <p:nvSpPr>
          <p:cNvPr id="28" name="Text 22"/>
          <p:cNvSpPr txBox="1"/>
          <p:nvPr/>
        </p:nvSpPr>
        <p:spPr>
          <a:xfrm>
            <a:off x="3459404" y="5257800"/>
            <a:ext cx="2453564" cy="525780"/>
          </a:xfrm>
          <a:prstGeom prst="rect">
            <a:avLst/>
          </a:prstGeom>
          <a:noFill/>
          <a:ln/>
        </p:spPr>
        <p:txBody>
          <a:bodyPr wrap="square" lIns="0" tIns="0" rIns="0" bIns="0" rtlCol="0" anchor="ctr"/>
          <a:lstStyle/>
          <a:p>
            <a:pPr marL="0" indent="0" algn="ctr">
              <a:buNone/>
            </a:pPr>
            <a:r>
              <a:rPr lang="en-US" sz="2400" b="1" dirty="0">
                <a:solidFill>
                  <a:schemeClr val="tx2"/>
                </a:solidFill>
              </a:rPr>
              <a:t>4</a:t>
            </a:r>
            <a:endParaRPr lang="en-US" sz="2400" dirty="0"/>
          </a:p>
        </p:txBody>
      </p:sp>
      <p:sp>
        <p:nvSpPr>
          <p:cNvPr id="29" name="Text 23"/>
          <p:cNvSpPr txBox="1"/>
          <p:nvPr/>
        </p:nvSpPr>
        <p:spPr>
          <a:xfrm>
            <a:off x="3459404" y="5776265"/>
            <a:ext cx="2453564" cy="378562"/>
          </a:xfrm>
          <a:prstGeom prst="rect">
            <a:avLst/>
          </a:prstGeom>
          <a:noFill/>
          <a:ln/>
        </p:spPr>
        <p:txBody>
          <a:bodyPr wrap="square" lIns="0" tIns="0" rIns="0" bIns="0" rtlCol="0" anchor="t"/>
          <a:lstStyle/>
          <a:p>
            <a:pPr marL="0" indent="0" algn="ctr">
              <a:buNone/>
            </a:pPr>
            <a:r>
              <a:rPr lang="en-US" sz="1300" dirty="0">
                <a:solidFill>
                  <a:schemeClr val="accent2"/>
                </a:solidFill>
              </a:rPr>
              <a:t>Download Targets</a:t>
            </a:r>
            <a:endParaRPr lang="en-US" sz="1300" dirty="0"/>
          </a:p>
        </p:txBody>
      </p:sp>
      <p:sp>
        <p:nvSpPr>
          <p:cNvPr id="30" name="Stat ± 2 s"/>
          <p:cNvSpPr/>
          <p:nvPr/>
        </p:nvSpPr>
        <p:spPr>
          <a:xfrm>
            <a:off x="6187288" y="5166360"/>
            <a:ext cx="2636444" cy="1051560"/>
          </a:xfrm>
          <a:prstGeom prst="roundRect">
            <a:avLst>
              <a:gd name="adj" fmla="val 6957"/>
            </a:avLst>
          </a:prstGeom>
          <a:solidFill>
            <a:schemeClr val="bg2"/>
          </a:solidFill>
          <a:ln w="9525">
            <a:solidFill>
              <a:schemeClr val="accent3"/>
            </a:solidFill>
            <a:prstDash val="solid"/>
          </a:ln>
        </p:spPr>
      </p:sp>
      <p:sp>
        <p:nvSpPr>
          <p:cNvPr id="31" name="Text 25"/>
          <p:cNvSpPr txBox="1"/>
          <p:nvPr/>
        </p:nvSpPr>
        <p:spPr>
          <a:xfrm>
            <a:off x="6278728" y="5257800"/>
            <a:ext cx="2453564" cy="525780"/>
          </a:xfrm>
          <a:prstGeom prst="rect">
            <a:avLst/>
          </a:prstGeom>
          <a:noFill/>
          <a:ln/>
        </p:spPr>
        <p:txBody>
          <a:bodyPr wrap="square" lIns="0" tIns="0" rIns="0" bIns="0" rtlCol="0" anchor="ctr"/>
          <a:lstStyle/>
          <a:p>
            <a:pPr marL="0" indent="0" algn="ctr">
              <a:buNone/>
            </a:pPr>
            <a:r>
              <a:rPr lang="en-US" sz="2400" b="1" dirty="0">
                <a:solidFill>
                  <a:schemeClr val="tx2"/>
                </a:solidFill>
              </a:rPr>
              <a:t>± 2 s</a:t>
            </a:r>
            <a:endParaRPr lang="en-US" sz="2400" dirty="0"/>
          </a:p>
        </p:txBody>
      </p:sp>
      <p:sp>
        <p:nvSpPr>
          <p:cNvPr id="32" name="Text 26"/>
          <p:cNvSpPr txBox="1"/>
          <p:nvPr/>
        </p:nvSpPr>
        <p:spPr>
          <a:xfrm>
            <a:off x="6278728" y="5776265"/>
            <a:ext cx="2453564" cy="378562"/>
          </a:xfrm>
          <a:prstGeom prst="rect">
            <a:avLst/>
          </a:prstGeom>
          <a:noFill/>
          <a:ln/>
        </p:spPr>
        <p:txBody>
          <a:bodyPr wrap="square" lIns="0" tIns="0" rIns="0" bIns="0" rtlCol="0" anchor="t"/>
          <a:lstStyle/>
          <a:p>
            <a:pPr marL="0" indent="0" algn="ctr">
              <a:buNone/>
            </a:pPr>
            <a:r>
              <a:rPr lang="en-US" sz="1300" dirty="0">
                <a:solidFill>
                  <a:schemeClr val="accent2"/>
                </a:solidFill>
              </a:rPr>
              <a:t>Merge Tolerance</a:t>
            </a:r>
            <a:endParaRPr lang="en-US" sz="1300" dirty="0"/>
          </a:p>
        </p:txBody>
      </p:sp>
      <p:sp>
        <p:nvSpPr>
          <p:cNvPr id="33" name="Stat Train only"/>
          <p:cNvSpPr/>
          <p:nvPr/>
        </p:nvSpPr>
        <p:spPr>
          <a:xfrm>
            <a:off x="9006611" y="5166360"/>
            <a:ext cx="2636444" cy="1051560"/>
          </a:xfrm>
          <a:prstGeom prst="roundRect">
            <a:avLst>
              <a:gd name="adj" fmla="val 6957"/>
            </a:avLst>
          </a:prstGeom>
          <a:solidFill>
            <a:schemeClr val="bg2"/>
          </a:solidFill>
          <a:ln w="9525">
            <a:solidFill>
              <a:schemeClr val="accent3"/>
            </a:solidFill>
            <a:prstDash val="solid"/>
          </a:ln>
        </p:spPr>
      </p:sp>
      <p:sp>
        <p:nvSpPr>
          <p:cNvPr id="34" name="Text 28"/>
          <p:cNvSpPr txBox="1"/>
          <p:nvPr/>
        </p:nvSpPr>
        <p:spPr>
          <a:xfrm>
            <a:off x="9098051" y="5257800"/>
            <a:ext cx="2453564" cy="525780"/>
          </a:xfrm>
          <a:prstGeom prst="rect">
            <a:avLst/>
          </a:prstGeom>
          <a:noFill/>
          <a:ln/>
        </p:spPr>
        <p:txBody>
          <a:bodyPr wrap="square" lIns="0" tIns="0" rIns="0" bIns="0" rtlCol="0" anchor="ctr"/>
          <a:lstStyle/>
          <a:p>
            <a:pPr marL="0" indent="0" algn="ctr">
              <a:buNone/>
            </a:pPr>
            <a:r>
              <a:rPr lang="en-US" sz="2400" b="1" dirty="0">
                <a:solidFill>
                  <a:schemeClr val="tx2"/>
                </a:solidFill>
              </a:rPr>
              <a:t>Train only</a:t>
            </a:r>
            <a:endParaRPr lang="en-US" sz="2400" dirty="0"/>
          </a:p>
        </p:txBody>
      </p:sp>
      <p:sp>
        <p:nvSpPr>
          <p:cNvPr id="35" name="Text 29"/>
          <p:cNvSpPr txBox="1"/>
          <p:nvPr/>
        </p:nvSpPr>
        <p:spPr>
          <a:xfrm>
            <a:off x="9098051" y="5776265"/>
            <a:ext cx="2453564" cy="378562"/>
          </a:xfrm>
          <a:prstGeom prst="rect">
            <a:avLst/>
          </a:prstGeom>
          <a:noFill/>
          <a:ln/>
        </p:spPr>
        <p:txBody>
          <a:bodyPr wrap="square" lIns="0" tIns="0" rIns="0" bIns="0" rtlCol="0" anchor="t"/>
          <a:lstStyle/>
          <a:p>
            <a:pPr marL="0" indent="0" algn="ctr">
              <a:buNone/>
            </a:pPr>
            <a:r>
              <a:rPr lang="en-US" sz="1300" dirty="0">
                <a:solidFill>
                  <a:schemeClr val="accent2"/>
                </a:solidFill>
              </a:rPr>
              <a:t>Scaler Fitting</a:t>
            </a:r>
            <a:endParaRPr lang="en-US" sz="1300" dirty="0"/>
          </a:p>
        </p:txBody>
      </p:sp>
      <p:sp>
        <p:nvSpPr>
          <p:cNvPr id="3"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530352"/>
            <a:ext cx="11094415" cy="640080"/>
          </a:xfrm>
          <a:prstGeom prst="rect">
            <a:avLst/>
          </a:prstGeom>
          <a:noFill/>
          <a:ln/>
        </p:spPr>
        <p:txBody>
          <a:bodyPr wrap="square" lIns="0" tIns="0" rIns="0" bIns="0" rtlCol="0" anchor="t"/>
          <a:lstStyle/>
          <a:p>
            <a:pPr marL="0" indent="0" algn="l">
              <a:buNone/>
            </a:pPr>
            <a:r>
              <a:rPr lang="en-US" sz="2800" b="1" dirty="0">
                <a:solidFill>
                  <a:schemeClr val="tx2"/>
                </a:solidFill>
              </a:rPr>
              <a:t>Baseline: Random Forest vs Train-Mean Guess</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675120" cy="2514600"/>
        </p:xfrm>
        <a:graphic>
          <a:graphicData uri="http://schemas.openxmlformats.org/drawingml/2006/table">
            <a:tbl>
              <a:tblPr/>
              <a:tblGrid>
                <a:gridCol w="14630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502920">
                <a:tc>
                  <a:txBody>
                    <a:bodyPr/>
                    <a:lstStyle/>
                    <a:p>
                      <a:pPr marL="0" indent="0" algn="l">
                        <a:buNone/>
                      </a:pPr>
                      <a:r>
                        <a:rPr lang="en-US" sz="1300" b="1" dirty="0">
                          <a:solidFill>
                            <a:schemeClr val="bg1"/>
                          </a:solidFill>
                        </a:rPr>
                        <a:t>Link</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RF MAE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RF RMSE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Train-Mean MAE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02920">
                <a:tc>
                  <a:txBody>
                    <a:bodyPr/>
                    <a:lstStyle/>
                    <a:p>
                      <a:pPr marL="0" indent="0" algn="ctr">
                        <a:buNone/>
                      </a:pPr>
                      <a:r>
                        <a:rPr lang="en-US" sz="1300" b="1" dirty="0">
                          <a:solidFill>
                            <a:schemeClr val="tx2"/>
                          </a:solidFill>
                        </a:rPr>
                        <a:t>dl_lw1</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accent5"/>
                          </a:solidFill>
                        </a:rPr>
                        <a:t>73.815</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138.265</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54.704</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02920">
                <a:tc>
                  <a:txBody>
                    <a:bodyPr/>
                    <a:lstStyle/>
                    <a:p>
                      <a:pPr marL="0" indent="0" algn="ctr">
                        <a:buNone/>
                      </a:pPr>
                      <a:r>
                        <a:rPr lang="en-US" sz="1300" b="1" dirty="0">
                          <a:solidFill>
                            <a:schemeClr val="tx2"/>
                          </a:solidFill>
                        </a:rPr>
                        <a:t>dl_lw2</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114.705</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214.562</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201.115</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02920">
                <a:tc>
                  <a:txBody>
                    <a:bodyPr/>
                    <a:lstStyle/>
                    <a:p>
                      <a:pPr marL="0" indent="0" algn="ctr">
                        <a:buNone/>
                      </a:pPr>
                      <a:r>
                        <a:rPr lang="en-US" sz="1300" b="1" dirty="0">
                          <a:solidFill>
                            <a:schemeClr val="tx2"/>
                          </a:solidFill>
                        </a:rPr>
                        <a:t>dl_lw3</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428.039</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468.400</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492.431</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02920">
                <a:tc>
                  <a:txBody>
                    <a:bodyPr/>
                    <a:lstStyle/>
                    <a:p>
                      <a:pPr marL="0" indent="0" algn="ctr">
                        <a:buNone/>
                      </a:pPr>
                      <a:r>
                        <a:rPr lang="en-US" sz="1300" b="1" dirty="0">
                          <a:solidFill>
                            <a:schemeClr val="tx2"/>
                          </a:solidFill>
                        </a:rPr>
                        <a:t>dl_lw4</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5.780</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8.803</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13.988</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5" name="RF settings card"/>
          <p:cNvSpPr/>
          <p:nvPr/>
        </p:nvSpPr>
        <p:spPr>
          <a:xfrm>
            <a:off x="548640" y="4114800"/>
            <a:ext cx="6675120" cy="2103120"/>
          </a:xfrm>
          <a:prstGeom prst="roundRect">
            <a:avLst>
              <a:gd name="adj" fmla="val 3478"/>
            </a:avLst>
          </a:prstGeom>
          <a:solidFill>
            <a:schemeClr val="bg2"/>
          </a:solidFill>
          <a:ln w="9525">
            <a:solidFill>
              <a:schemeClr val="accent3"/>
            </a:solidFill>
            <a:prstDash val="solid"/>
          </a:ln>
        </p:spPr>
      </p:sp>
      <p:sp>
        <p:nvSpPr>
          <p:cNvPr id="6" name="Text 2"/>
          <p:cNvSpPr txBox="1"/>
          <p:nvPr/>
        </p:nvSpPr>
        <p:spPr>
          <a:xfrm>
            <a:off x="822960" y="4297680"/>
            <a:ext cx="6126480" cy="320040"/>
          </a:xfrm>
          <a:prstGeom prst="rect">
            <a:avLst/>
          </a:prstGeom>
          <a:noFill/>
          <a:ln/>
        </p:spPr>
        <p:txBody>
          <a:bodyPr wrap="square" lIns="0" tIns="0" rIns="0" bIns="0" rtlCol="0" anchor="t"/>
          <a:lstStyle/>
          <a:p>
            <a:pPr marL="0" indent="0">
              <a:buNone/>
            </a:pPr>
            <a:r>
              <a:rPr lang="en-US" sz="1400" b="1" dirty="0">
                <a:solidFill>
                  <a:schemeClr val="tx2"/>
                </a:solidFill>
              </a:rPr>
              <a:t>RANDOM FOREST SETTINGS</a:t>
            </a:r>
            <a:endParaRPr lang="en-US" sz="1400" dirty="0"/>
          </a:p>
        </p:txBody>
      </p:sp>
      <p:sp>
        <p:nvSpPr>
          <p:cNvPr id="7" name="Text 3"/>
          <p:cNvSpPr txBox="1"/>
          <p:nvPr/>
        </p:nvSpPr>
        <p:spPr>
          <a:xfrm>
            <a:off x="822960" y="4709160"/>
            <a:ext cx="6126480" cy="137160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tx1"/>
                </a:solidFill>
              </a:rPr>
              <a:t>200 trees, max depth 12, min samples per leaf 2, random seed 42.</a:t>
            </a:r>
            <a:endParaRPr lang="en-US" sz="1400" dirty="0"/>
          </a:p>
          <a:p>
            <a:pPr marL="177800" indent="-177800">
              <a:spcAft>
                <a:spcPts val="800"/>
              </a:spcAft>
              <a:buSzPct val="100000"/>
              <a:buChar char="•"/>
            </a:pPr>
            <a:r>
              <a:rPr lang="en-US" sz="1500" dirty="0">
                <a:solidFill>
                  <a:schemeClr val="tx1"/>
                </a:solidFill>
              </a:rPr>
              <a:t>Trained on 456 samples and evaluated on the 98 validation samples.</a:t>
            </a:r>
            <a:endParaRPr lang="en-US" sz="1400" dirty="0"/>
          </a:p>
          <a:p>
            <a:pPr marL="177800" indent="-177800">
              <a:spcAft>
                <a:spcPts val="800"/>
              </a:spcAft>
              <a:buSzPct val="100000"/>
              <a:buChar char="•"/>
            </a:pPr>
            <a:r>
              <a:rPr lang="en-US" sz="1500" dirty="0">
                <a:solidFill>
                  <a:schemeClr val="tx1"/>
                </a:solidFill>
              </a:rPr>
              <a:t>Metrics are in the original download units (MAE and RMSE).</a:t>
            </a:r>
            <a:endParaRPr lang="en-US" sz="1400" dirty="0"/>
          </a:p>
        </p:txBody>
      </p:sp>
      <p:sp>
        <p:nvSpPr>
          <p:cNvPr id="8" name="RF observations card"/>
          <p:cNvSpPr/>
          <p:nvPr/>
        </p:nvSpPr>
        <p:spPr>
          <a:xfrm>
            <a:off x="7452360" y="1371600"/>
            <a:ext cx="4187952" cy="4846320"/>
          </a:xfrm>
          <a:prstGeom prst="roundRect">
            <a:avLst>
              <a:gd name="adj" fmla="val 1747"/>
            </a:avLst>
          </a:prstGeom>
          <a:solidFill>
            <a:schemeClr val="bg2"/>
          </a:solidFill>
          <a:ln w="9525">
            <a:solidFill>
              <a:schemeClr val="accent3"/>
            </a:solidFill>
            <a:prstDash val="solid"/>
          </a:ln>
        </p:spPr>
      </p:sp>
      <p:sp>
        <p:nvSpPr>
          <p:cNvPr id="9" name="Text 5"/>
          <p:cNvSpPr txBox="1"/>
          <p:nvPr/>
        </p:nvSpPr>
        <p:spPr>
          <a:xfrm>
            <a:off x="7680960" y="1554480"/>
            <a:ext cx="3749040" cy="320040"/>
          </a:xfrm>
          <a:prstGeom prst="rect">
            <a:avLst/>
          </a:prstGeom>
          <a:noFill/>
          <a:ln/>
        </p:spPr>
        <p:txBody>
          <a:bodyPr wrap="square" lIns="0" tIns="0" rIns="0" bIns="0" rtlCol="0" anchor="t"/>
          <a:lstStyle/>
          <a:p>
            <a:pPr marL="0" indent="0">
              <a:buNone/>
            </a:pPr>
            <a:r>
              <a:rPr lang="en-US" sz="1400" b="1" dirty="0">
                <a:solidFill>
                  <a:schemeClr val="tx2"/>
                </a:solidFill>
              </a:rPr>
              <a:t>BASELINE OBSERVATIONS</a:t>
            </a:r>
            <a:endParaRPr lang="en-US" sz="1400" dirty="0"/>
          </a:p>
        </p:txBody>
      </p:sp>
      <p:sp>
        <p:nvSpPr>
          <p:cNvPr id="10" name="Text 6"/>
          <p:cNvSpPr txBox="1"/>
          <p:nvPr/>
        </p:nvSpPr>
        <p:spPr>
          <a:xfrm>
            <a:off x="7680960" y="1965960"/>
            <a:ext cx="3749040" cy="4114800"/>
          </a:xfrm>
          <a:prstGeom prst="rect">
            <a:avLst/>
          </a:prstGeom>
          <a:noFill/>
          <a:ln/>
        </p:spPr>
        <p:txBody>
          <a:bodyPr wrap="square" lIns="0" tIns="0" rIns="0" bIns="0" rtlCol="0" anchor="t"/>
          <a:lstStyle/>
          <a:p>
            <a:pPr marL="177800" indent="-177800">
              <a:spcAft>
                <a:spcPts val="1400"/>
              </a:spcAft>
              <a:buSzPct val="100000"/>
              <a:buChar char="•"/>
            </a:pPr>
            <a:r>
              <a:rPr lang="en-US" sz="1550" b="1" dirty="0">
                <a:solidFill>
                  <a:schemeClr val="tx2"/>
                </a:solidFill>
              </a:rPr>
              <a:t>Beats the guess on three links: </a:t>
            </a:r>
            <a:r>
              <a:rPr lang="en-US" sz="1550" dirty="0">
                <a:solidFill>
                  <a:schemeClr val="tx1"/>
                </a:solidFill>
              </a:rPr>
              <a:t>lw2 (114.7 vs 201.1), lw3 (428.0 vs 492.4), lw4 (5.8 vs 14.0).</a:t>
            </a:r>
            <a:endParaRPr lang="en-US" sz="1400" dirty="0"/>
          </a:p>
          <a:p>
            <a:pPr marL="177800" indent="-177800">
              <a:spcAft>
                <a:spcPts val="1400"/>
              </a:spcAft>
              <a:buSzPct val="100000"/>
              <a:buChar char="•"/>
            </a:pPr>
            <a:r>
              <a:rPr lang="en-US" sz="1550" b="1" dirty="0">
                <a:solidFill>
                  <a:schemeClr val="tx2"/>
                </a:solidFill>
              </a:rPr>
              <a:t>Loses on dl_lw1: </a:t>
            </a:r>
            <a:r>
              <a:rPr lang="en-US" sz="1550" dirty="0">
                <a:solidFill>
                  <a:schemeClr val="tx1"/>
                </a:solidFill>
              </a:rPr>
              <a:t>73.8 vs 54.7 for a plain train-mean guess.</a:t>
            </a:r>
            <a:endParaRPr lang="en-US" sz="1400" dirty="0"/>
          </a:p>
          <a:p>
            <a:pPr marL="177800" indent="-177800">
              <a:spcAft>
                <a:spcPts val="1400"/>
              </a:spcAft>
              <a:buSzPct val="100000"/>
              <a:buChar char="•"/>
            </a:pPr>
            <a:r>
              <a:rPr lang="en-US" sz="1550" b="1" dirty="0">
                <a:solidFill>
                  <a:schemeClr val="tx2"/>
                </a:solidFill>
              </a:rPr>
              <a:t>dl_lw3 misses by 428: </a:t>
            </a:r>
            <a:r>
              <a:rPr lang="en-US" sz="1550" dirty="0">
                <a:solidFill>
                  <a:schemeClr val="tx1"/>
                </a:solidFill>
              </a:rPr>
              <a:t>the first sign of distribution shift.</a:t>
            </a:r>
            <a:endParaRPr lang="en-US" sz="1400" dirty="0"/>
          </a:p>
          <a:p>
            <a:pPr marL="177800" indent="-177800">
              <a:spcAft>
                <a:spcPts val="1400"/>
              </a:spcAft>
              <a:buSzPct val="100000"/>
              <a:buChar char="•"/>
            </a:pPr>
            <a:r>
              <a:rPr lang="en-US" sz="1550" b="1" dirty="0">
                <a:solidFill>
                  <a:schemeClr val="tx2"/>
                </a:solidFill>
              </a:rPr>
              <a:t>R² not meaningful: </a:t>
            </a:r>
            <a:r>
              <a:rPr lang="en-US" sz="1550" dirty="0">
                <a:solidFill>
                  <a:schemeClr val="tx1"/>
                </a:solidFill>
              </a:rPr>
              <a:t>near-constant validation targets give zero or negative R², so MAE and RMSE are used.</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530352"/>
            <a:ext cx="11094415" cy="640080"/>
          </a:xfrm>
          <a:prstGeom prst="rect">
            <a:avLst/>
          </a:prstGeom>
          <a:noFill/>
          <a:ln/>
        </p:spPr>
        <p:txBody>
          <a:bodyPr wrap="square" lIns="0" tIns="0" rIns="0" bIns="0" rtlCol="0" anchor="t"/>
          <a:lstStyle/>
          <a:p>
            <a:pPr marL="0" indent="0" algn="l">
              <a:buNone/>
            </a:pPr>
            <a:r>
              <a:rPr lang="en-US" sz="2800" b="1" dirty="0">
                <a:solidFill>
                  <a:schemeClr val="tx2"/>
                </a:solidFill>
              </a:rPr>
              <a:t>FidelityNet Architecture &amp; Training Setup</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852160" cy="4023360"/>
        </p:xfrm>
        <a:graphic>
          <a:graphicData uri="http://schemas.openxmlformats.org/drawingml/2006/table">
            <a:tbl>
              <a:tblPr/>
              <a:tblGrid>
                <a:gridCol w="228600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tblGrid>
              <a:tr h="502920">
                <a:tc>
                  <a:txBody>
                    <a:bodyPr/>
                    <a:lstStyle/>
                    <a:p>
                      <a:pPr marL="0" indent="0" algn="l">
                        <a:buNone/>
                      </a:pPr>
                      <a:r>
                        <a:rPr lang="en-US" sz="1300" b="1" dirty="0">
                          <a:solidFill>
                            <a:schemeClr val="bg1"/>
                          </a:solidFill>
                        </a:rPr>
                        <a:t>Hyperparameter</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l">
                        <a:buNone/>
                      </a:pPr>
                      <a:r>
                        <a:rPr lang="en-US" sz="1300" b="1" dirty="0">
                          <a:solidFill>
                            <a:schemeClr val="bg1"/>
                          </a:solidFill>
                        </a:rPr>
                        <a:t>Assigned Value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02920">
                <a:tc>
                  <a:txBody>
                    <a:bodyPr/>
                    <a:lstStyle/>
                    <a:p>
                      <a:pPr marL="0" indent="0" algn="l">
                        <a:buNone/>
                      </a:pPr>
                      <a:r>
                        <a:rPr lang="en-US" sz="1300" b="1" dirty="0">
                          <a:solidFill>
                            <a:schemeClr val="tx2"/>
                          </a:solidFill>
                        </a:rPr>
                        <a:t>Architecture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16 → 64 → 32 → 4  (ReLU)</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02920">
                <a:tc>
                  <a:txBody>
                    <a:bodyPr/>
                    <a:lstStyle/>
                    <a:p>
                      <a:pPr marL="0" indent="0" algn="l">
                        <a:buNone/>
                      </a:pPr>
                      <a:r>
                        <a:rPr lang="en-US" sz="1300" b="1" dirty="0">
                          <a:solidFill>
                            <a:schemeClr val="tx2"/>
                          </a:solidFill>
                        </a:rPr>
                        <a:t>Regularisation</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Dropout 0.2 after each hidden layer</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02920">
                <a:tc>
                  <a:txBody>
                    <a:bodyPr/>
                    <a:lstStyle/>
                    <a:p>
                      <a:pPr marL="0" indent="0" algn="l">
                        <a:buNone/>
                      </a:pPr>
                      <a:r>
                        <a:rPr lang="en-US" sz="1300" b="1" dirty="0">
                          <a:solidFill>
                            <a:schemeClr val="tx2"/>
                          </a:solidFill>
                        </a:rPr>
                        <a:t>Trainable Parameters</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3,300</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02920">
                <a:tc>
                  <a:txBody>
                    <a:bodyPr/>
                    <a:lstStyle/>
                    <a:p>
                      <a:pPr marL="0" indent="0" algn="l">
                        <a:buNone/>
                      </a:pPr>
                      <a:r>
                        <a:rPr lang="en-US" sz="1300" b="1" dirty="0">
                          <a:solidFill>
                            <a:schemeClr val="tx2"/>
                          </a:solidFill>
                        </a:rPr>
                        <a:t>Loss Function</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MSE on standardised targets</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02920">
                <a:tc>
                  <a:txBody>
                    <a:bodyPr/>
                    <a:lstStyle/>
                    <a:p>
                      <a:pPr marL="0" indent="0" algn="l">
                        <a:buNone/>
                      </a:pPr>
                      <a:r>
                        <a:rPr lang="en-US" sz="1300" b="1" dirty="0">
                          <a:solidFill>
                            <a:schemeClr val="tx2"/>
                          </a:solidFill>
                        </a:rPr>
                        <a:t>Optimiser</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Adam, learning rate 0.001</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02920">
                <a:tc>
                  <a:txBody>
                    <a:bodyPr/>
                    <a:lstStyle/>
                    <a:p>
                      <a:pPr marL="0" indent="0" algn="l">
                        <a:buNone/>
                      </a:pPr>
                      <a:r>
                        <a:rPr lang="en-US" sz="1300" b="1" dirty="0">
                          <a:solidFill>
                            <a:schemeClr val="tx2"/>
                          </a:solidFill>
                        </a:rPr>
                        <a:t>Training Epochs</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200 (full batch, 456 samples)</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502920">
                <a:tc>
                  <a:txBody>
                    <a:bodyPr/>
                    <a:lstStyle/>
                    <a:p>
                      <a:pPr marL="0" indent="0" algn="l">
                        <a:buNone/>
                      </a:pPr>
                      <a:r>
                        <a:rPr lang="en-US" sz="1300" b="1" dirty="0">
                          <a:solidFill>
                            <a:schemeClr val="tx2"/>
                          </a:solidFill>
                        </a:rPr>
                        <a:t>Scaling</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StandardScaler on X and y, train only</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5" name="Dropout note"/>
          <p:cNvSpPr/>
          <p:nvPr/>
        </p:nvSpPr>
        <p:spPr>
          <a:xfrm>
            <a:off x="548640" y="5669280"/>
            <a:ext cx="5852160" cy="566928"/>
          </a:xfrm>
          <a:prstGeom prst="roundRect">
            <a:avLst>
              <a:gd name="adj" fmla="val 12903"/>
            </a:avLst>
          </a:prstGeom>
          <a:solidFill>
            <a:schemeClr val="bg2"/>
          </a:solidFill>
          <a:ln w="9525">
            <a:solidFill>
              <a:schemeClr val="accent3"/>
            </a:solidFill>
            <a:prstDash val="solid"/>
          </a:ln>
        </p:spPr>
      </p:sp>
      <p:sp>
        <p:nvSpPr>
          <p:cNvPr id="6" name="Text 2"/>
          <p:cNvSpPr txBox="1"/>
          <p:nvPr/>
        </p:nvSpPr>
        <p:spPr>
          <a:xfrm>
            <a:off x="777240" y="5669280"/>
            <a:ext cx="5394960" cy="566928"/>
          </a:xfrm>
          <a:prstGeom prst="rect">
            <a:avLst/>
          </a:prstGeom>
          <a:noFill/>
          <a:ln/>
        </p:spPr>
        <p:txBody>
          <a:bodyPr wrap="square" lIns="0" tIns="0" rIns="0" bIns="0" rtlCol="0" anchor="ctr"/>
          <a:lstStyle/>
          <a:p>
            <a:pPr marL="0" indent="0">
              <a:buNone/>
            </a:pPr>
            <a:r>
              <a:rPr lang="en-US" sz="1400" i="1" dirty="0">
                <a:solidFill>
                  <a:schemeClr val="accent2"/>
                </a:solidFill>
              </a:rPr>
              <a:t>The same dropout (p = 0.2) is reused at prediction time.</a:t>
            </a:r>
            <a:endParaRPr lang="en-US" sz="1400" dirty="0"/>
          </a:p>
        </p:txBody>
      </p:sp>
      <p:sp>
        <p:nvSpPr>
          <p:cNvPr id="7" name="Training loop card"/>
          <p:cNvSpPr/>
          <p:nvPr/>
        </p:nvSpPr>
        <p:spPr>
          <a:xfrm>
            <a:off x="6629400" y="1325880"/>
            <a:ext cx="5010912" cy="4910328"/>
          </a:xfrm>
          <a:prstGeom prst="roundRect">
            <a:avLst>
              <a:gd name="adj" fmla="val 1490"/>
            </a:avLst>
          </a:prstGeom>
          <a:solidFill>
            <a:schemeClr val="bg2"/>
          </a:solidFill>
          <a:ln w="9525">
            <a:solidFill>
              <a:schemeClr val="accent3"/>
            </a:solidFill>
            <a:prstDash val="solid"/>
          </a:ln>
        </p:spPr>
      </p:sp>
      <p:sp>
        <p:nvSpPr>
          <p:cNvPr id="8" name="Text 4"/>
          <p:cNvSpPr txBox="1"/>
          <p:nvPr/>
        </p:nvSpPr>
        <p:spPr>
          <a:xfrm>
            <a:off x="6858000" y="1508760"/>
            <a:ext cx="4572000" cy="320040"/>
          </a:xfrm>
          <a:prstGeom prst="rect">
            <a:avLst/>
          </a:prstGeom>
          <a:noFill/>
          <a:ln/>
        </p:spPr>
        <p:txBody>
          <a:bodyPr wrap="square" lIns="0" tIns="0" rIns="0" bIns="0" rtlCol="0" anchor="t"/>
          <a:lstStyle/>
          <a:p>
            <a:pPr marL="0" indent="0">
              <a:buNone/>
            </a:pPr>
            <a:r>
              <a:rPr lang="en-US" sz="1400" b="1" dirty="0">
                <a:solidFill>
                  <a:schemeClr val="tx2"/>
                </a:solidFill>
              </a:rPr>
              <a:t>FIDELITYNET TRAINING LOOP (3-STAGE CYCLE)</a:t>
            </a:r>
            <a:endParaRPr lang="en-US" sz="1400" dirty="0"/>
          </a:p>
        </p:txBody>
      </p:sp>
      <p:sp>
        <p:nvSpPr>
          <p:cNvPr id="9" name="Text 5"/>
          <p:cNvSpPr txBox="1"/>
          <p:nvPr/>
        </p:nvSpPr>
        <p:spPr>
          <a:xfrm>
            <a:off x="6858000" y="1965960"/>
            <a:ext cx="4572000" cy="2926080"/>
          </a:xfrm>
          <a:prstGeom prst="rect">
            <a:avLst/>
          </a:prstGeom>
          <a:noFill/>
          <a:ln/>
        </p:spPr>
        <p:txBody>
          <a:bodyPr wrap="square" lIns="0" tIns="0" rIns="0" bIns="0" rtlCol="0" anchor="t"/>
          <a:lstStyle/>
          <a:p>
            <a:pPr marL="0" indent="0">
              <a:spcAft>
                <a:spcPts val="1200"/>
              </a:spcAft>
              <a:buNone/>
            </a:pPr>
            <a:r>
              <a:rPr lang="en-US" sz="1500" b="1" dirty="0">
                <a:solidFill>
                  <a:schemeClr val="tx2"/>
                </a:solidFill>
              </a:rPr>
              <a:t>1.  Stage 1: Forward Pass: </a:t>
            </a:r>
            <a:r>
              <a:rPr lang="en-US" sz="1500" dirty="0">
                <a:solidFill>
                  <a:schemeClr val="tx1"/>
                </a:solidFill>
              </a:rPr>
              <a:t>The 456 × 16 training tensor runs through the network (dropout ON) and the MSE loss is computed.</a:t>
            </a:r>
            <a:endParaRPr lang="en-US" sz="1400" dirty="0"/>
          </a:p>
          <a:p>
            <a:pPr marL="0" indent="0">
              <a:spcAft>
                <a:spcPts val="1200"/>
              </a:spcAft>
              <a:buNone/>
            </a:pPr>
            <a:r>
              <a:rPr lang="en-US" sz="1500" b="1" dirty="0">
                <a:solidFill>
                  <a:schemeClr val="tx2"/>
                </a:solidFill>
              </a:rPr>
              <a:t>2.  Stage 2: Backpropagation: </a:t>
            </a:r>
            <a:r>
              <a:rPr lang="en-US" sz="1500" dirty="0">
                <a:solidFill>
                  <a:schemeClr val="tx1"/>
                </a:solidFill>
              </a:rPr>
              <a:t>Gradients flow back and Adam updates all 3,300 weights with learning rate 0.001.</a:t>
            </a:r>
            <a:endParaRPr lang="en-US" sz="1400" dirty="0"/>
          </a:p>
          <a:p>
            <a:pPr marL="0" indent="0">
              <a:spcAft>
                <a:spcPts val="1200"/>
              </a:spcAft>
              <a:buNone/>
            </a:pPr>
            <a:r>
              <a:rPr lang="en-US" sz="1500" b="1" dirty="0">
                <a:solidFill>
                  <a:schemeClr val="tx2"/>
                </a:solidFill>
              </a:rPr>
              <a:t>3.  Stage 3: Validate and Repeat: </a:t>
            </a:r>
            <a:r>
              <a:rPr lang="en-US" sz="1500" dirty="0">
                <a:solidFill>
                  <a:schemeClr val="tx1"/>
                </a:solidFill>
              </a:rPr>
              <a:t>Validation loss is logged in eval mode every epoch; the cycle repeats for 200 epochs.</a:t>
            </a:r>
            <a:endParaRPr lang="en-US" sz="1400" dirty="0"/>
          </a:p>
        </p:txBody>
      </p:sp>
      <p:sp>
        <p:nvSpPr>
          <p:cNvPr id="10" name="Arch box 1"/>
          <p:cNvSpPr/>
          <p:nvPr/>
        </p:nvSpPr>
        <p:spPr>
          <a:xfrm>
            <a:off x="6858000" y="5029200"/>
            <a:ext cx="914400" cy="822960"/>
          </a:xfrm>
          <a:prstGeom prst="roundRect">
            <a:avLst>
              <a:gd name="adj" fmla="val 6667"/>
            </a:avLst>
          </a:prstGeom>
          <a:solidFill>
            <a:schemeClr val="tx2"/>
          </a:solidFill>
          <a:ln w="12700">
            <a:solidFill>
              <a:schemeClr val="tx2"/>
            </a:solidFill>
            <a:prstDash val="solid"/>
          </a:ln>
        </p:spPr>
      </p:sp>
      <p:sp>
        <p:nvSpPr>
          <p:cNvPr id="11" name="Text 7"/>
          <p:cNvSpPr txBox="1"/>
          <p:nvPr/>
        </p:nvSpPr>
        <p:spPr>
          <a:xfrm>
            <a:off x="6858000" y="5029200"/>
            <a:ext cx="914400" cy="822960"/>
          </a:xfrm>
          <a:prstGeom prst="rect">
            <a:avLst/>
          </a:prstGeom>
          <a:noFill/>
          <a:ln/>
        </p:spPr>
        <p:txBody>
          <a:bodyPr wrap="square" lIns="0" tIns="0" rIns="0" bIns="0" rtlCol="0" anchor="ctr"/>
          <a:lstStyle/>
          <a:p>
            <a:pPr marL="0" indent="0" algn="ctr">
              <a:buNone/>
            </a:pPr>
            <a:r>
              <a:rPr lang="en-US" sz="1200" b="1" dirty="0">
                <a:solidFill>
                  <a:schemeClr val="bg1"/>
                </a:solidFill>
              </a:rPr>
              <a:t>Input</a:t>
            </a:r>
            <a:endParaRPr lang="en-US" sz="1200" dirty="0"/>
          </a:p>
          <a:p>
            <a:pPr marL="0" indent="0" algn="ctr">
              <a:buNone/>
            </a:pPr>
            <a:r>
              <a:rPr lang="en-US" sz="1200" b="1" dirty="0">
                <a:solidFill>
                  <a:schemeClr val="bg1"/>
                </a:solidFill>
              </a:rPr>
              <a:t>16</a:t>
            </a:r>
            <a:endParaRPr lang="en-US" sz="1200" dirty="0"/>
          </a:p>
        </p:txBody>
      </p:sp>
      <p:sp>
        <p:nvSpPr>
          <p:cNvPr id="3" name="Text 8"/>
          <p:cNvSpPr txBox="1"/>
          <p:nvPr/>
        </p:nvSpPr>
        <p:spPr>
          <a:xfrm>
            <a:off x="7772400" y="5029200"/>
            <a:ext cx="256032" cy="822960"/>
          </a:xfrm>
          <a:prstGeom prst="rect">
            <a:avLst/>
          </a:prstGeom>
          <a:noFill/>
          <a:ln/>
        </p:spPr>
        <p:txBody>
          <a:bodyPr wrap="square" lIns="0" tIns="0" rIns="0" bIns="0" rtlCol="0" anchor="ctr"/>
          <a:lstStyle/>
          <a:p>
            <a:pPr marL="0" indent="0" algn="ctr">
              <a:buNone/>
            </a:pPr>
            <a:r>
              <a:rPr lang="en-US" sz="1600" b="1" dirty="0">
                <a:solidFill>
                  <a:schemeClr val="tx2"/>
                </a:solidFill>
              </a:rPr>
              <a:t>→</a:t>
            </a:r>
            <a:endParaRPr lang="en-US" sz="1600" dirty="0"/>
          </a:p>
        </p:txBody>
      </p:sp>
      <p:sp>
        <p:nvSpPr>
          <p:cNvPr id="13" name="Arch box 2"/>
          <p:cNvSpPr/>
          <p:nvPr/>
        </p:nvSpPr>
        <p:spPr>
          <a:xfrm>
            <a:off x="8028432" y="5029200"/>
            <a:ext cx="914400" cy="822960"/>
          </a:xfrm>
          <a:prstGeom prst="roundRect">
            <a:avLst>
              <a:gd name="adj" fmla="val 6667"/>
            </a:avLst>
          </a:prstGeom>
          <a:solidFill>
            <a:schemeClr val="bg1"/>
          </a:solidFill>
          <a:ln w="12700">
            <a:solidFill>
              <a:schemeClr val="tx2"/>
            </a:solidFill>
            <a:prstDash val="solid"/>
          </a:ln>
        </p:spPr>
      </p:sp>
      <p:sp>
        <p:nvSpPr>
          <p:cNvPr id="14" name="Text 10"/>
          <p:cNvSpPr txBox="1"/>
          <p:nvPr/>
        </p:nvSpPr>
        <p:spPr>
          <a:xfrm>
            <a:off x="8028432" y="5029200"/>
            <a:ext cx="914400" cy="822960"/>
          </a:xfrm>
          <a:prstGeom prst="rect">
            <a:avLst/>
          </a:prstGeom>
          <a:noFill/>
          <a:ln/>
        </p:spPr>
        <p:txBody>
          <a:bodyPr wrap="square" lIns="0" tIns="0" rIns="0" bIns="0" rtlCol="0" anchor="ctr"/>
          <a:lstStyle/>
          <a:p>
            <a:pPr marL="0" indent="0" algn="ctr">
              <a:buNone/>
            </a:pPr>
            <a:r>
              <a:rPr lang="en-US" sz="1200" b="1" dirty="0">
                <a:solidFill>
                  <a:schemeClr val="tx2"/>
                </a:solidFill>
              </a:rPr>
              <a:t>Dense 64</a:t>
            </a:r>
            <a:endParaRPr lang="en-US" sz="1200" dirty="0"/>
          </a:p>
          <a:p>
            <a:pPr marL="0" indent="0" algn="ctr">
              <a:buNone/>
            </a:pPr>
            <a:r>
              <a:rPr lang="en-US" sz="1200" b="1" dirty="0">
                <a:solidFill>
                  <a:schemeClr val="tx2"/>
                </a:solidFill>
              </a:rPr>
              <a:t>ReLU, Drop</a:t>
            </a:r>
            <a:endParaRPr lang="en-US" sz="1200" dirty="0"/>
          </a:p>
        </p:txBody>
      </p:sp>
      <p:sp>
        <p:nvSpPr>
          <p:cNvPr id="15" name="Text 11"/>
          <p:cNvSpPr txBox="1"/>
          <p:nvPr/>
        </p:nvSpPr>
        <p:spPr>
          <a:xfrm>
            <a:off x="8942832" y="5029200"/>
            <a:ext cx="256032" cy="822960"/>
          </a:xfrm>
          <a:prstGeom prst="rect">
            <a:avLst/>
          </a:prstGeom>
          <a:noFill/>
          <a:ln/>
        </p:spPr>
        <p:txBody>
          <a:bodyPr wrap="square" lIns="0" tIns="0" rIns="0" bIns="0" rtlCol="0" anchor="ctr"/>
          <a:lstStyle/>
          <a:p>
            <a:pPr marL="0" indent="0" algn="ctr">
              <a:buNone/>
            </a:pPr>
            <a:r>
              <a:rPr lang="en-US" sz="1600" b="1" dirty="0">
                <a:solidFill>
                  <a:schemeClr val="tx2"/>
                </a:solidFill>
              </a:rPr>
              <a:t>→</a:t>
            </a:r>
            <a:endParaRPr lang="en-US" sz="1600" dirty="0"/>
          </a:p>
        </p:txBody>
      </p:sp>
      <p:sp>
        <p:nvSpPr>
          <p:cNvPr id="16" name="Arch box 3"/>
          <p:cNvSpPr/>
          <p:nvPr/>
        </p:nvSpPr>
        <p:spPr>
          <a:xfrm>
            <a:off x="9198864" y="5029200"/>
            <a:ext cx="914400" cy="822960"/>
          </a:xfrm>
          <a:prstGeom prst="roundRect">
            <a:avLst>
              <a:gd name="adj" fmla="val 6667"/>
            </a:avLst>
          </a:prstGeom>
          <a:solidFill>
            <a:schemeClr val="bg1"/>
          </a:solidFill>
          <a:ln w="12700">
            <a:solidFill>
              <a:schemeClr val="tx2"/>
            </a:solidFill>
            <a:prstDash val="solid"/>
          </a:ln>
        </p:spPr>
      </p:sp>
      <p:sp>
        <p:nvSpPr>
          <p:cNvPr id="17" name="Text 13"/>
          <p:cNvSpPr txBox="1"/>
          <p:nvPr/>
        </p:nvSpPr>
        <p:spPr>
          <a:xfrm>
            <a:off x="9198864" y="5029200"/>
            <a:ext cx="914400" cy="822960"/>
          </a:xfrm>
          <a:prstGeom prst="rect">
            <a:avLst/>
          </a:prstGeom>
          <a:noFill/>
          <a:ln/>
        </p:spPr>
        <p:txBody>
          <a:bodyPr wrap="square" lIns="0" tIns="0" rIns="0" bIns="0" rtlCol="0" anchor="ctr"/>
          <a:lstStyle/>
          <a:p>
            <a:pPr marL="0" indent="0" algn="ctr">
              <a:buNone/>
            </a:pPr>
            <a:r>
              <a:rPr lang="en-US" sz="1200" b="1" dirty="0">
                <a:solidFill>
                  <a:schemeClr val="tx2"/>
                </a:solidFill>
              </a:rPr>
              <a:t>Dense 32</a:t>
            </a:r>
            <a:endParaRPr lang="en-US" sz="1200" dirty="0"/>
          </a:p>
          <a:p>
            <a:pPr marL="0" indent="0" algn="ctr">
              <a:buNone/>
            </a:pPr>
            <a:r>
              <a:rPr lang="en-US" sz="1200" b="1" dirty="0">
                <a:solidFill>
                  <a:schemeClr val="tx2"/>
                </a:solidFill>
              </a:rPr>
              <a:t>ReLU, Drop</a:t>
            </a:r>
            <a:endParaRPr lang="en-US" sz="1200" dirty="0"/>
          </a:p>
        </p:txBody>
      </p:sp>
      <p:sp>
        <p:nvSpPr>
          <p:cNvPr id="18" name="Text 14"/>
          <p:cNvSpPr txBox="1"/>
          <p:nvPr/>
        </p:nvSpPr>
        <p:spPr>
          <a:xfrm>
            <a:off x="10113264" y="5029200"/>
            <a:ext cx="256032" cy="822960"/>
          </a:xfrm>
          <a:prstGeom prst="rect">
            <a:avLst/>
          </a:prstGeom>
          <a:noFill/>
          <a:ln/>
        </p:spPr>
        <p:txBody>
          <a:bodyPr wrap="square" lIns="0" tIns="0" rIns="0" bIns="0" rtlCol="0" anchor="ctr"/>
          <a:lstStyle/>
          <a:p>
            <a:pPr marL="0" indent="0" algn="ctr">
              <a:buNone/>
            </a:pPr>
            <a:r>
              <a:rPr lang="en-US" sz="1600" b="1" dirty="0">
                <a:solidFill>
                  <a:schemeClr val="tx2"/>
                </a:solidFill>
              </a:rPr>
              <a:t>→</a:t>
            </a:r>
            <a:endParaRPr lang="en-US" sz="1600" dirty="0"/>
          </a:p>
        </p:txBody>
      </p:sp>
      <p:sp>
        <p:nvSpPr>
          <p:cNvPr id="19" name="Arch box 4"/>
          <p:cNvSpPr/>
          <p:nvPr/>
        </p:nvSpPr>
        <p:spPr>
          <a:xfrm>
            <a:off x="10369296" y="5029200"/>
            <a:ext cx="914400" cy="822960"/>
          </a:xfrm>
          <a:prstGeom prst="roundRect">
            <a:avLst>
              <a:gd name="adj" fmla="val 6667"/>
            </a:avLst>
          </a:prstGeom>
          <a:solidFill>
            <a:schemeClr val="tx2"/>
          </a:solidFill>
          <a:ln w="12700">
            <a:solidFill>
              <a:schemeClr val="tx2"/>
            </a:solidFill>
            <a:prstDash val="solid"/>
          </a:ln>
        </p:spPr>
      </p:sp>
      <p:sp>
        <p:nvSpPr>
          <p:cNvPr id="20" name="Text 16"/>
          <p:cNvSpPr txBox="1"/>
          <p:nvPr/>
        </p:nvSpPr>
        <p:spPr>
          <a:xfrm>
            <a:off x="10369296" y="5029200"/>
            <a:ext cx="914400" cy="822960"/>
          </a:xfrm>
          <a:prstGeom prst="rect">
            <a:avLst/>
          </a:prstGeom>
          <a:noFill/>
          <a:ln/>
        </p:spPr>
        <p:txBody>
          <a:bodyPr wrap="square" lIns="0" tIns="0" rIns="0" bIns="0" rtlCol="0" anchor="ctr"/>
          <a:lstStyle/>
          <a:p>
            <a:pPr marL="0" indent="0" algn="ctr">
              <a:buNone/>
            </a:pPr>
            <a:r>
              <a:rPr lang="en-US" sz="1200" b="1" dirty="0">
                <a:solidFill>
                  <a:schemeClr val="bg1"/>
                </a:solidFill>
              </a:rPr>
              <a:t>Output</a:t>
            </a:r>
            <a:endParaRPr lang="en-US" sz="1200" dirty="0"/>
          </a:p>
          <a:p>
            <a:pPr marL="0" indent="0" algn="ctr">
              <a:buNone/>
            </a:pPr>
            <a:r>
              <a:rPr lang="en-US" sz="1200" b="1" dirty="0">
                <a:solidFill>
                  <a:schemeClr val="bg1"/>
                </a:solidFill>
              </a:rPr>
              <a:t>4</a:t>
            </a:r>
            <a:endParaRPr lang="en-US" sz="12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530352"/>
            <a:ext cx="11094415" cy="640080"/>
          </a:xfrm>
          <a:prstGeom prst="rect">
            <a:avLst/>
          </a:prstGeom>
          <a:noFill/>
          <a:ln/>
        </p:spPr>
        <p:txBody>
          <a:bodyPr wrap="square" lIns="0" tIns="0" rIns="0" bIns="0" rtlCol="0" anchor="t"/>
          <a:lstStyle/>
          <a:p>
            <a:pPr marL="0" indent="0" algn="l">
              <a:buNone/>
            </a:pPr>
            <a:r>
              <a:rPr lang="en-US" sz="2800" b="1" dirty="0">
                <a:solidFill>
                  <a:schemeClr val="tx2"/>
                </a:solidFill>
              </a:rPr>
              <a:t>Training Progress: Learning Curves</a:t>
            </a:r>
            <a:endParaRPr lang="en-US" sz="2800" dirty="0"/>
          </a:p>
        </p:txBody>
      </p:sp>
      <p:sp>
        <p:nvSpPr>
          <p:cNvPr id="4" name="UPLOAD HERE - Notebook Cell 16 plot"/>
          <p:cNvSpPr/>
          <p:nvPr/>
        </p:nvSpPr>
        <p:spPr>
          <a:xfrm>
            <a:off x="548640" y="1325880"/>
            <a:ext cx="6858000" cy="3566160"/>
          </a:xfrm>
          <a:prstGeom prst="roundRect">
            <a:avLst>
              <a:gd name="adj" fmla="val 2051"/>
            </a:avLst>
          </a:prstGeom>
          <a:solidFill>
            <a:schemeClr val="bg1"/>
          </a:solidFill>
          <a:ln w="19050">
            <a:solidFill>
              <a:schemeClr val="tx2"/>
            </a:solidFill>
            <a:prstDash val="dash"/>
          </a:ln>
        </p:spPr>
      </p:sp>
      <p:sp>
        <p:nvSpPr>
          <p:cNvPr id="5" name="Camera circle"/>
          <p:cNvSpPr/>
          <p:nvPr/>
        </p:nvSpPr>
        <p:spPr>
          <a:xfrm>
            <a:off x="3657600" y="1956816"/>
            <a:ext cx="640080" cy="640080"/>
          </a:xfrm>
          <a:prstGeom prst="ellipse">
            <a:avLst/>
          </a:prstGeom>
          <a:solidFill>
            <a:schemeClr val="tx2"/>
          </a:solidFill>
          <a:ln w="6350">
            <a:solidFill>
              <a:schemeClr val="tx2"/>
            </a:solidFill>
            <a:prstDash val="solid"/>
          </a:ln>
        </p:spPr>
      </p:sp>
      <p:pic>
        <p:nvPicPr>
          <p:cNvPr id="6" name="Image 0" descr="Camera"/>
          <p:cNvPicPr>
            <a:picLocks noChangeAspect="1"/>
          </p:cNvPicPr>
          <p:nvPr/>
        </p:nvPicPr>
        <p:blipFill>
          <a:blip r:embed="rId3"/>
          <a:stretch>
            <a:fillRect/>
          </a:stretch>
        </p:blipFill>
        <p:spPr>
          <a:xfrm>
            <a:off x="3824021" y="2123237"/>
            <a:ext cx="307238" cy="307238"/>
          </a:xfrm>
          <a:prstGeom prst="rect">
            <a:avLst/>
          </a:prstGeom>
        </p:spPr>
      </p:pic>
      <p:sp>
        <p:nvSpPr>
          <p:cNvPr id="7" name="Text 3"/>
          <p:cNvSpPr txBox="1"/>
          <p:nvPr/>
        </p:nvSpPr>
        <p:spPr>
          <a:xfrm>
            <a:off x="822960" y="2706624"/>
            <a:ext cx="6309360" cy="274320"/>
          </a:xfrm>
          <a:prstGeom prst="rect">
            <a:avLst/>
          </a:prstGeom>
          <a:noFill/>
          <a:ln/>
        </p:spPr>
        <p:txBody>
          <a:bodyPr wrap="square" lIns="0" tIns="0" rIns="0" bIns="0" rtlCol="0" anchor="t"/>
          <a:lstStyle/>
          <a:p>
            <a:pPr marL="0" indent="0" algn="ctr">
              <a:buNone/>
            </a:pPr>
            <a:r>
              <a:rPr lang="en-US" sz="1500" b="1" dirty="0">
                <a:solidFill>
                  <a:schemeClr val="tx2"/>
                </a:solidFill>
              </a:rPr>
              <a:t>UPLOAD SCREENSHOT HERE</a:t>
            </a:r>
            <a:endParaRPr lang="en-US" sz="1500" dirty="0"/>
          </a:p>
        </p:txBody>
      </p:sp>
      <p:sp>
        <p:nvSpPr>
          <p:cNvPr id="8" name="Text 4"/>
          <p:cNvSpPr txBox="1"/>
          <p:nvPr/>
        </p:nvSpPr>
        <p:spPr>
          <a:xfrm>
            <a:off x="822960" y="2980944"/>
            <a:ext cx="6309360" cy="274320"/>
          </a:xfrm>
          <a:prstGeom prst="rect">
            <a:avLst/>
          </a:prstGeom>
          <a:noFill/>
          <a:ln/>
        </p:spPr>
        <p:txBody>
          <a:bodyPr wrap="square" lIns="0" tIns="0" rIns="0" bIns="0" rtlCol="0" anchor="t"/>
          <a:lstStyle/>
          <a:p>
            <a:pPr marL="0" indent="0" algn="ctr">
              <a:buNone/>
            </a:pPr>
            <a:r>
              <a:rPr lang="en-US" sz="1400" b="1" dirty="0">
                <a:solidFill>
                  <a:schemeClr val="accent2"/>
                </a:solidFill>
              </a:rPr>
              <a:t>Notebook Cell 16 plot</a:t>
            </a:r>
            <a:endParaRPr lang="en-US" sz="1400" dirty="0"/>
          </a:p>
        </p:txBody>
      </p:sp>
      <p:sp>
        <p:nvSpPr>
          <p:cNvPr id="9" name="Text 5"/>
          <p:cNvSpPr txBox="1"/>
          <p:nvPr/>
        </p:nvSpPr>
        <p:spPr>
          <a:xfrm>
            <a:off x="914400" y="3346704"/>
            <a:ext cx="6126480" cy="914400"/>
          </a:xfrm>
          <a:prstGeom prst="rect">
            <a:avLst/>
          </a:prstGeom>
          <a:noFill/>
          <a:ln/>
        </p:spPr>
        <p:txBody>
          <a:bodyPr wrap="square" lIns="0" tIns="0" rIns="0" bIns="0" rtlCol="0" anchor="t"/>
          <a:lstStyle/>
          <a:p>
            <a:pPr marL="0" indent="0" algn="ctr">
              <a:buNone/>
            </a:pPr>
            <a:r>
              <a:rPr lang="en-US" sz="1200" dirty="0">
                <a:solidFill>
                  <a:schemeClr val="accent2"/>
                </a:solidFill>
              </a:rPr>
              <a:t>Capture the 'Neural Network Learning Curves' figure (training and validation loss vs epoch). Crop to the figure only.</a:t>
            </a:r>
            <a:endParaRPr lang="en-US" sz="1200" dirty="0"/>
          </a:p>
        </p:txBody>
      </p:sp>
      <p:sp>
        <p:nvSpPr>
          <p:cNvPr id="10" name="Stat 200"/>
          <p:cNvSpPr/>
          <p:nvPr/>
        </p:nvSpPr>
        <p:spPr>
          <a:xfrm>
            <a:off x="7635240" y="1325880"/>
            <a:ext cx="4005072" cy="1097280"/>
          </a:xfrm>
          <a:prstGeom prst="roundRect">
            <a:avLst>
              <a:gd name="adj" fmla="val 6667"/>
            </a:avLst>
          </a:prstGeom>
          <a:solidFill>
            <a:schemeClr val="bg2"/>
          </a:solidFill>
          <a:ln w="9525">
            <a:solidFill>
              <a:schemeClr val="accent3"/>
            </a:solidFill>
            <a:prstDash val="solid"/>
          </a:ln>
        </p:spPr>
      </p:sp>
      <p:sp>
        <p:nvSpPr>
          <p:cNvPr id="11" name="Text 7"/>
          <p:cNvSpPr txBox="1"/>
          <p:nvPr/>
        </p:nvSpPr>
        <p:spPr>
          <a:xfrm>
            <a:off x="7726680" y="1417320"/>
            <a:ext cx="3822192" cy="548640"/>
          </a:xfrm>
          <a:prstGeom prst="rect">
            <a:avLst/>
          </a:prstGeom>
          <a:noFill/>
          <a:ln/>
        </p:spPr>
        <p:txBody>
          <a:bodyPr wrap="square" lIns="0" tIns="0" rIns="0" bIns="0" rtlCol="0" anchor="ctr"/>
          <a:lstStyle/>
          <a:p>
            <a:pPr marL="0" indent="0" algn="ctr">
              <a:buNone/>
            </a:pPr>
            <a:r>
              <a:rPr lang="en-US" sz="2800" b="1" dirty="0">
                <a:solidFill>
                  <a:schemeClr val="tx2"/>
                </a:solidFill>
              </a:rPr>
              <a:t>200</a:t>
            </a:r>
            <a:endParaRPr lang="en-US" sz="2800" dirty="0"/>
          </a:p>
        </p:txBody>
      </p:sp>
      <p:sp>
        <p:nvSpPr>
          <p:cNvPr id="12" name="Text 8"/>
          <p:cNvSpPr txBox="1"/>
          <p:nvPr/>
        </p:nvSpPr>
        <p:spPr>
          <a:xfrm>
            <a:off x="7726680" y="1962302"/>
            <a:ext cx="3822192" cy="395021"/>
          </a:xfrm>
          <a:prstGeom prst="rect">
            <a:avLst/>
          </a:prstGeom>
          <a:noFill/>
          <a:ln/>
        </p:spPr>
        <p:txBody>
          <a:bodyPr wrap="square" lIns="0" tIns="0" rIns="0" bIns="0" rtlCol="0" anchor="t"/>
          <a:lstStyle/>
          <a:p>
            <a:pPr marL="0" indent="0" algn="ctr">
              <a:buNone/>
            </a:pPr>
            <a:r>
              <a:rPr lang="en-US" sz="1300" dirty="0">
                <a:solidFill>
                  <a:schemeClr val="accent2"/>
                </a:solidFill>
              </a:rPr>
              <a:t>Epochs (full-batch Adam)</a:t>
            </a:r>
            <a:endParaRPr lang="en-US" sz="1300" dirty="0"/>
          </a:p>
        </p:txBody>
      </p:sp>
      <p:sp>
        <p:nvSpPr>
          <p:cNvPr id="13" name="Stat 0.738 → 0.128"/>
          <p:cNvSpPr/>
          <p:nvPr/>
        </p:nvSpPr>
        <p:spPr>
          <a:xfrm>
            <a:off x="7635240" y="2560320"/>
            <a:ext cx="4005072" cy="1097280"/>
          </a:xfrm>
          <a:prstGeom prst="roundRect">
            <a:avLst>
              <a:gd name="adj" fmla="val 6667"/>
            </a:avLst>
          </a:prstGeom>
          <a:solidFill>
            <a:schemeClr val="bg2"/>
          </a:solidFill>
          <a:ln w="9525">
            <a:solidFill>
              <a:schemeClr val="accent3"/>
            </a:solidFill>
            <a:prstDash val="solid"/>
          </a:ln>
        </p:spPr>
      </p:sp>
      <p:sp>
        <p:nvSpPr>
          <p:cNvPr id="14" name="Text 10"/>
          <p:cNvSpPr txBox="1"/>
          <p:nvPr/>
        </p:nvSpPr>
        <p:spPr>
          <a:xfrm>
            <a:off x="7726680" y="2651760"/>
            <a:ext cx="3822192" cy="548640"/>
          </a:xfrm>
          <a:prstGeom prst="rect">
            <a:avLst/>
          </a:prstGeom>
          <a:noFill/>
          <a:ln/>
        </p:spPr>
        <p:txBody>
          <a:bodyPr wrap="square" lIns="0" tIns="0" rIns="0" bIns="0" rtlCol="0" anchor="ctr"/>
          <a:lstStyle/>
          <a:p>
            <a:pPr marL="0" indent="0" algn="ctr">
              <a:buNone/>
            </a:pPr>
            <a:r>
              <a:rPr lang="en-US" sz="2400" b="1" dirty="0">
                <a:solidFill>
                  <a:schemeClr val="tx2"/>
                </a:solidFill>
              </a:rPr>
              <a:t>0.738 → 0.128</a:t>
            </a:r>
            <a:endParaRPr lang="en-US" sz="2400" dirty="0"/>
          </a:p>
        </p:txBody>
      </p:sp>
      <p:sp>
        <p:nvSpPr>
          <p:cNvPr id="15" name="Text 11"/>
          <p:cNvSpPr txBox="1"/>
          <p:nvPr/>
        </p:nvSpPr>
        <p:spPr>
          <a:xfrm>
            <a:off x="7726680" y="3196742"/>
            <a:ext cx="3822192" cy="395021"/>
          </a:xfrm>
          <a:prstGeom prst="rect">
            <a:avLst/>
          </a:prstGeom>
          <a:noFill/>
          <a:ln/>
        </p:spPr>
        <p:txBody>
          <a:bodyPr wrap="square" lIns="0" tIns="0" rIns="0" bIns="0" rtlCol="0" anchor="t"/>
          <a:lstStyle/>
          <a:p>
            <a:pPr marL="0" indent="0" algn="ctr">
              <a:buNone/>
            </a:pPr>
            <a:r>
              <a:rPr lang="en-US" sz="1300" dirty="0">
                <a:solidFill>
                  <a:schemeClr val="accent2"/>
                </a:solidFill>
              </a:rPr>
              <a:t>Training loss, epoch 20 → 200</a:t>
            </a:r>
            <a:endParaRPr lang="en-US" sz="1300" dirty="0"/>
          </a:p>
        </p:txBody>
      </p:sp>
      <p:sp>
        <p:nvSpPr>
          <p:cNvPr id="16" name="Stat 27.02 → 17.38"/>
          <p:cNvSpPr/>
          <p:nvPr/>
        </p:nvSpPr>
        <p:spPr>
          <a:xfrm>
            <a:off x="7635240" y="3794760"/>
            <a:ext cx="4005072" cy="1097280"/>
          </a:xfrm>
          <a:prstGeom prst="roundRect">
            <a:avLst>
              <a:gd name="adj" fmla="val 6667"/>
            </a:avLst>
          </a:prstGeom>
          <a:solidFill>
            <a:schemeClr val="bg2"/>
          </a:solidFill>
          <a:ln w="9525">
            <a:solidFill>
              <a:schemeClr val="accent3"/>
            </a:solidFill>
            <a:prstDash val="solid"/>
          </a:ln>
        </p:spPr>
      </p:sp>
      <p:sp>
        <p:nvSpPr>
          <p:cNvPr id="17" name="Text 13"/>
          <p:cNvSpPr txBox="1"/>
          <p:nvPr/>
        </p:nvSpPr>
        <p:spPr>
          <a:xfrm>
            <a:off x="7726680" y="3886200"/>
            <a:ext cx="3822192" cy="548640"/>
          </a:xfrm>
          <a:prstGeom prst="rect">
            <a:avLst/>
          </a:prstGeom>
          <a:noFill/>
          <a:ln/>
        </p:spPr>
        <p:txBody>
          <a:bodyPr wrap="square" lIns="0" tIns="0" rIns="0" bIns="0" rtlCol="0" anchor="ctr"/>
          <a:lstStyle/>
          <a:p>
            <a:pPr marL="0" indent="0" algn="ctr">
              <a:buNone/>
            </a:pPr>
            <a:r>
              <a:rPr lang="en-US" sz="2400" b="1" dirty="0">
                <a:solidFill>
                  <a:schemeClr val="tx2"/>
                </a:solidFill>
              </a:rPr>
              <a:t>27.02 → 17.38</a:t>
            </a:r>
            <a:endParaRPr lang="en-US" sz="2400" dirty="0"/>
          </a:p>
        </p:txBody>
      </p:sp>
      <p:sp>
        <p:nvSpPr>
          <p:cNvPr id="18" name="Text 14"/>
          <p:cNvSpPr txBox="1"/>
          <p:nvPr/>
        </p:nvSpPr>
        <p:spPr>
          <a:xfrm>
            <a:off x="7726680" y="4431182"/>
            <a:ext cx="3822192" cy="395021"/>
          </a:xfrm>
          <a:prstGeom prst="rect">
            <a:avLst/>
          </a:prstGeom>
          <a:noFill/>
          <a:ln/>
        </p:spPr>
        <p:txBody>
          <a:bodyPr wrap="square" lIns="0" tIns="0" rIns="0" bIns="0" rtlCol="0" anchor="t"/>
          <a:lstStyle/>
          <a:p>
            <a:pPr marL="0" indent="0" algn="ctr">
              <a:buNone/>
            </a:pPr>
            <a:r>
              <a:rPr lang="en-US" sz="1300" dirty="0">
                <a:solidFill>
                  <a:schemeClr val="accent2"/>
                </a:solidFill>
              </a:rPr>
              <a:t>Validation loss, epoch 20 → 200</a:t>
            </a:r>
            <a:endParaRPr lang="en-US" sz="1300" dirty="0"/>
          </a:p>
        </p:txBody>
      </p:sp>
      <p:sp>
        <p:nvSpPr>
          <p:cNvPr id="19" name="Insight card"/>
          <p:cNvSpPr/>
          <p:nvPr/>
        </p:nvSpPr>
        <p:spPr>
          <a:xfrm>
            <a:off x="548640" y="5120640"/>
            <a:ext cx="11094415" cy="1097280"/>
          </a:xfrm>
          <a:prstGeom prst="roundRect">
            <a:avLst>
              <a:gd name="adj" fmla="val 6667"/>
            </a:avLst>
          </a:prstGeom>
          <a:solidFill>
            <a:schemeClr val="bg2"/>
          </a:solidFill>
          <a:ln w="9525">
            <a:solidFill>
              <a:schemeClr val="accent3"/>
            </a:solidFill>
            <a:prstDash val="solid"/>
          </a:ln>
        </p:spPr>
      </p:sp>
      <p:sp>
        <p:nvSpPr>
          <p:cNvPr id="20" name="Text 16"/>
          <p:cNvSpPr txBox="1"/>
          <p:nvPr/>
        </p:nvSpPr>
        <p:spPr>
          <a:xfrm>
            <a:off x="822960" y="5120640"/>
            <a:ext cx="10545775" cy="1097280"/>
          </a:xfrm>
          <a:prstGeom prst="rect">
            <a:avLst/>
          </a:prstGeom>
          <a:noFill/>
          <a:ln/>
        </p:spPr>
        <p:txBody>
          <a:bodyPr wrap="square" lIns="0" tIns="0" rIns="0" bIns="0" rtlCol="0" anchor="ctr"/>
          <a:lstStyle/>
          <a:p>
            <a:pPr marL="0" indent="0">
              <a:buNone/>
            </a:pPr>
            <a:r>
              <a:rPr lang="en-US" sz="1450" b="1" dirty="0">
                <a:solidFill>
                  <a:schemeClr val="tx2"/>
                </a:solidFill>
              </a:rPr>
              <a:t>TRAINING INSIGHT:  </a:t>
            </a:r>
            <a:r>
              <a:rPr lang="en-US" sz="1450" dirty="0">
                <a:solidFill>
                  <a:schemeClr val="tx1"/>
                </a:solidFill>
              </a:rPr>
              <a:t>The network fits the early flight well (training loss 0.13), but validation loss stays about 130 times higher (17.4). The later segment behaves differently from what it learned, which motivates the distribution-shift analysis.</a:t>
            </a:r>
            <a:endParaRPr lang="en-US" sz="145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12</a:t>
            </a:fld>
            <a:endParaRPr lang="en-US"/>
          </a:p>
        </p:txBody>
      </p:sp>
      <p:pic>
        <p:nvPicPr>
          <p:cNvPr id="3" name="Picture 2">
            <a:extLst>
              <a:ext uri="{FF2B5EF4-FFF2-40B4-BE49-F238E27FC236}">
                <a16:creationId xmlns:a16="http://schemas.microsoft.com/office/drawing/2014/main" id="{AB784E1A-06D4-339C-AA4F-2342C92605FF}"/>
              </a:ext>
            </a:extLst>
          </p:cNvPr>
          <p:cNvPicPr>
            <a:picLocks noChangeAspect="1"/>
          </p:cNvPicPr>
          <p:nvPr/>
        </p:nvPicPr>
        <p:blipFill>
          <a:blip r:embed="rId4"/>
          <a:stretch>
            <a:fillRect/>
          </a:stretch>
        </p:blipFill>
        <p:spPr>
          <a:xfrm>
            <a:off x="138223" y="1144438"/>
            <a:ext cx="7371596" cy="376551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530352"/>
            <a:ext cx="11094415" cy="640080"/>
          </a:xfrm>
          <a:prstGeom prst="rect">
            <a:avLst/>
          </a:prstGeom>
          <a:noFill/>
          <a:ln/>
        </p:spPr>
        <p:txBody>
          <a:bodyPr wrap="square" lIns="0" tIns="0" rIns="0" bIns="0" rtlCol="0" anchor="t"/>
          <a:lstStyle/>
          <a:p>
            <a:pPr marL="0" indent="0" algn="l">
              <a:buNone/>
            </a:pPr>
            <a:r>
              <a:rPr lang="en-US" sz="2800" b="1" dirty="0">
                <a:solidFill>
                  <a:schemeClr val="tx2"/>
                </a:solidFill>
              </a:rPr>
              <a:t>Uncertainty, Fidelity Score &amp; Mismatch Rule</a:t>
            </a:r>
            <a:endParaRPr lang="en-US" sz="2800" dirty="0"/>
          </a:p>
        </p:txBody>
      </p:sp>
      <p:sp>
        <p:nvSpPr>
          <p:cNvPr id="4" name="Formula strip"/>
          <p:cNvSpPr/>
          <p:nvPr/>
        </p:nvSpPr>
        <p:spPr>
          <a:xfrm>
            <a:off x="548640" y="1325880"/>
            <a:ext cx="11094415" cy="1188720"/>
          </a:xfrm>
          <a:prstGeom prst="roundRect">
            <a:avLst>
              <a:gd name="adj" fmla="val 6154"/>
            </a:avLst>
          </a:prstGeom>
          <a:solidFill>
            <a:schemeClr val="bg2"/>
          </a:solidFill>
          <a:ln w="9525">
            <a:solidFill>
              <a:schemeClr val="accent3"/>
            </a:solidFill>
            <a:prstDash val="solid"/>
          </a:ln>
        </p:spPr>
      </p:sp>
      <p:sp>
        <p:nvSpPr>
          <p:cNvPr id="5" name="Text 2"/>
          <p:cNvSpPr txBox="1"/>
          <p:nvPr/>
        </p:nvSpPr>
        <p:spPr>
          <a:xfrm>
            <a:off x="822960" y="1444752"/>
            <a:ext cx="5486400" cy="274320"/>
          </a:xfrm>
          <a:prstGeom prst="rect">
            <a:avLst/>
          </a:prstGeom>
          <a:noFill/>
          <a:ln/>
        </p:spPr>
        <p:txBody>
          <a:bodyPr wrap="square" lIns="0" tIns="0" rIns="0" bIns="0" rtlCol="0" anchor="t"/>
          <a:lstStyle/>
          <a:p>
            <a:pPr marL="0" indent="0">
              <a:buNone/>
            </a:pPr>
            <a:r>
              <a:rPr lang="en-US" sz="1250" b="1" dirty="0">
                <a:solidFill>
                  <a:schemeClr val="accent2"/>
                </a:solidFill>
              </a:rPr>
              <a:t>KEY FORMULAS (PER LINK):</a:t>
            </a:r>
            <a:endParaRPr lang="en-US" sz="1250" dirty="0"/>
          </a:p>
        </p:txBody>
      </p:sp>
      <p:sp>
        <p:nvSpPr>
          <p:cNvPr id="6" name="Text 3"/>
          <p:cNvSpPr txBox="1"/>
          <p:nvPr/>
        </p:nvSpPr>
        <p:spPr>
          <a:xfrm>
            <a:off x="822960" y="1783080"/>
            <a:ext cx="10545775" cy="548640"/>
          </a:xfrm>
          <a:prstGeom prst="rect">
            <a:avLst/>
          </a:prstGeom>
          <a:noFill/>
          <a:ln/>
        </p:spPr>
        <p:txBody>
          <a:bodyPr wrap="square" lIns="0" tIns="0" rIns="0" bIns="0" rtlCol="0" anchor="ctr"/>
          <a:lstStyle/>
          <a:p>
            <a:pPr marL="0" indent="0">
              <a:buNone/>
            </a:pPr>
            <a:r>
              <a:rPr lang="en-US" sz="1700" b="1" dirty="0">
                <a:solidFill>
                  <a:schemeClr val="tx2"/>
                </a:solidFill>
              </a:rPr>
              <a:t>ŷ = mean(100 passes)   |   σ = std(100 passes)   |   Fidelity = max(0, 1 − MAE / mean|actual|) × 100</a:t>
            </a:r>
            <a:endParaRPr lang="en-US" sz="1700" dirty="0"/>
          </a:p>
        </p:txBody>
      </p:sp>
      <p:sp>
        <p:nvSpPr>
          <p:cNvPr id="7" name="Concept card 1"/>
          <p:cNvSpPr/>
          <p:nvPr/>
        </p:nvSpPr>
        <p:spPr>
          <a:xfrm>
            <a:off x="548640" y="2743200"/>
            <a:ext cx="3576218" cy="3474720"/>
          </a:xfrm>
          <a:prstGeom prst="roundRect">
            <a:avLst>
              <a:gd name="adj" fmla="val 2105"/>
            </a:avLst>
          </a:prstGeom>
          <a:solidFill>
            <a:schemeClr val="bg2"/>
          </a:solidFill>
          <a:ln w="9525">
            <a:solidFill>
              <a:schemeClr val="accent3"/>
            </a:solidFill>
            <a:prstDash val="solid"/>
          </a:ln>
        </p:spPr>
      </p:sp>
      <p:sp>
        <p:nvSpPr>
          <p:cNvPr id="8" name="MC Dropout Uncertainty circle"/>
          <p:cNvSpPr/>
          <p:nvPr/>
        </p:nvSpPr>
        <p:spPr>
          <a:xfrm>
            <a:off x="777240" y="2926080"/>
            <a:ext cx="640080" cy="640080"/>
          </a:xfrm>
          <a:prstGeom prst="ellipse">
            <a:avLst/>
          </a:prstGeom>
          <a:solidFill>
            <a:schemeClr val="tx2"/>
          </a:solidFill>
          <a:ln w="6350">
            <a:solidFill>
              <a:schemeClr val="tx2"/>
            </a:solidFill>
            <a:prstDash val="solid"/>
          </a:ln>
        </p:spPr>
      </p:sp>
      <p:pic>
        <p:nvPicPr>
          <p:cNvPr id="9" name="Image 0" descr="MC Dropout Uncertainty"/>
          <p:cNvPicPr>
            <a:picLocks noChangeAspect="1"/>
          </p:cNvPicPr>
          <p:nvPr/>
        </p:nvPicPr>
        <p:blipFill>
          <a:blip r:embed="rId3"/>
          <a:stretch>
            <a:fillRect/>
          </a:stretch>
        </p:blipFill>
        <p:spPr>
          <a:xfrm>
            <a:off x="943661" y="3092501"/>
            <a:ext cx="307238" cy="307238"/>
          </a:xfrm>
          <a:prstGeom prst="rect">
            <a:avLst/>
          </a:prstGeom>
        </p:spPr>
      </p:pic>
      <p:sp>
        <p:nvSpPr>
          <p:cNvPr id="10" name="Text 6"/>
          <p:cNvSpPr txBox="1"/>
          <p:nvPr/>
        </p:nvSpPr>
        <p:spPr>
          <a:xfrm>
            <a:off x="1554480" y="3063240"/>
            <a:ext cx="2433218" cy="365760"/>
          </a:xfrm>
          <a:prstGeom prst="rect">
            <a:avLst/>
          </a:prstGeom>
          <a:noFill/>
          <a:ln/>
        </p:spPr>
        <p:txBody>
          <a:bodyPr wrap="square" lIns="0" tIns="0" rIns="0" bIns="0" rtlCol="0" anchor="t"/>
          <a:lstStyle/>
          <a:p>
            <a:pPr marL="0" indent="0">
              <a:buNone/>
            </a:pPr>
            <a:r>
              <a:rPr lang="en-US" sz="1700" b="1" dirty="0">
                <a:solidFill>
                  <a:schemeClr val="tx2"/>
                </a:solidFill>
              </a:rPr>
              <a:t>MC Dropout Uncertainty</a:t>
            </a:r>
            <a:endParaRPr lang="en-US" sz="1700" dirty="0"/>
          </a:p>
        </p:txBody>
      </p:sp>
      <p:sp>
        <p:nvSpPr>
          <p:cNvPr id="11" name="Text 7"/>
          <p:cNvSpPr txBox="1"/>
          <p:nvPr/>
        </p:nvSpPr>
        <p:spPr>
          <a:xfrm>
            <a:off x="822960" y="3840480"/>
            <a:ext cx="3073298" cy="2286000"/>
          </a:xfrm>
          <a:prstGeom prst="rect">
            <a:avLst/>
          </a:prstGeom>
          <a:noFill/>
          <a:ln/>
        </p:spPr>
        <p:txBody>
          <a:bodyPr wrap="square" lIns="0" tIns="0" rIns="0" bIns="0" rtlCol="0" anchor="t"/>
          <a:lstStyle/>
          <a:p>
            <a:pPr marL="177800" indent="-177800">
              <a:spcAft>
                <a:spcPts val="1200"/>
              </a:spcAft>
              <a:buSzPct val="100000"/>
              <a:buChar char="•"/>
            </a:pPr>
            <a:r>
              <a:rPr lang="en-US" sz="1600" dirty="0">
                <a:solidFill>
                  <a:schemeClr val="tx1"/>
                </a:solidFill>
              </a:rPr>
              <a:t>Dropout stays ON at prediction time.</a:t>
            </a:r>
            <a:endParaRPr lang="en-US" sz="1400" dirty="0"/>
          </a:p>
          <a:p>
            <a:pPr marL="177800" indent="-177800">
              <a:spcAft>
                <a:spcPts val="1200"/>
              </a:spcAft>
              <a:buSzPct val="100000"/>
              <a:buChar char="•"/>
            </a:pPr>
            <a:r>
              <a:rPr lang="en-US" sz="1600" dirty="0">
                <a:solidFill>
                  <a:schemeClr val="tx1"/>
                </a:solidFill>
              </a:rPr>
              <a:t>100 passes: mean = prediction, std = uncertainty.</a:t>
            </a:r>
            <a:endParaRPr lang="en-US" sz="1400" dirty="0"/>
          </a:p>
          <a:p>
            <a:pPr marL="177800" indent="-177800">
              <a:spcAft>
                <a:spcPts val="1200"/>
              </a:spcAft>
              <a:buSzPct val="100000"/>
              <a:buChar char="•"/>
            </a:pPr>
            <a:r>
              <a:rPr lang="en-US" sz="1600" dirty="0">
                <a:solidFill>
                  <a:schemeClr val="tx1"/>
                </a:solidFill>
              </a:rPr>
              <a:t>A wide spread means the model is unsure.</a:t>
            </a:r>
            <a:endParaRPr lang="en-US" sz="1400" dirty="0"/>
          </a:p>
        </p:txBody>
      </p:sp>
      <p:sp>
        <p:nvSpPr>
          <p:cNvPr id="12" name="Concept card 2"/>
          <p:cNvSpPr/>
          <p:nvPr/>
        </p:nvSpPr>
        <p:spPr>
          <a:xfrm>
            <a:off x="4307738" y="2743200"/>
            <a:ext cx="3576218" cy="3474720"/>
          </a:xfrm>
          <a:prstGeom prst="roundRect">
            <a:avLst>
              <a:gd name="adj" fmla="val 2105"/>
            </a:avLst>
          </a:prstGeom>
          <a:solidFill>
            <a:schemeClr val="bg2"/>
          </a:solidFill>
          <a:ln w="9525">
            <a:solidFill>
              <a:schemeClr val="accent3"/>
            </a:solidFill>
            <a:prstDash val="solid"/>
          </a:ln>
        </p:spPr>
      </p:sp>
      <p:sp>
        <p:nvSpPr>
          <p:cNvPr id="13" name="Fidelity Score circle"/>
          <p:cNvSpPr/>
          <p:nvPr/>
        </p:nvSpPr>
        <p:spPr>
          <a:xfrm>
            <a:off x="4536338" y="2926080"/>
            <a:ext cx="640080" cy="640080"/>
          </a:xfrm>
          <a:prstGeom prst="ellipse">
            <a:avLst/>
          </a:prstGeom>
          <a:solidFill>
            <a:schemeClr val="tx2"/>
          </a:solidFill>
          <a:ln w="6350">
            <a:solidFill>
              <a:schemeClr val="tx2"/>
            </a:solidFill>
            <a:prstDash val="solid"/>
          </a:ln>
        </p:spPr>
      </p:sp>
      <p:pic>
        <p:nvPicPr>
          <p:cNvPr id="14" name="Image 1" descr="Fidelity Score"/>
          <p:cNvPicPr>
            <a:picLocks noChangeAspect="1"/>
          </p:cNvPicPr>
          <p:nvPr/>
        </p:nvPicPr>
        <p:blipFill>
          <a:blip r:embed="rId4"/>
          <a:stretch>
            <a:fillRect/>
          </a:stretch>
        </p:blipFill>
        <p:spPr>
          <a:xfrm>
            <a:off x="4702759" y="3092501"/>
            <a:ext cx="307238" cy="307238"/>
          </a:xfrm>
          <a:prstGeom prst="rect">
            <a:avLst/>
          </a:prstGeom>
        </p:spPr>
      </p:pic>
      <p:sp>
        <p:nvSpPr>
          <p:cNvPr id="15" name="Text 10"/>
          <p:cNvSpPr txBox="1"/>
          <p:nvPr/>
        </p:nvSpPr>
        <p:spPr>
          <a:xfrm>
            <a:off x="5313578" y="3063240"/>
            <a:ext cx="2433218" cy="365760"/>
          </a:xfrm>
          <a:prstGeom prst="rect">
            <a:avLst/>
          </a:prstGeom>
          <a:noFill/>
          <a:ln/>
        </p:spPr>
        <p:txBody>
          <a:bodyPr wrap="square" lIns="0" tIns="0" rIns="0" bIns="0" rtlCol="0" anchor="t"/>
          <a:lstStyle/>
          <a:p>
            <a:pPr marL="0" indent="0">
              <a:buNone/>
            </a:pPr>
            <a:r>
              <a:rPr lang="en-US" sz="1700" b="1" dirty="0">
                <a:solidFill>
                  <a:schemeClr val="tx2"/>
                </a:solidFill>
              </a:rPr>
              <a:t>Fidelity Score</a:t>
            </a:r>
            <a:endParaRPr lang="en-US" sz="1700" dirty="0"/>
          </a:p>
        </p:txBody>
      </p:sp>
      <p:sp>
        <p:nvSpPr>
          <p:cNvPr id="16" name="Text 11"/>
          <p:cNvSpPr txBox="1"/>
          <p:nvPr/>
        </p:nvSpPr>
        <p:spPr>
          <a:xfrm>
            <a:off x="4582058" y="3840480"/>
            <a:ext cx="3073298" cy="2286000"/>
          </a:xfrm>
          <a:prstGeom prst="rect">
            <a:avLst/>
          </a:prstGeom>
          <a:noFill/>
          <a:ln/>
        </p:spPr>
        <p:txBody>
          <a:bodyPr wrap="square" lIns="0" tIns="0" rIns="0" bIns="0" rtlCol="0" anchor="t"/>
          <a:lstStyle/>
          <a:p>
            <a:pPr marL="177800" indent="-177800">
              <a:spcAft>
                <a:spcPts val="1200"/>
              </a:spcAft>
              <a:buSzPct val="100000"/>
              <a:buChar char="•"/>
            </a:pPr>
            <a:r>
              <a:rPr lang="en-US" sz="1600" dirty="0">
                <a:solidFill>
                  <a:schemeClr val="tx1"/>
                </a:solidFill>
              </a:rPr>
              <a:t>Relative-error project metric, not a calibrated standard.</a:t>
            </a:r>
            <a:endParaRPr lang="en-US" sz="1400" dirty="0"/>
          </a:p>
          <a:p>
            <a:pPr marL="177800" indent="-177800">
              <a:spcAft>
                <a:spcPts val="1200"/>
              </a:spcAft>
              <a:buSzPct val="100000"/>
              <a:buChar char="•"/>
            </a:pPr>
            <a:r>
              <a:rPr lang="en-US" sz="1600" dirty="0">
                <a:solidFill>
                  <a:schemeClr val="tx1"/>
                </a:solidFill>
              </a:rPr>
              <a:t>100% = no error; 0% = error as large as the signal.</a:t>
            </a:r>
            <a:endParaRPr lang="en-US" sz="1400" dirty="0"/>
          </a:p>
          <a:p>
            <a:pPr marL="177800" indent="-177800">
              <a:spcAft>
                <a:spcPts val="1200"/>
              </a:spcAft>
              <a:buSzPct val="100000"/>
              <a:buChar char="•"/>
            </a:pPr>
            <a:r>
              <a:rPr lang="en-US" sz="1600" dirty="0">
                <a:solidFill>
                  <a:schemeClr val="tx1"/>
                </a:solidFill>
              </a:rPr>
              <a:t>Computed per link on validation data.</a:t>
            </a:r>
            <a:endParaRPr lang="en-US" sz="1400" dirty="0"/>
          </a:p>
        </p:txBody>
      </p:sp>
      <p:sp>
        <p:nvSpPr>
          <p:cNvPr id="17" name="Concept card 3"/>
          <p:cNvSpPr/>
          <p:nvPr/>
        </p:nvSpPr>
        <p:spPr>
          <a:xfrm>
            <a:off x="8066837" y="2743200"/>
            <a:ext cx="3576218" cy="3474720"/>
          </a:xfrm>
          <a:prstGeom prst="roundRect">
            <a:avLst>
              <a:gd name="adj" fmla="val 2105"/>
            </a:avLst>
          </a:prstGeom>
          <a:solidFill>
            <a:schemeClr val="bg2"/>
          </a:solidFill>
          <a:ln w="9525">
            <a:solidFill>
              <a:schemeClr val="accent3"/>
            </a:solidFill>
            <a:prstDash val="solid"/>
          </a:ln>
        </p:spPr>
      </p:sp>
      <p:sp>
        <p:nvSpPr>
          <p:cNvPr id="18" name="Mismatch Alert circle"/>
          <p:cNvSpPr/>
          <p:nvPr/>
        </p:nvSpPr>
        <p:spPr>
          <a:xfrm>
            <a:off x="8295437" y="2926080"/>
            <a:ext cx="640080" cy="640080"/>
          </a:xfrm>
          <a:prstGeom prst="ellipse">
            <a:avLst/>
          </a:prstGeom>
          <a:solidFill>
            <a:schemeClr val="tx2"/>
          </a:solidFill>
          <a:ln w="6350">
            <a:solidFill>
              <a:schemeClr val="tx2"/>
            </a:solidFill>
            <a:prstDash val="solid"/>
          </a:ln>
        </p:spPr>
      </p:sp>
      <p:pic>
        <p:nvPicPr>
          <p:cNvPr id="19" name="Image 2" descr="Mismatch Alert"/>
          <p:cNvPicPr>
            <a:picLocks noChangeAspect="1"/>
          </p:cNvPicPr>
          <p:nvPr/>
        </p:nvPicPr>
        <p:blipFill>
          <a:blip r:embed="rId5"/>
          <a:stretch>
            <a:fillRect/>
          </a:stretch>
        </p:blipFill>
        <p:spPr>
          <a:xfrm>
            <a:off x="8461858" y="3092501"/>
            <a:ext cx="307238" cy="307238"/>
          </a:xfrm>
          <a:prstGeom prst="rect">
            <a:avLst/>
          </a:prstGeom>
        </p:spPr>
      </p:pic>
      <p:sp>
        <p:nvSpPr>
          <p:cNvPr id="20" name="Text 14"/>
          <p:cNvSpPr txBox="1"/>
          <p:nvPr/>
        </p:nvSpPr>
        <p:spPr>
          <a:xfrm>
            <a:off x="9072677" y="3063240"/>
            <a:ext cx="2433218" cy="365760"/>
          </a:xfrm>
          <a:prstGeom prst="rect">
            <a:avLst/>
          </a:prstGeom>
          <a:noFill/>
          <a:ln/>
        </p:spPr>
        <p:txBody>
          <a:bodyPr wrap="square" lIns="0" tIns="0" rIns="0" bIns="0" rtlCol="0" anchor="t"/>
          <a:lstStyle/>
          <a:p>
            <a:pPr marL="0" indent="0">
              <a:buNone/>
            </a:pPr>
            <a:r>
              <a:rPr lang="en-US" sz="1700" b="1" dirty="0">
                <a:solidFill>
                  <a:schemeClr val="tx2"/>
                </a:solidFill>
              </a:rPr>
              <a:t>Mismatch Alert</a:t>
            </a:r>
            <a:endParaRPr lang="en-US" sz="1700" dirty="0"/>
          </a:p>
        </p:txBody>
      </p:sp>
      <p:sp>
        <p:nvSpPr>
          <p:cNvPr id="21" name="Text 15"/>
          <p:cNvSpPr txBox="1"/>
          <p:nvPr/>
        </p:nvSpPr>
        <p:spPr>
          <a:xfrm>
            <a:off x="8341157" y="3840480"/>
            <a:ext cx="3073298" cy="2286000"/>
          </a:xfrm>
          <a:prstGeom prst="rect">
            <a:avLst/>
          </a:prstGeom>
          <a:noFill/>
          <a:ln/>
        </p:spPr>
        <p:txBody>
          <a:bodyPr wrap="square" lIns="0" tIns="0" rIns="0" bIns="0" rtlCol="0" anchor="t"/>
          <a:lstStyle/>
          <a:p>
            <a:pPr marL="177800" indent="-177800">
              <a:spcAft>
                <a:spcPts val="1200"/>
              </a:spcAft>
              <a:buSzPct val="100000"/>
              <a:buChar char="•"/>
            </a:pPr>
            <a:r>
              <a:rPr lang="en-US" sz="1600" dirty="0">
                <a:solidFill>
                  <a:schemeClr val="tx1"/>
                </a:solidFill>
              </a:rPr>
              <a:t>Threshold = 95th percentile of validation absolute error.</a:t>
            </a:r>
            <a:endParaRPr lang="en-US" sz="1400" dirty="0"/>
          </a:p>
          <a:p>
            <a:pPr marL="177800" indent="-177800">
              <a:spcAft>
                <a:spcPts val="1200"/>
              </a:spcAft>
              <a:buSzPct val="100000"/>
              <a:buChar char="•"/>
            </a:pPr>
            <a:r>
              <a:rPr lang="en-US" sz="1600" dirty="0">
                <a:solidFill>
                  <a:schemeClr val="tx1"/>
                </a:solidFill>
              </a:rPr>
              <a:t>Learned from validation only, so no test leakage.</a:t>
            </a:r>
            <a:endParaRPr lang="en-US" sz="1400" dirty="0"/>
          </a:p>
          <a:p>
            <a:pPr marL="177800" indent="-177800">
              <a:spcAft>
                <a:spcPts val="1200"/>
              </a:spcAft>
              <a:buSzPct val="100000"/>
              <a:buChar char="•"/>
            </a:pPr>
            <a:r>
              <a:rPr lang="en-US" sz="1600" dirty="0">
                <a:solidFill>
                  <a:schemeClr val="tx1"/>
                </a:solidFill>
              </a:rPr>
              <a:t>A test sample is flagged when its error exceeds it.</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530352"/>
            <a:ext cx="11094415" cy="640080"/>
          </a:xfrm>
          <a:prstGeom prst="rect">
            <a:avLst/>
          </a:prstGeom>
          <a:noFill/>
          <a:ln/>
        </p:spPr>
        <p:txBody>
          <a:bodyPr wrap="square" lIns="0" tIns="0" rIns="0" bIns="0" rtlCol="0" anchor="t"/>
          <a:lstStyle/>
          <a:p>
            <a:pPr marL="0" indent="0" algn="l">
              <a:buNone/>
            </a:pPr>
            <a:r>
              <a:rPr lang="en-US" sz="2800" b="1" dirty="0">
                <a:solidFill>
                  <a:schemeClr val="tx2"/>
                </a:solidFill>
              </a:rPr>
              <a:t>Validation Results (MC Dropout)</a:t>
            </a:r>
            <a:endParaRPr lang="en-US" sz="2800" dirty="0"/>
          </a:p>
        </p:txBody>
      </p:sp>
      <p:sp>
        <p:nvSpPr>
          <p:cNvPr id="4" name="UPLOAD HERE - Notebook Cell 19 plot"/>
          <p:cNvSpPr/>
          <p:nvPr/>
        </p:nvSpPr>
        <p:spPr>
          <a:xfrm>
            <a:off x="548640" y="1325880"/>
            <a:ext cx="5394960" cy="4919472"/>
          </a:xfrm>
          <a:prstGeom prst="roundRect">
            <a:avLst>
              <a:gd name="adj" fmla="val 1487"/>
            </a:avLst>
          </a:prstGeom>
          <a:solidFill>
            <a:schemeClr val="bg1"/>
          </a:solidFill>
          <a:ln w="19050">
            <a:solidFill>
              <a:schemeClr val="tx2"/>
            </a:solidFill>
            <a:prstDash val="dash"/>
          </a:ln>
        </p:spPr>
      </p:sp>
      <p:sp>
        <p:nvSpPr>
          <p:cNvPr id="5" name="Camera circle"/>
          <p:cNvSpPr/>
          <p:nvPr/>
        </p:nvSpPr>
        <p:spPr>
          <a:xfrm>
            <a:off x="2926080" y="2633472"/>
            <a:ext cx="640080" cy="640080"/>
          </a:xfrm>
          <a:prstGeom prst="ellipse">
            <a:avLst/>
          </a:prstGeom>
          <a:solidFill>
            <a:schemeClr val="tx2"/>
          </a:solidFill>
          <a:ln w="6350">
            <a:solidFill>
              <a:schemeClr val="tx2"/>
            </a:solidFill>
            <a:prstDash val="solid"/>
          </a:ln>
        </p:spPr>
      </p:sp>
      <p:pic>
        <p:nvPicPr>
          <p:cNvPr id="6" name="Image 0" descr="Camera"/>
          <p:cNvPicPr>
            <a:picLocks noChangeAspect="1"/>
          </p:cNvPicPr>
          <p:nvPr/>
        </p:nvPicPr>
        <p:blipFill>
          <a:blip r:embed="rId3"/>
          <a:stretch>
            <a:fillRect/>
          </a:stretch>
        </p:blipFill>
        <p:spPr>
          <a:xfrm>
            <a:off x="3092501" y="2799893"/>
            <a:ext cx="307238" cy="307238"/>
          </a:xfrm>
          <a:prstGeom prst="rect">
            <a:avLst/>
          </a:prstGeom>
        </p:spPr>
      </p:pic>
      <p:sp>
        <p:nvSpPr>
          <p:cNvPr id="7" name="Text 3"/>
          <p:cNvSpPr txBox="1"/>
          <p:nvPr/>
        </p:nvSpPr>
        <p:spPr>
          <a:xfrm>
            <a:off x="822960" y="3383280"/>
            <a:ext cx="4846320" cy="274320"/>
          </a:xfrm>
          <a:prstGeom prst="rect">
            <a:avLst/>
          </a:prstGeom>
          <a:noFill/>
          <a:ln/>
        </p:spPr>
        <p:txBody>
          <a:bodyPr wrap="square" lIns="0" tIns="0" rIns="0" bIns="0" rtlCol="0" anchor="t"/>
          <a:lstStyle/>
          <a:p>
            <a:pPr marL="0" indent="0" algn="ctr">
              <a:buNone/>
            </a:pPr>
            <a:r>
              <a:rPr lang="en-US" sz="1500" b="1" dirty="0">
                <a:solidFill>
                  <a:schemeClr val="tx2"/>
                </a:solidFill>
              </a:rPr>
              <a:t>UPLOAD SCREENSHOT HERE</a:t>
            </a:r>
            <a:endParaRPr lang="en-US" sz="1500" dirty="0"/>
          </a:p>
        </p:txBody>
      </p:sp>
      <p:sp>
        <p:nvSpPr>
          <p:cNvPr id="8" name="Text 4"/>
          <p:cNvSpPr txBox="1"/>
          <p:nvPr/>
        </p:nvSpPr>
        <p:spPr>
          <a:xfrm>
            <a:off x="822960" y="3657600"/>
            <a:ext cx="4846320" cy="274320"/>
          </a:xfrm>
          <a:prstGeom prst="rect">
            <a:avLst/>
          </a:prstGeom>
          <a:noFill/>
          <a:ln/>
        </p:spPr>
        <p:txBody>
          <a:bodyPr wrap="square" lIns="0" tIns="0" rIns="0" bIns="0" rtlCol="0" anchor="t"/>
          <a:lstStyle/>
          <a:p>
            <a:pPr marL="0" indent="0" algn="ctr">
              <a:buNone/>
            </a:pPr>
            <a:r>
              <a:rPr lang="en-US" sz="1400" b="1" dirty="0">
                <a:solidFill>
                  <a:schemeClr val="accent2"/>
                </a:solidFill>
              </a:rPr>
              <a:t>Notebook Cell 19 plot</a:t>
            </a:r>
            <a:endParaRPr lang="en-US" sz="1400" dirty="0"/>
          </a:p>
        </p:txBody>
      </p:sp>
      <p:sp>
        <p:nvSpPr>
          <p:cNvPr id="9" name="Text 5"/>
          <p:cNvSpPr txBox="1"/>
          <p:nvPr/>
        </p:nvSpPr>
        <p:spPr>
          <a:xfrm>
            <a:off x="914400" y="4023360"/>
            <a:ext cx="4663440" cy="914400"/>
          </a:xfrm>
          <a:prstGeom prst="rect">
            <a:avLst/>
          </a:prstGeom>
          <a:noFill/>
          <a:ln/>
        </p:spPr>
        <p:txBody>
          <a:bodyPr wrap="square" lIns="0" tIns="0" rIns="0" bIns="0" rtlCol="0" anchor="t"/>
          <a:lstStyle/>
          <a:p>
            <a:pPr marL="0" indent="0" algn="ctr">
              <a:buNone/>
            </a:pPr>
            <a:r>
              <a:rPr lang="en-US" sz="1200" dirty="0">
                <a:solidFill>
                  <a:schemeClr val="accent2"/>
                </a:solidFill>
              </a:rPr>
              <a:t>Capture the 4-panel figure 'Validation Predictions and MC Dropout Uncertainty' (Actual, MC Dropout mean and ±2 std band). Crop to the figure only.</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172200" y="1325880"/>
          <a:ext cx="5470855" cy="2286000"/>
        </p:xfrm>
        <a:graphic>
          <a:graphicData uri="http://schemas.openxmlformats.org/drawingml/2006/table">
            <a:tbl>
              <a:tblPr/>
              <a:tblGrid>
                <a:gridCol w="8229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90295">
                  <a:extLst>
                    <a:ext uri="{9D8B030D-6E8A-4147-A177-3AD203B41FA5}">
                      <a16:colId xmlns:a16="http://schemas.microsoft.com/office/drawing/2014/main" val="20005"/>
                    </a:ext>
                  </a:extLst>
                </a:gridCol>
              </a:tblGrid>
              <a:tr h="457200">
                <a:tc>
                  <a:txBody>
                    <a:bodyPr/>
                    <a:lstStyle/>
                    <a:p>
                      <a:pPr marL="0" indent="0" algn="l">
                        <a:buNone/>
                      </a:pPr>
                      <a:r>
                        <a:rPr lang="en-US" sz="1300" b="1" dirty="0">
                          <a:solidFill>
                            <a:schemeClr val="bg1"/>
                          </a:solidFill>
                        </a:rPr>
                        <a:t>Link</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RF MAE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NN MAE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MC MAE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Mean σ</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Fidelity</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lgn="ctr">
                        <a:buNone/>
                      </a:pPr>
                      <a:r>
                        <a:rPr lang="en-US" sz="1250" b="1" dirty="0">
                          <a:solidFill>
                            <a:schemeClr val="tx2"/>
                          </a:solidFill>
                        </a:rPr>
                        <a:t>dl_lw1</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250" dirty="0">
                          <a:solidFill>
                            <a:schemeClr val="tx1"/>
                          </a:solidFill>
                        </a:rPr>
                        <a:t>73.815</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250" dirty="0">
                          <a:solidFill>
                            <a:schemeClr val="tx1"/>
                          </a:solidFill>
                        </a:rPr>
                        <a:t>12.092</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250" dirty="0">
                          <a:solidFill>
                            <a:schemeClr val="tx1"/>
                          </a:solidFill>
                        </a:rPr>
                        <a:t>16.251</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250" dirty="0">
                          <a:solidFill>
                            <a:schemeClr val="tx1"/>
                          </a:solidFill>
                        </a:rPr>
                        <a:t>33.296</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250" dirty="0">
                          <a:solidFill>
                            <a:schemeClr val="tx1"/>
                          </a:solidFill>
                        </a:rPr>
                        <a:t>97.3%</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7200">
                <a:tc>
                  <a:txBody>
                    <a:bodyPr/>
                    <a:lstStyle/>
                    <a:p>
                      <a:pPr marL="0" indent="0" algn="ctr">
                        <a:buNone/>
                      </a:pPr>
                      <a:r>
                        <a:rPr lang="en-US" sz="1250" b="1" dirty="0">
                          <a:solidFill>
                            <a:schemeClr val="tx2"/>
                          </a:solidFill>
                        </a:rPr>
                        <a:t>dl_lw2</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250" dirty="0">
                          <a:solidFill>
                            <a:schemeClr val="tx1"/>
                          </a:solidFill>
                        </a:rPr>
                        <a:t>114.705</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250" dirty="0">
                          <a:solidFill>
                            <a:schemeClr val="tx1"/>
                          </a:solidFill>
                        </a:rPr>
                        <a:t>38.806</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250" dirty="0">
                          <a:solidFill>
                            <a:schemeClr val="tx1"/>
                          </a:solidFill>
                        </a:rPr>
                        <a:t>42.480</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250" dirty="0">
                          <a:solidFill>
                            <a:schemeClr val="tx1"/>
                          </a:solidFill>
                        </a:rPr>
                        <a:t>64.520</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250" dirty="0">
                          <a:solidFill>
                            <a:schemeClr val="tx1"/>
                          </a:solidFill>
                        </a:rPr>
                        <a:t>92.9%</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57200">
                <a:tc>
                  <a:txBody>
                    <a:bodyPr/>
                    <a:lstStyle/>
                    <a:p>
                      <a:pPr marL="0" indent="0" algn="ctr">
                        <a:buNone/>
                      </a:pPr>
                      <a:r>
                        <a:rPr lang="en-US" sz="1250" b="1" dirty="0">
                          <a:solidFill>
                            <a:schemeClr val="tx2"/>
                          </a:solidFill>
                        </a:rPr>
                        <a:t>dl_lw3</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250" dirty="0">
                          <a:solidFill>
                            <a:schemeClr val="tx1"/>
                          </a:solidFill>
                        </a:rPr>
                        <a:t>428.039</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250" b="1" dirty="0">
                          <a:solidFill>
                            <a:schemeClr val="accent5"/>
                          </a:solidFill>
                        </a:rPr>
                        <a:t>372.602</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250" b="1" dirty="0">
                          <a:solidFill>
                            <a:schemeClr val="accent5"/>
                          </a:solidFill>
                        </a:rPr>
                        <a:t>374.042</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250" b="1" dirty="0">
                          <a:solidFill>
                            <a:schemeClr val="accent5"/>
                          </a:solidFill>
                        </a:rPr>
                        <a:t>29.677</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250" b="1" dirty="0">
                          <a:solidFill>
                            <a:schemeClr val="accent5"/>
                          </a:solidFill>
                        </a:rPr>
                        <a:t>26.1%</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57200">
                <a:tc>
                  <a:txBody>
                    <a:bodyPr/>
                    <a:lstStyle/>
                    <a:p>
                      <a:pPr marL="0" indent="0" algn="ctr">
                        <a:buNone/>
                      </a:pPr>
                      <a:r>
                        <a:rPr lang="en-US" sz="1250" b="1" dirty="0">
                          <a:solidFill>
                            <a:schemeClr val="tx2"/>
                          </a:solidFill>
                        </a:rPr>
                        <a:t>dl_lw4</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250" dirty="0">
                          <a:solidFill>
                            <a:schemeClr val="tx1"/>
                          </a:solidFill>
                        </a:rPr>
                        <a:t>5.780</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250" dirty="0">
                          <a:solidFill>
                            <a:schemeClr val="tx1"/>
                          </a:solidFill>
                        </a:rPr>
                        <a:t>3.801</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250" dirty="0">
                          <a:solidFill>
                            <a:schemeClr val="tx1"/>
                          </a:solidFill>
                        </a:rPr>
                        <a:t>3.659</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250" dirty="0">
                          <a:solidFill>
                            <a:schemeClr val="tx1"/>
                          </a:solidFill>
                        </a:rPr>
                        <a:t>3.224</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250" dirty="0">
                          <a:solidFill>
                            <a:schemeClr val="tx1"/>
                          </a:solidFill>
                        </a:rPr>
                        <a:t>82.4%</a:t>
                      </a:r>
                      <a:endParaRPr lang="en-US" sz="125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11" name="Validation notes"/>
          <p:cNvSpPr/>
          <p:nvPr/>
        </p:nvSpPr>
        <p:spPr>
          <a:xfrm>
            <a:off x="6172200" y="3840480"/>
            <a:ext cx="5470855" cy="2404872"/>
          </a:xfrm>
          <a:prstGeom prst="roundRect">
            <a:avLst>
              <a:gd name="adj" fmla="val 3042"/>
            </a:avLst>
          </a:prstGeom>
          <a:solidFill>
            <a:schemeClr val="bg2"/>
          </a:solidFill>
          <a:ln w="9525">
            <a:solidFill>
              <a:schemeClr val="accent3"/>
            </a:solidFill>
            <a:prstDash val="solid"/>
          </a:ln>
        </p:spPr>
      </p:sp>
      <p:sp>
        <p:nvSpPr>
          <p:cNvPr id="12" name="Text 7"/>
          <p:cNvSpPr txBox="1"/>
          <p:nvPr/>
        </p:nvSpPr>
        <p:spPr>
          <a:xfrm>
            <a:off x="6400800" y="4023360"/>
            <a:ext cx="5029200" cy="210312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chemeClr val="tx1"/>
                </a:solidFill>
              </a:rPr>
              <a:t>The neural network beats Random Forest on all four links.</a:t>
            </a:r>
            <a:endParaRPr lang="en-US" sz="1400" dirty="0"/>
          </a:p>
          <a:p>
            <a:pPr marL="177800" indent="-177800">
              <a:spcAft>
                <a:spcPts val="1000"/>
              </a:spcAft>
              <a:buSzPct val="100000"/>
              <a:buChar char="•"/>
            </a:pPr>
            <a:r>
              <a:rPr lang="en-US" sz="1500" dirty="0">
                <a:solidFill>
                  <a:schemeClr val="tx1"/>
                </a:solidFill>
              </a:rPr>
              <a:t>The MC mean is slightly less accurate than one deterministic pass, but adds a σ to every prediction.</a:t>
            </a:r>
            <a:endParaRPr lang="en-US" sz="1400" dirty="0"/>
          </a:p>
          <a:p>
            <a:pPr marL="177800" indent="-177800">
              <a:spcAft>
                <a:spcPts val="1000"/>
              </a:spcAft>
              <a:buSzPct val="100000"/>
              <a:buChar char="•"/>
            </a:pPr>
            <a:r>
              <a:rPr lang="en-US" sz="1500" dirty="0">
                <a:solidFill>
                  <a:schemeClr val="tx1"/>
                </a:solidFill>
              </a:rPr>
              <a:t>dl_lw3 fails: MAE 374 and fidelity only 26.1%.</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14</a:t>
            </a:fld>
            <a:endParaRPr lang="en-US"/>
          </a:p>
        </p:txBody>
      </p:sp>
      <p:pic>
        <p:nvPicPr>
          <p:cNvPr id="3" name="Picture 2">
            <a:extLst>
              <a:ext uri="{FF2B5EF4-FFF2-40B4-BE49-F238E27FC236}">
                <a16:creationId xmlns:a16="http://schemas.microsoft.com/office/drawing/2014/main" id="{DD4DC593-B175-D8D6-A978-FD4D3906EEE4}"/>
              </a:ext>
            </a:extLst>
          </p:cNvPr>
          <p:cNvPicPr>
            <a:picLocks noChangeAspect="1"/>
          </p:cNvPicPr>
          <p:nvPr/>
        </p:nvPicPr>
        <p:blipFill>
          <a:blip r:embed="rId4"/>
          <a:stretch>
            <a:fillRect/>
          </a:stretch>
        </p:blipFill>
        <p:spPr>
          <a:xfrm>
            <a:off x="335584" y="1027271"/>
            <a:ext cx="5684217" cy="532135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530352"/>
            <a:ext cx="11094415" cy="640080"/>
          </a:xfrm>
          <a:prstGeom prst="rect">
            <a:avLst/>
          </a:prstGeom>
          <a:noFill/>
          <a:ln/>
        </p:spPr>
        <p:txBody>
          <a:bodyPr wrap="square" lIns="0" tIns="0" rIns="0" bIns="0" rtlCol="0" anchor="t"/>
          <a:lstStyle/>
          <a:p>
            <a:pPr marL="0" indent="0" algn="l">
              <a:buNone/>
            </a:pPr>
            <a:r>
              <a:rPr lang="en-US" sz="2800" b="1" dirty="0">
                <a:solidFill>
                  <a:schemeClr val="tx2"/>
                </a:solidFill>
              </a:rPr>
              <a:t>Fidelity Score &amp; Uncertainty vs Actual Error</a:t>
            </a:r>
            <a:endParaRPr lang="en-US" sz="2800" dirty="0"/>
          </a:p>
        </p:txBody>
      </p:sp>
      <p:graphicFrame>
        <p:nvGraphicFramePr>
          <p:cNvPr id="4" name="Chart 0"/>
          <p:cNvGraphicFramePr/>
          <p:nvPr/>
        </p:nvGraphicFramePr>
        <p:xfrm>
          <a:off x="548640" y="1325880"/>
          <a:ext cx="5760720" cy="40233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537960" y="1325880"/>
          <a:ext cx="5105095" cy="2286000"/>
        </p:xfrm>
        <a:graphic>
          <a:graphicData uri="http://schemas.openxmlformats.org/drawingml/2006/table">
            <a:tbl>
              <a:tblPr/>
              <a:tblGrid>
                <a:gridCol w="10972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56055">
                  <a:extLst>
                    <a:ext uri="{9D8B030D-6E8A-4147-A177-3AD203B41FA5}">
                      <a16:colId xmlns:a16="http://schemas.microsoft.com/office/drawing/2014/main" val="20003"/>
                    </a:ext>
                  </a:extLst>
                </a:gridCol>
              </a:tblGrid>
              <a:tr h="457200">
                <a:tc>
                  <a:txBody>
                    <a:bodyPr/>
                    <a:lstStyle/>
                    <a:p>
                      <a:pPr marL="0" indent="0" algn="l">
                        <a:buNone/>
                      </a:pPr>
                      <a:r>
                        <a:rPr lang="en-US" sz="1300" b="1" dirty="0">
                          <a:solidFill>
                            <a:schemeClr val="bg1"/>
                          </a:solidFill>
                        </a:rPr>
                        <a:t>Link</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Mean σ</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MC MAE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σ ÷ MAE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lgn="ctr">
                        <a:buNone/>
                      </a:pPr>
                      <a:r>
                        <a:rPr lang="en-US" sz="1300" b="1" dirty="0">
                          <a:solidFill>
                            <a:schemeClr val="tx2"/>
                          </a:solidFill>
                        </a:rPr>
                        <a:t>dl_lw1</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33.3</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16.3</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2.0×</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7200">
                <a:tc>
                  <a:txBody>
                    <a:bodyPr/>
                    <a:lstStyle/>
                    <a:p>
                      <a:pPr marL="0" indent="0" algn="ctr">
                        <a:buNone/>
                      </a:pPr>
                      <a:r>
                        <a:rPr lang="en-US" sz="1300" b="1" dirty="0">
                          <a:solidFill>
                            <a:schemeClr val="tx2"/>
                          </a:solidFill>
                        </a:rPr>
                        <a:t>dl_lw2</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64.5</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42.5</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1.5×</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57200">
                <a:tc>
                  <a:txBody>
                    <a:bodyPr/>
                    <a:lstStyle/>
                    <a:p>
                      <a:pPr marL="0" indent="0" algn="ctr">
                        <a:buNone/>
                      </a:pPr>
                      <a:r>
                        <a:rPr lang="en-US" sz="1300" b="1" dirty="0">
                          <a:solidFill>
                            <a:schemeClr val="accent5"/>
                          </a:solidFill>
                        </a:rPr>
                        <a:t>dl_lw3</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accent5"/>
                          </a:solidFill>
                        </a:rPr>
                        <a:t>29.7</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accent5"/>
                          </a:solidFill>
                        </a:rPr>
                        <a:t>374.0</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accent5"/>
                          </a:solidFill>
                        </a:rPr>
                        <a:t>0.08×</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57200">
                <a:tc>
                  <a:txBody>
                    <a:bodyPr/>
                    <a:lstStyle/>
                    <a:p>
                      <a:pPr marL="0" indent="0" algn="ctr">
                        <a:buNone/>
                      </a:pPr>
                      <a:r>
                        <a:rPr lang="en-US" sz="1300" b="1" dirty="0">
                          <a:solidFill>
                            <a:schemeClr val="tx2"/>
                          </a:solidFill>
                        </a:rPr>
                        <a:t>dl_lw4</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3.22</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3.66</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0.88×</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6" name="Reading card"/>
          <p:cNvSpPr/>
          <p:nvPr/>
        </p:nvSpPr>
        <p:spPr>
          <a:xfrm>
            <a:off x="6537960" y="3840480"/>
            <a:ext cx="5105095" cy="1508760"/>
          </a:xfrm>
          <a:prstGeom prst="roundRect">
            <a:avLst>
              <a:gd name="adj" fmla="val 4848"/>
            </a:avLst>
          </a:prstGeom>
          <a:solidFill>
            <a:schemeClr val="bg2"/>
          </a:solidFill>
          <a:ln w="9525">
            <a:solidFill>
              <a:schemeClr val="accent3"/>
            </a:solidFill>
            <a:prstDash val="solid"/>
          </a:ln>
        </p:spPr>
      </p:sp>
      <p:sp>
        <p:nvSpPr>
          <p:cNvPr id="7" name="Text 2"/>
          <p:cNvSpPr txBox="1"/>
          <p:nvPr/>
        </p:nvSpPr>
        <p:spPr>
          <a:xfrm>
            <a:off x="6766560" y="3977640"/>
            <a:ext cx="4663440" cy="274320"/>
          </a:xfrm>
          <a:prstGeom prst="rect">
            <a:avLst/>
          </a:prstGeom>
          <a:noFill/>
          <a:ln/>
        </p:spPr>
        <p:txBody>
          <a:bodyPr wrap="square" lIns="0" tIns="0" rIns="0" bIns="0" rtlCol="0" anchor="t"/>
          <a:lstStyle/>
          <a:p>
            <a:pPr marL="0" indent="0">
              <a:buNone/>
            </a:pPr>
            <a:r>
              <a:rPr lang="en-US" sz="1350" b="1" dirty="0">
                <a:solidFill>
                  <a:schemeClr val="tx2"/>
                </a:solidFill>
              </a:rPr>
              <a:t>READING σ ÷ MAE</a:t>
            </a:r>
            <a:endParaRPr lang="en-US" sz="1350" dirty="0"/>
          </a:p>
        </p:txBody>
      </p:sp>
      <p:sp>
        <p:nvSpPr>
          <p:cNvPr id="8" name="Text 3"/>
          <p:cNvSpPr txBox="1"/>
          <p:nvPr/>
        </p:nvSpPr>
        <p:spPr>
          <a:xfrm>
            <a:off x="6766560" y="4297680"/>
            <a:ext cx="4663440" cy="1005840"/>
          </a:xfrm>
          <a:prstGeom prst="rect">
            <a:avLst/>
          </a:prstGeom>
          <a:noFill/>
          <a:ln/>
        </p:spPr>
        <p:txBody>
          <a:bodyPr wrap="square" lIns="0" tIns="0" rIns="0" bIns="0" rtlCol="0" anchor="t"/>
          <a:lstStyle/>
          <a:p>
            <a:pPr marL="177800" indent="-177800">
              <a:spcAft>
                <a:spcPts val="400"/>
              </a:spcAft>
              <a:buSzPct val="100000"/>
              <a:buChar char="•"/>
            </a:pPr>
            <a:r>
              <a:rPr lang="en-US" sz="1450" b="1" dirty="0">
                <a:solidFill>
                  <a:schemeClr val="tx2"/>
                </a:solidFill>
              </a:rPr>
              <a:t>Above 1: </a:t>
            </a:r>
            <a:r>
              <a:rPr lang="en-US" sz="1450" dirty="0">
                <a:solidFill>
                  <a:schemeClr val="tx1"/>
                </a:solidFill>
              </a:rPr>
              <a:t>cautious (lw1, lw2).</a:t>
            </a:r>
            <a:endParaRPr lang="en-US" sz="1400" dirty="0"/>
          </a:p>
          <a:p>
            <a:pPr marL="177800" indent="-177800">
              <a:spcAft>
                <a:spcPts val="400"/>
              </a:spcAft>
              <a:buSzPct val="100000"/>
              <a:buChar char="•"/>
            </a:pPr>
            <a:r>
              <a:rPr lang="en-US" sz="1450" b="1" dirty="0">
                <a:solidFill>
                  <a:schemeClr val="tx2"/>
                </a:solidFill>
              </a:rPr>
              <a:t>Near 1: </a:t>
            </a:r>
            <a:r>
              <a:rPr lang="en-US" sz="1450" dirty="0">
                <a:solidFill>
                  <a:schemeClr val="tx1"/>
                </a:solidFill>
              </a:rPr>
              <a:t>well matched (lw4).</a:t>
            </a:r>
            <a:endParaRPr lang="en-US" sz="1400" dirty="0"/>
          </a:p>
          <a:p>
            <a:pPr marL="177800" indent="-177800">
              <a:spcAft>
                <a:spcPts val="400"/>
              </a:spcAft>
              <a:buSzPct val="100000"/>
              <a:buChar char="•"/>
            </a:pPr>
            <a:r>
              <a:rPr lang="en-US" sz="1450" b="1" dirty="0">
                <a:solidFill>
                  <a:schemeClr val="tx2"/>
                </a:solidFill>
              </a:rPr>
              <a:t>Far below 1: </a:t>
            </a:r>
            <a:r>
              <a:rPr lang="en-US" sz="1450" dirty="0">
                <a:solidFill>
                  <a:schemeClr val="tx1"/>
                </a:solidFill>
              </a:rPr>
              <a:t>overconfident (lw3).</a:t>
            </a:r>
            <a:endParaRPr lang="en-US" sz="1400" dirty="0"/>
          </a:p>
        </p:txBody>
      </p:sp>
      <p:sp>
        <p:nvSpPr>
          <p:cNvPr id="9" name="Confidently wrong card"/>
          <p:cNvSpPr/>
          <p:nvPr/>
        </p:nvSpPr>
        <p:spPr>
          <a:xfrm>
            <a:off x="548640" y="5532120"/>
            <a:ext cx="11094415" cy="713232"/>
          </a:xfrm>
          <a:prstGeom prst="roundRect">
            <a:avLst>
              <a:gd name="adj" fmla="val 10256"/>
            </a:avLst>
          </a:prstGeom>
          <a:solidFill>
            <a:schemeClr val="bg2"/>
          </a:solidFill>
          <a:ln w="9525">
            <a:solidFill>
              <a:schemeClr val="accent3"/>
            </a:solidFill>
            <a:prstDash val="solid"/>
          </a:ln>
        </p:spPr>
      </p:sp>
      <p:sp>
        <p:nvSpPr>
          <p:cNvPr id="10" name="Text 5"/>
          <p:cNvSpPr txBox="1"/>
          <p:nvPr/>
        </p:nvSpPr>
        <p:spPr>
          <a:xfrm>
            <a:off x="822960" y="5532120"/>
            <a:ext cx="10545775" cy="713232"/>
          </a:xfrm>
          <a:prstGeom prst="rect">
            <a:avLst/>
          </a:prstGeom>
          <a:noFill/>
          <a:ln/>
        </p:spPr>
        <p:txBody>
          <a:bodyPr wrap="square" lIns="0" tIns="0" rIns="0" bIns="0" rtlCol="0" anchor="ctr"/>
          <a:lstStyle/>
          <a:p>
            <a:pPr marL="0" indent="0">
              <a:buNone/>
            </a:pPr>
            <a:r>
              <a:rPr lang="en-US" sz="1400" b="1" dirty="0">
                <a:solidFill>
                  <a:schemeClr val="accent5"/>
                </a:solidFill>
              </a:rPr>
              <a:t>CONFIDENTLY WRONG:  </a:t>
            </a:r>
            <a:r>
              <a:rPr lang="en-US" sz="1400" dirty="0">
                <a:solidFill>
                  <a:schemeClr val="tx1"/>
                </a:solidFill>
              </a:rPr>
              <a:t>on dl_lw3 the uncertainty (σ ≈ 29.7) is over 12× smaller than the real error (MAE ≈ 374), so MC Dropout alone cannot warn about a distribution shift.</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530352"/>
            <a:ext cx="11094415" cy="640080"/>
          </a:xfrm>
          <a:prstGeom prst="rect">
            <a:avLst/>
          </a:prstGeom>
          <a:noFill/>
          <a:ln/>
        </p:spPr>
        <p:txBody>
          <a:bodyPr wrap="square" lIns="0" tIns="0" rIns="0" bIns="0" rtlCol="0" anchor="t"/>
          <a:lstStyle/>
          <a:p>
            <a:pPr marL="0" indent="0" algn="l">
              <a:buNone/>
            </a:pPr>
            <a:r>
              <a:rPr lang="en-US" sz="2800" b="1" dirty="0">
                <a:solidFill>
                  <a:schemeClr val="tx2"/>
                </a:solidFill>
              </a:rPr>
              <a:t>Why dl_lw3 Fails: Temporal Distribution Shift</a:t>
            </a:r>
            <a:endParaRPr lang="en-US" sz="2800" dirty="0"/>
          </a:p>
        </p:txBody>
      </p:sp>
      <p:sp>
        <p:nvSpPr>
          <p:cNvPr id="4" name="Stat 83.3%"/>
          <p:cNvSpPr/>
          <p:nvPr/>
        </p:nvSpPr>
        <p:spPr>
          <a:xfrm>
            <a:off x="548640" y="1325880"/>
            <a:ext cx="2636444" cy="960120"/>
          </a:xfrm>
          <a:prstGeom prst="roundRect">
            <a:avLst>
              <a:gd name="adj" fmla="val 7619"/>
            </a:avLst>
          </a:prstGeom>
          <a:solidFill>
            <a:schemeClr val="bg2"/>
          </a:solidFill>
          <a:ln w="9525">
            <a:solidFill>
              <a:schemeClr val="accent3"/>
            </a:solidFill>
            <a:prstDash val="solid"/>
          </a:ln>
        </p:spPr>
      </p:sp>
      <p:sp>
        <p:nvSpPr>
          <p:cNvPr id="5" name="Text 2"/>
          <p:cNvSpPr txBox="1"/>
          <p:nvPr/>
        </p:nvSpPr>
        <p:spPr>
          <a:xfrm>
            <a:off x="640080" y="1417320"/>
            <a:ext cx="2453564" cy="480060"/>
          </a:xfrm>
          <a:prstGeom prst="rect">
            <a:avLst/>
          </a:prstGeom>
          <a:noFill/>
          <a:ln/>
        </p:spPr>
        <p:txBody>
          <a:bodyPr wrap="square" lIns="0" tIns="0" rIns="0" bIns="0" rtlCol="0" anchor="ctr"/>
          <a:lstStyle/>
          <a:p>
            <a:pPr marL="0" indent="0" algn="ctr">
              <a:buNone/>
            </a:pPr>
            <a:r>
              <a:rPr lang="en-US" sz="2400" b="1" dirty="0">
                <a:solidFill>
                  <a:schemeClr val="tx2"/>
                </a:solidFill>
              </a:rPr>
              <a:t>83.3%</a:t>
            </a:r>
            <a:endParaRPr lang="en-US" sz="2400" dirty="0"/>
          </a:p>
        </p:txBody>
      </p:sp>
      <p:sp>
        <p:nvSpPr>
          <p:cNvPr id="6" name="Text 3"/>
          <p:cNvSpPr txBox="1"/>
          <p:nvPr/>
        </p:nvSpPr>
        <p:spPr>
          <a:xfrm>
            <a:off x="640080" y="1882750"/>
            <a:ext cx="2453564" cy="345643"/>
          </a:xfrm>
          <a:prstGeom prst="rect">
            <a:avLst/>
          </a:prstGeom>
          <a:noFill/>
          <a:ln/>
        </p:spPr>
        <p:txBody>
          <a:bodyPr wrap="square" lIns="0" tIns="0" rIns="0" bIns="0" rtlCol="0" anchor="t"/>
          <a:lstStyle/>
          <a:p>
            <a:pPr marL="0" indent="0" algn="ctr">
              <a:buNone/>
            </a:pPr>
            <a:r>
              <a:rPr lang="en-US" sz="1300" dirty="0">
                <a:solidFill>
                  <a:schemeClr val="accent2"/>
                </a:solidFill>
              </a:rPr>
              <a:t>zeros in dl_lw3 training</a:t>
            </a:r>
            <a:endParaRPr lang="en-US" sz="1300" dirty="0"/>
          </a:p>
        </p:txBody>
      </p:sp>
      <p:sp>
        <p:nvSpPr>
          <p:cNvPr id="7" name="Stat 0%"/>
          <p:cNvSpPr/>
          <p:nvPr/>
        </p:nvSpPr>
        <p:spPr>
          <a:xfrm>
            <a:off x="3367964" y="1325880"/>
            <a:ext cx="2636444" cy="960120"/>
          </a:xfrm>
          <a:prstGeom prst="roundRect">
            <a:avLst>
              <a:gd name="adj" fmla="val 7619"/>
            </a:avLst>
          </a:prstGeom>
          <a:solidFill>
            <a:schemeClr val="bg2"/>
          </a:solidFill>
          <a:ln w="9525">
            <a:solidFill>
              <a:schemeClr val="accent3"/>
            </a:solidFill>
            <a:prstDash val="solid"/>
          </a:ln>
        </p:spPr>
      </p:sp>
      <p:sp>
        <p:nvSpPr>
          <p:cNvPr id="8" name="Text 5"/>
          <p:cNvSpPr txBox="1"/>
          <p:nvPr/>
        </p:nvSpPr>
        <p:spPr>
          <a:xfrm>
            <a:off x="3459404" y="1417320"/>
            <a:ext cx="2453564" cy="480060"/>
          </a:xfrm>
          <a:prstGeom prst="rect">
            <a:avLst/>
          </a:prstGeom>
          <a:noFill/>
          <a:ln/>
        </p:spPr>
        <p:txBody>
          <a:bodyPr wrap="square" lIns="0" tIns="0" rIns="0" bIns="0" rtlCol="0" anchor="ctr"/>
          <a:lstStyle/>
          <a:p>
            <a:pPr marL="0" indent="0" algn="ctr">
              <a:buNone/>
            </a:pPr>
            <a:r>
              <a:rPr lang="en-US" sz="2400" b="1" dirty="0">
                <a:solidFill>
                  <a:schemeClr val="tx2"/>
                </a:solidFill>
              </a:rPr>
              <a:t>0%</a:t>
            </a:r>
            <a:endParaRPr lang="en-US" sz="2400" dirty="0"/>
          </a:p>
        </p:txBody>
      </p:sp>
      <p:sp>
        <p:nvSpPr>
          <p:cNvPr id="9" name="Text 6"/>
          <p:cNvSpPr txBox="1"/>
          <p:nvPr/>
        </p:nvSpPr>
        <p:spPr>
          <a:xfrm>
            <a:off x="3459404" y="1882750"/>
            <a:ext cx="2453564" cy="345643"/>
          </a:xfrm>
          <a:prstGeom prst="rect">
            <a:avLst/>
          </a:prstGeom>
          <a:noFill/>
          <a:ln/>
        </p:spPr>
        <p:txBody>
          <a:bodyPr wrap="square" lIns="0" tIns="0" rIns="0" bIns="0" rtlCol="0" anchor="t"/>
          <a:lstStyle/>
          <a:p>
            <a:pPr marL="0" indent="0" algn="ctr">
              <a:buNone/>
            </a:pPr>
            <a:r>
              <a:rPr lang="en-US" sz="1300" dirty="0">
                <a:solidFill>
                  <a:schemeClr val="accent2"/>
                </a:solidFill>
              </a:rPr>
              <a:t>zeros in dl_lw3 validation</a:t>
            </a:r>
            <a:endParaRPr lang="en-US" sz="1300" dirty="0"/>
          </a:p>
        </p:txBody>
      </p:sp>
      <p:sp>
        <p:nvSpPr>
          <p:cNvPr id="10" name="Stat 13.5 → 506"/>
          <p:cNvSpPr/>
          <p:nvPr/>
        </p:nvSpPr>
        <p:spPr>
          <a:xfrm>
            <a:off x="6187288" y="1325880"/>
            <a:ext cx="2636444" cy="960120"/>
          </a:xfrm>
          <a:prstGeom prst="roundRect">
            <a:avLst>
              <a:gd name="adj" fmla="val 7619"/>
            </a:avLst>
          </a:prstGeom>
          <a:solidFill>
            <a:schemeClr val="bg2"/>
          </a:solidFill>
          <a:ln w="9525">
            <a:solidFill>
              <a:schemeClr val="accent3"/>
            </a:solidFill>
            <a:prstDash val="solid"/>
          </a:ln>
        </p:spPr>
      </p:sp>
      <p:sp>
        <p:nvSpPr>
          <p:cNvPr id="11" name="Text 8"/>
          <p:cNvSpPr txBox="1"/>
          <p:nvPr/>
        </p:nvSpPr>
        <p:spPr>
          <a:xfrm>
            <a:off x="6278728" y="1417320"/>
            <a:ext cx="2453564" cy="480060"/>
          </a:xfrm>
          <a:prstGeom prst="rect">
            <a:avLst/>
          </a:prstGeom>
          <a:noFill/>
          <a:ln/>
        </p:spPr>
        <p:txBody>
          <a:bodyPr wrap="square" lIns="0" tIns="0" rIns="0" bIns="0" rtlCol="0" anchor="ctr"/>
          <a:lstStyle/>
          <a:p>
            <a:pPr marL="0" indent="0" algn="ctr">
              <a:buNone/>
            </a:pPr>
            <a:r>
              <a:rPr lang="en-US" sz="2400" b="1" dirty="0">
                <a:solidFill>
                  <a:schemeClr val="tx2"/>
                </a:solidFill>
              </a:rPr>
              <a:t>13.5 → 506</a:t>
            </a:r>
            <a:endParaRPr lang="en-US" sz="2400" dirty="0"/>
          </a:p>
        </p:txBody>
      </p:sp>
      <p:sp>
        <p:nvSpPr>
          <p:cNvPr id="12" name="Text 9"/>
          <p:cNvSpPr txBox="1"/>
          <p:nvPr/>
        </p:nvSpPr>
        <p:spPr>
          <a:xfrm>
            <a:off x="6278728" y="1882750"/>
            <a:ext cx="2453564" cy="345643"/>
          </a:xfrm>
          <a:prstGeom prst="rect">
            <a:avLst/>
          </a:prstGeom>
          <a:noFill/>
          <a:ln/>
        </p:spPr>
        <p:txBody>
          <a:bodyPr wrap="square" lIns="0" tIns="0" rIns="0" bIns="0" rtlCol="0" anchor="t"/>
          <a:lstStyle/>
          <a:p>
            <a:pPr marL="0" indent="0" algn="ctr">
              <a:buNone/>
            </a:pPr>
            <a:r>
              <a:rPr lang="en-US" sz="1300" dirty="0">
                <a:solidFill>
                  <a:schemeClr val="accent2"/>
                </a:solidFill>
              </a:rPr>
              <a:t>dl_lw3 mean, train → val</a:t>
            </a:r>
            <a:endParaRPr lang="en-US" sz="1300" dirty="0"/>
          </a:p>
        </p:txBody>
      </p:sp>
      <p:sp>
        <p:nvSpPr>
          <p:cNvPr id="13" name="Stat 13.7 → 0.05"/>
          <p:cNvSpPr/>
          <p:nvPr/>
        </p:nvSpPr>
        <p:spPr>
          <a:xfrm>
            <a:off x="9006611" y="1325880"/>
            <a:ext cx="2636444" cy="960120"/>
          </a:xfrm>
          <a:prstGeom prst="roundRect">
            <a:avLst>
              <a:gd name="adj" fmla="val 7619"/>
            </a:avLst>
          </a:prstGeom>
          <a:solidFill>
            <a:schemeClr val="bg2"/>
          </a:solidFill>
          <a:ln w="9525">
            <a:solidFill>
              <a:schemeClr val="accent3"/>
            </a:solidFill>
            <a:prstDash val="solid"/>
          </a:ln>
        </p:spPr>
      </p:sp>
      <p:sp>
        <p:nvSpPr>
          <p:cNvPr id="14" name="Text 11"/>
          <p:cNvSpPr txBox="1"/>
          <p:nvPr/>
        </p:nvSpPr>
        <p:spPr>
          <a:xfrm>
            <a:off x="9098051" y="1417320"/>
            <a:ext cx="2453564" cy="480060"/>
          </a:xfrm>
          <a:prstGeom prst="rect">
            <a:avLst/>
          </a:prstGeom>
          <a:noFill/>
          <a:ln/>
        </p:spPr>
        <p:txBody>
          <a:bodyPr wrap="square" lIns="0" tIns="0" rIns="0" bIns="0" rtlCol="0" anchor="ctr"/>
          <a:lstStyle/>
          <a:p>
            <a:pPr marL="0" indent="0" algn="ctr">
              <a:buNone/>
            </a:pPr>
            <a:r>
              <a:rPr lang="en-US" sz="2400" b="1" dirty="0">
                <a:solidFill>
                  <a:schemeClr val="tx2"/>
                </a:solidFill>
              </a:rPr>
              <a:t>13.7 → 0.05</a:t>
            </a:r>
            <a:endParaRPr lang="en-US" sz="2400" dirty="0"/>
          </a:p>
        </p:txBody>
      </p:sp>
      <p:sp>
        <p:nvSpPr>
          <p:cNvPr id="15" name="Text 12"/>
          <p:cNvSpPr txBox="1"/>
          <p:nvPr/>
        </p:nvSpPr>
        <p:spPr>
          <a:xfrm>
            <a:off x="9098051" y="1882750"/>
            <a:ext cx="2453564" cy="345643"/>
          </a:xfrm>
          <a:prstGeom prst="rect">
            <a:avLst/>
          </a:prstGeom>
          <a:noFill/>
          <a:ln/>
        </p:spPr>
        <p:txBody>
          <a:bodyPr wrap="square" lIns="0" tIns="0" rIns="0" bIns="0" rtlCol="0" anchor="t"/>
          <a:lstStyle/>
          <a:p>
            <a:pPr marL="0" indent="0" algn="ctr">
              <a:buNone/>
            </a:pPr>
            <a:r>
              <a:rPr lang="en-US" sz="1300" dirty="0">
                <a:solidFill>
                  <a:schemeClr val="accent2"/>
                </a:solidFill>
              </a:rPr>
              <a:t>altitude std, train → val</a:t>
            </a:r>
            <a:endParaRPr lang="en-US" sz="1300" dirty="0"/>
          </a:p>
        </p:txBody>
      </p:sp>
      <p:sp>
        <p:nvSpPr>
          <p:cNvPr id="16" name="UPLOAD HERE - Notebook Cell 24 plot"/>
          <p:cNvSpPr/>
          <p:nvPr/>
        </p:nvSpPr>
        <p:spPr>
          <a:xfrm>
            <a:off x="548640" y="2514600"/>
            <a:ext cx="6126480" cy="2560320"/>
          </a:xfrm>
          <a:prstGeom prst="roundRect">
            <a:avLst>
              <a:gd name="adj" fmla="val 2857"/>
            </a:avLst>
          </a:prstGeom>
          <a:solidFill>
            <a:schemeClr val="bg1"/>
          </a:solidFill>
          <a:ln w="19050">
            <a:solidFill>
              <a:schemeClr val="tx2"/>
            </a:solidFill>
            <a:prstDash val="dash"/>
          </a:ln>
        </p:spPr>
      </p:sp>
      <p:sp>
        <p:nvSpPr>
          <p:cNvPr id="17" name="Camera circle"/>
          <p:cNvSpPr/>
          <p:nvPr/>
        </p:nvSpPr>
        <p:spPr>
          <a:xfrm>
            <a:off x="3383280" y="2871216"/>
            <a:ext cx="457200" cy="457200"/>
          </a:xfrm>
          <a:prstGeom prst="ellipse">
            <a:avLst/>
          </a:prstGeom>
          <a:solidFill>
            <a:schemeClr val="tx2"/>
          </a:solidFill>
          <a:ln w="6350">
            <a:solidFill>
              <a:schemeClr val="tx2"/>
            </a:solidFill>
            <a:prstDash val="solid"/>
          </a:ln>
        </p:spPr>
      </p:sp>
      <p:pic>
        <p:nvPicPr>
          <p:cNvPr id="18" name="Image 0" descr="Camera"/>
          <p:cNvPicPr>
            <a:picLocks noChangeAspect="1"/>
          </p:cNvPicPr>
          <p:nvPr/>
        </p:nvPicPr>
        <p:blipFill>
          <a:blip r:embed="rId3"/>
          <a:stretch>
            <a:fillRect/>
          </a:stretch>
        </p:blipFill>
        <p:spPr>
          <a:xfrm>
            <a:off x="3502152" y="2990088"/>
            <a:ext cx="219456" cy="219456"/>
          </a:xfrm>
          <a:prstGeom prst="rect">
            <a:avLst/>
          </a:prstGeom>
        </p:spPr>
      </p:pic>
      <p:sp>
        <p:nvSpPr>
          <p:cNvPr id="19" name="Text 15"/>
          <p:cNvSpPr txBox="1"/>
          <p:nvPr/>
        </p:nvSpPr>
        <p:spPr>
          <a:xfrm>
            <a:off x="822960" y="3438144"/>
            <a:ext cx="5577840" cy="274320"/>
          </a:xfrm>
          <a:prstGeom prst="rect">
            <a:avLst/>
          </a:prstGeom>
          <a:noFill/>
          <a:ln/>
        </p:spPr>
        <p:txBody>
          <a:bodyPr wrap="square" lIns="0" tIns="0" rIns="0" bIns="0" rtlCol="0" anchor="t"/>
          <a:lstStyle/>
          <a:p>
            <a:pPr marL="0" indent="0" algn="ctr">
              <a:buNone/>
            </a:pPr>
            <a:r>
              <a:rPr lang="en-US" sz="1500" b="1" dirty="0">
                <a:solidFill>
                  <a:schemeClr val="tx2"/>
                </a:solidFill>
              </a:rPr>
              <a:t>UPLOAD SCREENSHOT HERE</a:t>
            </a:r>
            <a:endParaRPr lang="en-US" sz="1500" dirty="0"/>
          </a:p>
        </p:txBody>
      </p:sp>
      <p:sp>
        <p:nvSpPr>
          <p:cNvPr id="20" name="Text 16"/>
          <p:cNvSpPr txBox="1"/>
          <p:nvPr/>
        </p:nvSpPr>
        <p:spPr>
          <a:xfrm>
            <a:off x="822960" y="3712464"/>
            <a:ext cx="5577840" cy="274320"/>
          </a:xfrm>
          <a:prstGeom prst="rect">
            <a:avLst/>
          </a:prstGeom>
          <a:noFill/>
          <a:ln/>
        </p:spPr>
        <p:txBody>
          <a:bodyPr wrap="square" lIns="0" tIns="0" rIns="0" bIns="0" rtlCol="0" anchor="t"/>
          <a:lstStyle/>
          <a:p>
            <a:pPr marL="0" indent="0" algn="ctr">
              <a:buNone/>
            </a:pPr>
            <a:r>
              <a:rPr lang="en-US" sz="1400" b="1" dirty="0">
                <a:solidFill>
                  <a:schemeClr val="accent2"/>
                </a:solidFill>
              </a:rPr>
              <a:t>Notebook Cell 24 plot</a:t>
            </a:r>
            <a:endParaRPr lang="en-US" sz="1400" dirty="0"/>
          </a:p>
        </p:txBody>
      </p:sp>
      <p:sp>
        <p:nvSpPr>
          <p:cNvPr id="21" name="Text 17"/>
          <p:cNvSpPr txBox="1"/>
          <p:nvPr/>
        </p:nvSpPr>
        <p:spPr>
          <a:xfrm>
            <a:off x="914400" y="4078224"/>
            <a:ext cx="5394960" cy="640080"/>
          </a:xfrm>
          <a:prstGeom prst="rect">
            <a:avLst/>
          </a:prstGeom>
          <a:noFill/>
          <a:ln/>
        </p:spPr>
        <p:txBody>
          <a:bodyPr wrap="square" lIns="0" tIns="0" rIns="0" bIns="0" rtlCol="0" anchor="t"/>
          <a:lstStyle/>
          <a:p>
            <a:pPr marL="0" indent="0" algn="ctr">
              <a:buNone/>
            </a:pPr>
            <a:r>
              <a:rPr lang="en-US" sz="1200" dirty="0">
                <a:solidFill>
                  <a:schemeClr val="accent2"/>
                </a:solidFill>
              </a:rPr>
              <a:t>Capture 'Temporal Distribution Shift in dl_lw3' (training vs validation with the boundary line). Crop to the figure only.</a:t>
            </a:r>
            <a:endParaRPr lang="en-US" sz="1200" dirty="0"/>
          </a:p>
        </p:txBody>
      </p:sp>
      <p:sp>
        <p:nvSpPr>
          <p:cNvPr id="22" name="Text 18"/>
          <p:cNvSpPr txBox="1"/>
          <p:nvPr/>
        </p:nvSpPr>
        <p:spPr>
          <a:xfrm>
            <a:off x="6903720" y="2514600"/>
            <a:ext cx="4736592" cy="274320"/>
          </a:xfrm>
          <a:prstGeom prst="rect">
            <a:avLst/>
          </a:prstGeom>
          <a:noFill/>
          <a:ln/>
        </p:spPr>
        <p:txBody>
          <a:bodyPr wrap="square" lIns="0" tIns="0" rIns="0" bIns="0" rtlCol="0" anchor="t"/>
          <a:lstStyle/>
          <a:p>
            <a:pPr marL="0" indent="0">
              <a:buNone/>
            </a:pPr>
            <a:r>
              <a:rPr lang="en-US" sz="1350" b="1" dirty="0">
                <a:solidFill>
                  <a:schemeClr val="tx2"/>
                </a:solidFill>
              </a:rPr>
              <a:t>INPUT FEATURES ALSO SHIFTED (MEAN)</a:t>
            </a:r>
            <a:endParaRPr lang="en-US" sz="13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903720" y="2834640"/>
          <a:ext cx="4739335" cy="2194560"/>
        </p:xfrm>
        <a:graphic>
          <a:graphicData uri="http://schemas.openxmlformats.org/drawingml/2006/table">
            <a:tbl>
              <a:tblPr/>
              <a:tblGrid>
                <a:gridCol w="1828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538935">
                  <a:extLst>
                    <a:ext uri="{9D8B030D-6E8A-4147-A177-3AD203B41FA5}">
                      <a16:colId xmlns:a16="http://schemas.microsoft.com/office/drawing/2014/main" val="20002"/>
                    </a:ext>
                  </a:extLst>
                </a:gridCol>
              </a:tblGrid>
              <a:tr h="365760">
                <a:tc>
                  <a:txBody>
                    <a:bodyPr/>
                    <a:lstStyle/>
                    <a:p>
                      <a:pPr marL="0" indent="0" algn="l">
                        <a:buNone/>
                      </a:pPr>
                      <a:r>
                        <a:rPr lang="en-US" sz="1300" b="1" dirty="0">
                          <a:solidFill>
                            <a:schemeClr val="bg1"/>
                          </a:solidFill>
                        </a:rPr>
                        <a:t>Feature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Train</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Validation</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65760">
                <a:tc>
                  <a:txBody>
                    <a:bodyPr/>
                    <a:lstStyle/>
                    <a:p>
                      <a:pPr marL="0" indent="0" algn="l">
                        <a:buNone/>
                      </a:pPr>
                      <a:r>
                        <a:rPr lang="en-US" sz="1300" b="1" dirty="0">
                          <a:solidFill>
                            <a:schemeClr val="tx2"/>
                          </a:solidFill>
                        </a:rPr>
                        <a:t>Altitude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38.33</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24.99</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pPr marL="0" indent="0" algn="l">
                        <a:buNone/>
                      </a:pPr>
                      <a:r>
                        <a:rPr lang="en-US" sz="1300" b="1" dirty="0">
                          <a:solidFill>
                            <a:schemeClr val="tx2"/>
                          </a:solidFill>
                        </a:rPr>
                        <a:t>snr_lw1</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3.55</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−2.05</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65760">
                <a:tc>
                  <a:txBody>
                    <a:bodyPr/>
                    <a:lstStyle/>
                    <a:p>
                      <a:pPr marL="0" indent="0" algn="l">
                        <a:buNone/>
                      </a:pPr>
                      <a:r>
                        <a:rPr lang="en-US" sz="1300" b="1" dirty="0">
                          <a:solidFill>
                            <a:schemeClr val="tx2"/>
                          </a:solidFill>
                        </a:rPr>
                        <a:t>snr_lw3</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−9.80</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9.23</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5760">
                <a:tc>
                  <a:txBody>
                    <a:bodyPr/>
                    <a:lstStyle/>
                    <a:p>
                      <a:pPr marL="0" indent="0" algn="l">
                        <a:buNone/>
                      </a:pPr>
                      <a:r>
                        <a:rPr lang="en-US" sz="1300" b="1" dirty="0">
                          <a:solidFill>
                            <a:schemeClr val="tx2"/>
                          </a:solidFill>
                        </a:rPr>
                        <a:t>snr_lw4</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−24.05</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−42.53</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65760">
                <a:tc>
                  <a:txBody>
                    <a:bodyPr/>
                    <a:lstStyle/>
                    <a:p>
                      <a:pPr marL="0" indent="0" algn="l">
                        <a:buNone/>
                      </a:pPr>
                      <a:r>
                        <a:rPr lang="en-US" sz="1300" b="1" dirty="0">
                          <a:solidFill>
                            <a:schemeClr val="tx2"/>
                          </a:solidFill>
                        </a:rPr>
                        <a:t>VelocityY</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0.82</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−1.96</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24" name="Why fails card"/>
          <p:cNvSpPr/>
          <p:nvPr/>
        </p:nvSpPr>
        <p:spPr>
          <a:xfrm>
            <a:off x="548640" y="5257800"/>
            <a:ext cx="11094415" cy="987552"/>
          </a:xfrm>
          <a:prstGeom prst="roundRect">
            <a:avLst>
              <a:gd name="adj" fmla="val 7407"/>
            </a:avLst>
          </a:prstGeom>
          <a:solidFill>
            <a:schemeClr val="bg2"/>
          </a:solidFill>
          <a:ln w="9525">
            <a:solidFill>
              <a:schemeClr val="accent3"/>
            </a:solidFill>
            <a:prstDash val="solid"/>
          </a:ln>
        </p:spPr>
      </p:sp>
      <p:sp>
        <p:nvSpPr>
          <p:cNvPr id="25" name="Text 20"/>
          <p:cNvSpPr txBox="1"/>
          <p:nvPr/>
        </p:nvSpPr>
        <p:spPr>
          <a:xfrm>
            <a:off x="822960" y="5257800"/>
            <a:ext cx="10545775" cy="987552"/>
          </a:xfrm>
          <a:prstGeom prst="rect">
            <a:avLst/>
          </a:prstGeom>
          <a:noFill/>
          <a:ln/>
        </p:spPr>
        <p:txBody>
          <a:bodyPr wrap="square" lIns="0" tIns="0" rIns="0" bIns="0" rtlCol="0" anchor="ctr"/>
          <a:lstStyle/>
          <a:p>
            <a:pPr marL="0" indent="0">
              <a:buNone/>
            </a:pPr>
            <a:r>
              <a:rPr lang="en-US" sz="1400" b="1" dirty="0">
                <a:solidFill>
                  <a:schemeClr val="tx2"/>
                </a:solidFill>
              </a:rPr>
              <a:t>WHY dl_lw3 FAILS:  </a:t>
            </a:r>
            <a:r>
              <a:rPr lang="en-US" sz="1400" dirty="0">
                <a:solidFill>
                  <a:schemeClr val="tx1"/>
                </a:solidFill>
              </a:rPr>
              <a:t>the network learned from a mostly-zero link (training max 272.1), then met values from 278.5 to 596.9 in validation. A model predicts what it has seen, so the error is structural, not random.</a:t>
            </a:r>
            <a:endParaRPr lang="en-US" sz="1400" dirty="0"/>
          </a:p>
        </p:txBody>
      </p:sp>
      <p:sp>
        <p:nvSpPr>
          <p:cNvPr id="23"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16</a:t>
            </a:fld>
            <a:endParaRPr lang="en-US"/>
          </a:p>
        </p:txBody>
      </p:sp>
      <p:pic>
        <p:nvPicPr>
          <p:cNvPr id="26" name="Picture 25">
            <a:extLst>
              <a:ext uri="{FF2B5EF4-FFF2-40B4-BE49-F238E27FC236}">
                <a16:creationId xmlns:a16="http://schemas.microsoft.com/office/drawing/2014/main" id="{47C244BE-2A4C-9E3E-E136-BB5947CD68EE}"/>
              </a:ext>
            </a:extLst>
          </p:cNvPr>
          <p:cNvPicPr>
            <a:picLocks noChangeAspect="1"/>
          </p:cNvPicPr>
          <p:nvPr/>
        </p:nvPicPr>
        <p:blipFill>
          <a:blip r:embed="rId4"/>
          <a:stretch>
            <a:fillRect/>
          </a:stretch>
        </p:blipFill>
        <p:spPr>
          <a:xfrm>
            <a:off x="252339" y="2307029"/>
            <a:ext cx="6514221" cy="297546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530352"/>
            <a:ext cx="11094415" cy="640080"/>
          </a:xfrm>
          <a:prstGeom prst="rect">
            <a:avLst/>
          </a:prstGeom>
          <a:noFill/>
          <a:ln/>
        </p:spPr>
        <p:txBody>
          <a:bodyPr wrap="square" lIns="0" tIns="0" rIns="0" bIns="0" rtlCol="0" anchor="t"/>
          <a:lstStyle/>
          <a:p>
            <a:pPr marL="0" indent="0" algn="l">
              <a:buNone/>
            </a:pPr>
            <a:r>
              <a:rPr lang="en-US" sz="2800" b="1" dirty="0">
                <a:solidFill>
                  <a:schemeClr val="tx2"/>
                </a:solidFill>
              </a:rPr>
              <a:t>Untouched Test Set: Neural Network vs Persistence</a:t>
            </a:r>
            <a:endParaRPr lang="en-US" sz="2800" dirty="0"/>
          </a:p>
        </p:txBody>
      </p:sp>
      <p:sp>
        <p:nvSpPr>
          <p:cNvPr id="4" name="UPLOAD HERE - Notebook Cell 30 plot"/>
          <p:cNvSpPr/>
          <p:nvPr/>
        </p:nvSpPr>
        <p:spPr>
          <a:xfrm>
            <a:off x="548640" y="1325880"/>
            <a:ext cx="5394960" cy="4919472"/>
          </a:xfrm>
          <a:prstGeom prst="roundRect">
            <a:avLst>
              <a:gd name="adj" fmla="val 1487"/>
            </a:avLst>
          </a:prstGeom>
          <a:solidFill>
            <a:schemeClr val="bg1"/>
          </a:solidFill>
          <a:ln w="19050">
            <a:solidFill>
              <a:schemeClr val="tx2"/>
            </a:solidFill>
            <a:prstDash val="dash"/>
          </a:ln>
        </p:spPr>
      </p:sp>
      <p:sp>
        <p:nvSpPr>
          <p:cNvPr id="5" name="Camera circle"/>
          <p:cNvSpPr/>
          <p:nvPr/>
        </p:nvSpPr>
        <p:spPr>
          <a:xfrm>
            <a:off x="2926080" y="2633472"/>
            <a:ext cx="640080" cy="640080"/>
          </a:xfrm>
          <a:prstGeom prst="ellipse">
            <a:avLst/>
          </a:prstGeom>
          <a:solidFill>
            <a:schemeClr val="tx2"/>
          </a:solidFill>
          <a:ln w="6350">
            <a:solidFill>
              <a:schemeClr val="tx2"/>
            </a:solidFill>
            <a:prstDash val="solid"/>
          </a:ln>
        </p:spPr>
      </p:sp>
      <p:pic>
        <p:nvPicPr>
          <p:cNvPr id="6" name="Image 0" descr="Camera"/>
          <p:cNvPicPr>
            <a:picLocks noChangeAspect="1"/>
          </p:cNvPicPr>
          <p:nvPr/>
        </p:nvPicPr>
        <p:blipFill>
          <a:blip r:embed="rId3"/>
          <a:stretch>
            <a:fillRect/>
          </a:stretch>
        </p:blipFill>
        <p:spPr>
          <a:xfrm>
            <a:off x="3092501" y="2799893"/>
            <a:ext cx="307238" cy="307238"/>
          </a:xfrm>
          <a:prstGeom prst="rect">
            <a:avLst/>
          </a:prstGeom>
        </p:spPr>
      </p:pic>
      <p:sp>
        <p:nvSpPr>
          <p:cNvPr id="7" name="Text 3"/>
          <p:cNvSpPr txBox="1"/>
          <p:nvPr/>
        </p:nvSpPr>
        <p:spPr>
          <a:xfrm>
            <a:off x="822960" y="3383280"/>
            <a:ext cx="4846320" cy="274320"/>
          </a:xfrm>
          <a:prstGeom prst="rect">
            <a:avLst/>
          </a:prstGeom>
          <a:noFill/>
          <a:ln/>
        </p:spPr>
        <p:txBody>
          <a:bodyPr wrap="square" lIns="0" tIns="0" rIns="0" bIns="0" rtlCol="0" anchor="t"/>
          <a:lstStyle/>
          <a:p>
            <a:pPr marL="0" indent="0" algn="ctr">
              <a:buNone/>
            </a:pPr>
            <a:r>
              <a:rPr lang="en-US" sz="1500" b="1" dirty="0">
                <a:solidFill>
                  <a:schemeClr val="tx2"/>
                </a:solidFill>
              </a:rPr>
              <a:t>UPLOAD SCREENSHOT HERE</a:t>
            </a:r>
            <a:endParaRPr lang="en-US" sz="1500" dirty="0"/>
          </a:p>
        </p:txBody>
      </p:sp>
      <p:sp>
        <p:nvSpPr>
          <p:cNvPr id="8" name="Text 4"/>
          <p:cNvSpPr txBox="1"/>
          <p:nvPr/>
        </p:nvSpPr>
        <p:spPr>
          <a:xfrm>
            <a:off x="822960" y="3657600"/>
            <a:ext cx="4846320" cy="274320"/>
          </a:xfrm>
          <a:prstGeom prst="rect">
            <a:avLst/>
          </a:prstGeom>
          <a:noFill/>
          <a:ln/>
        </p:spPr>
        <p:txBody>
          <a:bodyPr wrap="square" lIns="0" tIns="0" rIns="0" bIns="0" rtlCol="0" anchor="t"/>
          <a:lstStyle/>
          <a:p>
            <a:pPr marL="0" indent="0" algn="ctr">
              <a:buNone/>
            </a:pPr>
            <a:r>
              <a:rPr lang="en-US" sz="1400" b="1" dirty="0">
                <a:solidFill>
                  <a:schemeClr val="accent2"/>
                </a:solidFill>
              </a:rPr>
              <a:t>Notebook Cell 30 plot</a:t>
            </a:r>
            <a:endParaRPr lang="en-US" sz="1400" dirty="0"/>
          </a:p>
        </p:txBody>
      </p:sp>
      <p:sp>
        <p:nvSpPr>
          <p:cNvPr id="9" name="Text 5"/>
          <p:cNvSpPr txBox="1"/>
          <p:nvPr/>
        </p:nvSpPr>
        <p:spPr>
          <a:xfrm>
            <a:off x="914400" y="4023360"/>
            <a:ext cx="4663440" cy="914400"/>
          </a:xfrm>
          <a:prstGeom prst="rect">
            <a:avLst/>
          </a:prstGeom>
          <a:noFill/>
          <a:ln/>
        </p:spPr>
        <p:txBody>
          <a:bodyPr wrap="square" lIns="0" tIns="0" rIns="0" bIns="0" rtlCol="0" anchor="t"/>
          <a:lstStyle/>
          <a:p>
            <a:pPr marL="0" indent="0" algn="ctr">
              <a:buNone/>
            </a:pPr>
            <a:r>
              <a:rPr lang="en-US" sz="1200" dirty="0">
                <a:solidFill>
                  <a:schemeClr val="accent2"/>
                </a:solidFill>
              </a:rPr>
              <a:t>Capture the 4-panel figure 'Untouched Test Set: Actual vs Predicted' (Actual, Persistence, Neural Network). Crop to the figure only.</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172200" y="1325880"/>
          <a:ext cx="5470855" cy="2468880"/>
        </p:xfrm>
        <a:graphic>
          <a:graphicData uri="http://schemas.openxmlformats.org/drawingml/2006/table">
            <a:tbl>
              <a:tblPr/>
              <a:tblGrid>
                <a:gridCol w="11887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264615">
                  <a:extLst>
                    <a:ext uri="{9D8B030D-6E8A-4147-A177-3AD203B41FA5}">
                      <a16:colId xmlns:a16="http://schemas.microsoft.com/office/drawing/2014/main" val="20003"/>
                    </a:ext>
                  </a:extLst>
                </a:gridCol>
              </a:tblGrid>
              <a:tr h="411480">
                <a:tc>
                  <a:txBody>
                    <a:bodyPr/>
                    <a:lstStyle/>
                    <a:p>
                      <a:pPr marL="0" indent="0" algn="l">
                        <a:buNone/>
                      </a:pPr>
                      <a:r>
                        <a:rPr lang="en-US" sz="1300" b="1" dirty="0">
                          <a:solidFill>
                            <a:schemeClr val="bg1"/>
                          </a:solidFill>
                        </a:rPr>
                        <a:t>Link</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NN MAE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Persistence MAE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Better</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11480">
                <a:tc>
                  <a:txBody>
                    <a:bodyPr/>
                    <a:lstStyle/>
                    <a:p>
                      <a:pPr marL="0" indent="0" algn="ctr">
                        <a:buNone/>
                      </a:pPr>
                      <a:r>
                        <a:rPr lang="en-US" sz="1300" b="1" dirty="0">
                          <a:solidFill>
                            <a:schemeClr val="tx2"/>
                          </a:solidFill>
                        </a:rPr>
                        <a:t>dl_lw1</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4.366</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0.000</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accent4"/>
                          </a:solidFill>
                        </a:rPr>
                        <a:t>Persistence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1480">
                <a:tc>
                  <a:txBody>
                    <a:bodyPr/>
                    <a:lstStyle/>
                    <a:p>
                      <a:pPr marL="0" indent="0" algn="ctr">
                        <a:buNone/>
                      </a:pPr>
                      <a:r>
                        <a:rPr lang="en-US" sz="1300" b="1" dirty="0">
                          <a:solidFill>
                            <a:schemeClr val="tx2"/>
                          </a:solidFill>
                        </a:rPr>
                        <a:t>dl_lw2</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33.869</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0.000</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4"/>
                          </a:solidFill>
                        </a:rPr>
                        <a:t>Persistence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11480">
                <a:tc>
                  <a:txBody>
                    <a:bodyPr/>
                    <a:lstStyle/>
                    <a:p>
                      <a:pPr marL="0" indent="0" algn="ctr">
                        <a:buNone/>
                      </a:pPr>
                      <a:r>
                        <a:rPr lang="en-US" sz="1300" b="1" dirty="0">
                          <a:solidFill>
                            <a:schemeClr val="tx2"/>
                          </a:solidFill>
                        </a:rPr>
                        <a:t>dl_lw3</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488.849</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0.032</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accent4"/>
                          </a:solidFill>
                        </a:rPr>
                        <a:t>Persistence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pPr marL="0" indent="0" algn="ctr">
                        <a:buNone/>
                      </a:pPr>
                      <a:r>
                        <a:rPr lang="en-US" sz="1300" b="1" dirty="0">
                          <a:solidFill>
                            <a:schemeClr val="tx2"/>
                          </a:solidFill>
                        </a:rPr>
                        <a:t>dl_lw4</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5.000</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0.000</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4"/>
                          </a:solidFill>
                        </a:rPr>
                        <a:t>Persistence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11480">
                <a:tc>
                  <a:txBody>
                    <a:bodyPr/>
                    <a:lstStyle/>
                    <a:p>
                      <a:pPr marL="0" indent="0" algn="ctr">
                        <a:buNone/>
                      </a:pPr>
                      <a:r>
                        <a:rPr lang="en-US" sz="1300" b="1" dirty="0">
                          <a:solidFill>
                            <a:schemeClr val="tx2"/>
                          </a:solidFill>
                        </a:rPr>
                        <a:t>Overall</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133.021</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0.008</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accent4"/>
                          </a:solidFill>
                        </a:rPr>
                        <a:t>Persistence</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11" name="Test notes"/>
          <p:cNvSpPr/>
          <p:nvPr/>
        </p:nvSpPr>
        <p:spPr>
          <a:xfrm>
            <a:off x="6172200" y="4023360"/>
            <a:ext cx="5470855" cy="2221992"/>
          </a:xfrm>
          <a:prstGeom prst="roundRect">
            <a:avLst>
              <a:gd name="adj" fmla="val 3292"/>
            </a:avLst>
          </a:prstGeom>
          <a:solidFill>
            <a:schemeClr val="bg2"/>
          </a:solidFill>
          <a:ln w="9525">
            <a:solidFill>
              <a:schemeClr val="accent3"/>
            </a:solidFill>
            <a:prstDash val="solid"/>
          </a:ln>
        </p:spPr>
      </p:sp>
      <p:sp>
        <p:nvSpPr>
          <p:cNvPr id="12" name="Text 7"/>
          <p:cNvSpPr txBox="1"/>
          <p:nvPr/>
        </p:nvSpPr>
        <p:spPr>
          <a:xfrm>
            <a:off x="6400800" y="4206240"/>
            <a:ext cx="5029200" cy="2011680"/>
          </a:xfrm>
          <a:prstGeom prst="rect">
            <a:avLst/>
          </a:prstGeom>
          <a:noFill/>
          <a:ln/>
        </p:spPr>
        <p:txBody>
          <a:bodyPr wrap="square" lIns="0" tIns="0" rIns="0" bIns="0" rtlCol="0" anchor="t"/>
          <a:lstStyle/>
          <a:p>
            <a:pPr marL="177800" indent="-177800">
              <a:spcAft>
                <a:spcPts val="1000"/>
              </a:spcAft>
              <a:buSzPct val="100000"/>
              <a:buChar char="•"/>
            </a:pPr>
            <a:r>
              <a:rPr lang="en-US" sz="1550" dirty="0">
                <a:solidFill>
                  <a:schemeClr val="tx1"/>
                </a:solidFill>
              </a:rPr>
              <a:t>Test targets barely move: lw1, lw2, lw4 are constant and lw3 spans only 2.3.</a:t>
            </a:r>
            <a:endParaRPr lang="en-US" sz="1400" dirty="0"/>
          </a:p>
          <a:p>
            <a:pPr marL="177800" indent="-177800">
              <a:spcAft>
                <a:spcPts val="1000"/>
              </a:spcAft>
              <a:buSzPct val="100000"/>
              <a:buChar char="•"/>
            </a:pPr>
            <a:r>
              <a:rPr lang="en-US" sz="1550" dirty="0">
                <a:solidFill>
                  <a:schemeClr val="tx1"/>
                </a:solidFill>
              </a:rPr>
              <a:t>Repeating the last reading is almost perfect (overall MAE 0.008 vs 133.0).</a:t>
            </a:r>
            <a:endParaRPr lang="en-US" sz="1400" dirty="0"/>
          </a:p>
          <a:p>
            <a:pPr marL="177800" indent="-177800">
              <a:spcAft>
                <a:spcPts val="1000"/>
              </a:spcAft>
              <a:buSzPct val="100000"/>
              <a:buChar char="•"/>
            </a:pPr>
            <a:r>
              <a:rPr lang="en-US" sz="1550" dirty="0">
                <a:solidFill>
                  <a:schemeClr val="tx1"/>
                </a:solidFill>
              </a:rPr>
              <a:t>Persistence also leads on validation (dl_lw3: 3.3 vs 374.0).</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17</a:t>
            </a:fld>
            <a:endParaRPr lang="en-US"/>
          </a:p>
        </p:txBody>
      </p:sp>
      <p:pic>
        <p:nvPicPr>
          <p:cNvPr id="3" name="Picture 2">
            <a:extLst>
              <a:ext uri="{FF2B5EF4-FFF2-40B4-BE49-F238E27FC236}">
                <a16:creationId xmlns:a16="http://schemas.microsoft.com/office/drawing/2014/main" id="{718D5914-FD54-059A-7C3D-B0E09722BE9B}"/>
              </a:ext>
            </a:extLst>
          </p:cNvPr>
          <p:cNvPicPr>
            <a:picLocks noChangeAspect="1"/>
          </p:cNvPicPr>
          <p:nvPr/>
        </p:nvPicPr>
        <p:blipFill>
          <a:blip r:embed="rId4"/>
          <a:stretch>
            <a:fillRect/>
          </a:stretch>
        </p:blipFill>
        <p:spPr>
          <a:xfrm>
            <a:off x="357072" y="1170432"/>
            <a:ext cx="5684145" cy="515721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530352"/>
            <a:ext cx="11094415" cy="640080"/>
          </a:xfrm>
          <a:prstGeom prst="rect">
            <a:avLst/>
          </a:prstGeom>
          <a:noFill/>
          <a:ln/>
        </p:spPr>
        <p:txBody>
          <a:bodyPr wrap="square" lIns="0" tIns="0" rIns="0" bIns="0" rtlCol="0" anchor="t"/>
          <a:lstStyle/>
          <a:p>
            <a:pPr marL="0" indent="0" algn="l">
              <a:buNone/>
            </a:pPr>
            <a:r>
              <a:rPr lang="en-US" sz="2800" b="1" dirty="0">
                <a:solidFill>
                  <a:schemeClr val="tx2"/>
                </a:solidFill>
              </a:rPr>
              <a:t>Digital Twin Mismatch Detection</a:t>
            </a:r>
            <a:endParaRPr lang="en-US" sz="2800" dirty="0"/>
          </a:p>
        </p:txBody>
      </p:sp>
      <p:sp>
        <p:nvSpPr>
          <p:cNvPr id="4" name="UPLOAD HERE - Notebook Cell 33 plot"/>
          <p:cNvSpPr/>
          <p:nvPr/>
        </p:nvSpPr>
        <p:spPr>
          <a:xfrm>
            <a:off x="548640" y="1325880"/>
            <a:ext cx="5394960" cy="4919472"/>
          </a:xfrm>
          <a:prstGeom prst="roundRect">
            <a:avLst>
              <a:gd name="adj" fmla="val 1487"/>
            </a:avLst>
          </a:prstGeom>
          <a:solidFill>
            <a:schemeClr val="bg1"/>
          </a:solidFill>
          <a:ln w="19050">
            <a:solidFill>
              <a:schemeClr val="tx2"/>
            </a:solidFill>
            <a:prstDash val="dash"/>
          </a:ln>
        </p:spPr>
      </p:sp>
      <p:sp>
        <p:nvSpPr>
          <p:cNvPr id="5" name="Camera circle"/>
          <p:cNvSpPr/>
          <p:nvPr/>
        </p:nvSpPr>
        <p:spPr>
          <a:xfrm>
            <a:off x="2926080" y="2633472"/>
            <a:ext cx="640080" cy="640080"/>
          </a:xfrm>
          <a:prstGeom prst="ellipse">
            <a:avLst/>
          </a:prstGeom>
          <a:solidFill>
            <a:schemeClr val="tx2"/>
          </a:solidFill>
          <a:ln w="6350">
            <a:solidFill>
              <a:schemeClr val="tx2"/>
            </a:solidFill>
            <a:prstDash val="solid"/>
          </a:ln>
        </p:spPr>
      </p:sp>
      <p:pic>
        <p:nvPicPr>
          <p:cNvPr id="6" name="Image 0" descr="Camera"/>
          <p:cNvPicPr>
            <a:picLocks noChangeAspect="1"/>
          </p:cNvPicPr>
          <p:nvPr/>
        </p:nvPicPr>
        <p:blipFill>
          <a:blip r:embed="rId3"/>
          <a:stretch>
            <a:fillRect/>
          </a:stretch>
        </p:blipFill>
        <p:spPr>
          <a:xfrm>
            <a:off x="3092501" y="2799893"/>
            <a:ext cx="307238" cy="307238"/>
          </a:xfrm>
          <a:prstGeom prst="rect">
            <a:avLst/>
          </a:prstGeom>
        </p:spPr>
      </p:pic>
      <p:sp>
        <p:nvSpPr>
          <p:cNvPr id="7" name="Text 3"/>
          <p:cNvSpPr txBox="1"/>
          <p:nvPr/>
        </p:nvSpPr>
        <p:spPr>
          <a:xfrm>
            <a:off x="822960" y="3383280"/>
            <a:ext cx="4846320" cy="274320"/>
          </a:xfrm>
          <a:prstGeom prst="rect">
            <a:avLst/>
          </a:prstGeom>
          <a:noFill/>
          <a:ln/>
        </p:spPr>
        <p:txBody>
          <a:bodyPr wrap="square" lIns="0" tIns="0" rIns="0" bIns="0" rtlCol="0" anchor="t"/>
          <a:lstStyle/>
          <a:p>
            <a:pPr marL="0" indent="0" algn="ctr">
              <a:buNone/>
            </a:pPr>
            <a:r>
              <a:rPr lang="en-US" sz="1500" b="1" dirty="0">
                <a:solidFill>
                  <a:schemeClr val="tx2"/>
                </a:solidFill>
              </a:rPr>
              <a:t>UPLOAD SCREENSHOT HERE</a:t>
            </a:r>
            <a:endParaRPr lang="en-US" sz="1500" dirty="0"/>
          </a:p>
        </p:txBody>
      </p:sp>
      <p:sp>
        <p:nvSpPr>
          <p:cNvPr id="8" name="Text 4"/>
          <p:cNvSpPr txBox="1"/>
          <p:nvPr/>
        </p:nvSpPr>
        <p:spPr>
          <a:xfrm>
            <a:off x="822960" y="3657600"/>
            <a:ext cx="4846320" cy="274320"/>
          </a:xfrm>
          <a:prstGeom prst="rect">
            <a:avLst/>
          </a:prstGeom>
          <a:noFill/>
          <a:ln/>
        </p:spPr>
        <p:txBody>
          <a:bodyPr wrap="square" lIns="0" tIns="0" rIns="0" bIns="0" rtlCol="0" anchor="t"/>
          <a:lstStyle/>
          <a:p>
            <a:pPr marL="0" indent="0" algn="ctr">
              <a:buNone/>
            </a:pPr>
            <a:r>
              <a:rPr lang="en-US" sz="1400" b="1" dirty="0">
                <a:solidFill>
                  <a:schemeClr val="accent2"/>
                </a:solidFill>
              </a:rPr>
              <a:t>Notebook Cell 33 plot</a:t>
            </a:r>
            <a:endParaRPr lang="en-US" sz="1400" dirty="0"/>
          </a:p>
        </p:txBody>
      </p:sp>
      <p:sp>
        <p:nvSpPr>
          <p:cNvPr id="9" name="Text 5"/>
          <p:cNvSpPr txBox="1"/>
          <p:nvPr/>
        </p:nvSpPr>
        <p:spPr>
          <a:xfrm>
            <a:off x="914400" y="4023360"/>
            <a:ext cx="4663440" cy="914400"/>
          </a:xfrm>
          <a:prstGeom prst="rect">
            <a:avLst/>
          </a:prstGeom>
          <a:noFill/>
          <a:ln/>
        </p:spPr>
        <p:txBody>
          <a:bodyPr wrap="square" lIns="0" tIns="0" rIns="0" bIns="0" rtlCol="0" anchor="t"/>
          <a:lstStyle/>
          <a:p>
            <a:pPr marL="0" indent="0" algn="ctr">
              <a:buNone/>
            </a:pPr>
            <a:r>
              <a:rPr lang="en-US" sz="1200" dirty="0">
                <a:solidFill>
                  <a:schemeClr val="accent2"/>
                </a:solidFill>
              </a:rPr>
              <a:t>Capture the 4-panel figure 'Digital Twin Prediction-Mismatch Detection' (error, dashed threshold and flagged points). Crop to the figure only.</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172200" y="1325880"/>
          <a:ext cx="5470855" cy="2057400"/>
        </p:xfrm>
        <a:graphic>
          <a:graphicData uri="http://schemas.openxmlformats.org/drawingml/2006/table">
            <a:tbl>
              <a:tblPr/>
              <a:tblGrid>
                <a:gridCol w="13716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904695">
                  <a:extLst>
                    <a:ext uri="{9D8B030D-6E8A-4147-A177-3AD203B41FA5}">
                      <a16:colId xmlns:a16="http://schemas.microsoft.com/office/drawing/2014/main" val="20002"/>
                    </a:ext>
                  </a:extLst>
                </a:gridCol>
              </a:tblGrid>
              <a:tr h="411480">
                <a:tc>
                  <a:txBody>
                    <a:bodyPr/>
                    <a:lstStyle/>
                    <a:p>
                      <a:pPr marL="0" indent="0" algn="l">
                        <a:buNone/>
                      </a:pPr>
                      <a:r>
                        <a:rPr lang="en-US" sz="1300" b="1" dirty="0">
                          <a:solidFill>
                            <a:schemeClr val="bg1"/>
                          </a:solidFill>
                        </a:rPr>
                        <a:t>Link</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95th pct. threshold</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Flagged / 98</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11480">
                <a:tc>
                  <a:txBody>
                    <a:bodyPr/>
                    <a:lstStyle/>
                    <a:p>
                      <a:pPr marL="0" indent="0" algn="ctr">
                        <a:buNone/>
                      </a:pPr>
                      <a:r>
                        <a:rPr lang="en-US" sz="1300" b="1" dirty="0">
                          <a:solidFill>
                            <a:schemeClr val="tx2"/>
                          </a:solidFill>
                        </a:rPr>
                        <a:t>dl_lw1</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50.105</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0</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1480">
                <a:tc>
                  <a:txBody>
                    <a:bodyPr/>
                    <a:lstStyle/>
                    <a:p>
                      <a:pPr marL="0" indent="0" algn="ctr">
                        <a:buNone/>
                      </a:pPr>
                      <a:r>
                        <a:rPr lang="en-US" sz="1300" b="1" dirty="0">
                          <a:solidFill>
                            <a:schemeClr val="tx2"/>
                          </a:solidFill>
                        </a:rPr>
                        <a:t>dl_lw2</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124.740</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0</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11480">
                <a:tc>
                  <a:txBody>
                    <a:bodyPr/>
                    <a:lstStyle/>
                    <a:p>
                      <a:pPr marL="0" indent="0" algn="ctr">
                        <a:buNone/>
                      </a:pPr>
                      <a:r>
                        <a:rPr lang="en-US" sz="1300" b="1" dirty="0">
                          <a:solidFill>
                            <a:schemeClr val="accent5"/>
                          </a:solidFill>
                        </a:rPr>
                        <a:t>dl_lw3</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accent5"/>
                          </a:solidFill>
                        </a:rPr>
                        <a:t>487.914</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accent5"/>
                          </a:solidFill>
                        </a:rPr>
                        <a:t>33 (33.7%)</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pPr marL="0" indent="0" algn="ctr">
                        <a:buNone/>
                      </a:pPr>
                      <a:r>
                        <a:rPr lang="en-US" sz="1300" b="1" dirty="0">
                          <a:solidFill>
                            <a:schemeClr val="tx2"/>
                          </a:solidFill>
                        </a:rPr>
                        <a:t>dl_lw4</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7.630</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0</a:t>
                      </a:r>
                      <a:endParaRPr lang="en-US" sz="1300" dirty="0"/>
                    </a:p>
                  </a:txBody>
                  <a:tcPr marL="73152" marR="73152"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11" name="Alert notes"/>
          <p:cNvSpPr/>
          <p:nvPr/>
        </p:nvSpPr>
        <p:spPr>
          <a:xfrm>
            <a:off x="6172200" y="3611880"/>
            <a:ext cx="5470855" cy="2633472"/>
          </a:xfrm>
          <a:prstGeom prst="roundRect">
            <a:avLst>
              <a:gd name="adj" fmla="val 2778"/>
            </a:avLst>
          </a:prstGeom>
          <a:solidFill>
            <a:schemeClr val="bg2"/>
          </a:solidFill>
          <a:ln w="9525">
            <a:solidFill>
              <a:schemeClr val="accent3"/>
            </a:solidFill>
            <a:prstDash val="solid"/>
          </a:ln>
        </p:spPr>
      </p:sp>
      <p:sp>
        <p:nvSpPr>
          <p:cNvPr id="12" name="Text 7"/>
          <p:cNvSpPr txBox="1"/>
          <p:nvPr/>
        </p:nvSpPr>
        <p:spPr>
          <a:xfrm>
            <a:off x="6400800" y="3794760"/>
            <a:ext cx="5029200" cy="242316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chemeClr val="tx1"/>
                </a:solidFill>
              </a:rPr>
              <a:t>Alerts fire only on dl_lw3: 33 of 98 samples, the link the model could not predict.</a:t>
            </a:r>
            <a:endParaRPr lang="en-US" sz="1400" dirty="0"/>
          </a:p>
          <a:p>
            <a:pPr marL="177800" indent="-177800">
              <a:spcAft>
                <a:spcPts val="900"/>
              </a:spcAft>
              <a:buSzPct val="100000"/>
              <a:buChar char="•"/>
            </a:pPr>
            <a:r>
              <a:rPr lang="en-US" sz="1500" dirty="0">
                <a:solidFill>
                  <a:schemeClr val="tx1"/>
                </a:solidFill>
              </a:rPr>
              <a:t>No false alarms on dl_lw1, dl_lw2, dl_lw4.</a:t>
            </a:r>
            <a:endParaRPr lang="en-US" sz="1400" dirty="0"/>
          </a:p>
          <a:p>
            <a:pPr marL="177800" indent="-177800">
              <a:spcAft>
                <a:spcPts val="900"/>
              </a:spcAft>
              <a:buSzPct val="100000"/>
              <a:buChar char="•"/>
            </a:pPr>
            <a:r>
              <a:rPr lang="en-US" sz="1500" dirty="0">
                <a:solidFill>
                  <a:schemeClr val="tx1"/>
                </a:solidFill>
              </a:rPr>
              <a:t>Limitation: lw3 error is ~489 on every test sample, but the 487.9 threshold came from already-large validation errors, so only a third trigger.</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18</a:t>
            </a:fld>
            <a:endParaRPr lang="en-US"/>
          </a:p>
        </p:txBody>
      </p:sp>
      <p:pic>
        <p:nvPicPr>
          <p:cNvPr id="3" name="Picture 2">
            <a:extLst>
              <a:ext uri="{FF2B5EF4-FFF2-40B4-BE49-F238E27FC236}">
                <a16:creationId xmlns:a16="http://schemas.microsoft.com/office/drawing/2014/main" id="{52DB470C-1648-87CD-B2E8-67C2568736F7}"/>
              </a:ext>
            </a:extLst>
          </p:cNvPr>
          <p:cNvPicPr>
            <a:picLocks noChangeAspect="1"/>
          </p:cNvPicPr>
          <p:nvPr/>
        </p:nvPicPr>
        <p:blipFill>
          <a:blip r:embed="rId4"/>
          <a:stretch>
            <a:fillRect/>
          </a:stretch>
        </p:blipFill>
        <p:spPr>
          <a:xfrm>
            <a:off x="398584" y="1093731"/>
            <a:ext cx="5578235" cy="523391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530352"/>
            <a:ext cx="11094415" cy="640080"/>
          </a:xfrm>
          <a:prstGeom prst="rect">
            <a:avLst/>
          </a:prstGeom>
          <a:noFill/>
          <a:ln/>
        </p:spPr>
        <p:txBody>
          <a:bodyPr wrap="square" lIns="0" tIns="0" rIns="0" bIns="0" rtlCol="0" anchor="t"/>
          <a:lstStyle/>
          <a:p>
            <a:pPr marL="0" indent="0" algn="l">
              <a:buNone/>
            </a:pPr>
            <a:r>
              <a:rPr lang="en-US" sz="2800" b="1" dirty="0">
                <a:solidFill>
                  <a:schemeClr val="tx2"/>
                </a:solidFill>
              </a:rPr>
              <a:t>Comparative Analysis: All Models on Validation</a:t>
            </a:r>
            <a:endParaRPr lang="en-US" sz="2800" dirty="0"/>
          </a:p>
        </p:txBody>
      </p:sp>
      <p:graphicFrame>
        <p:nvGraphicFramePr>
          <p:cNvPr id="4" name="Chart 0"/>
          <p:cNvGraphicFramePr/>
          <p:nvPr/>
        </p:nvGraphicFramePr>
        <p:xfrm>
          <a:off x="548640" y="1325880"/>
          <a:ext cx="704088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Synthesis card"/>
          <p:cNvSpPr/>
          <p:nvPr/>
        </p:nvSpPr>
        <p:spPr>
          <a:xfrm>
            <a:off x="7818120" y="1325880"/>
            <a:ext cx="3822192" cy="4114800"/>
          </a:xfrm>
          <a:prstGeom prst="roundRect">
            <a:avLst>
              <a:gd name="adj" fmla="val 1914"/>
            </a:avLst>
          </a:prstGeom>
          <a:solidFill>
            <a:schemeClr val="bg2"/>
          </a:solidFill>
          <a:ln w="9525">
            <a:solidFill>
              <a:schemeClr val="accent3"/>
            </a:solidFill>
            <a:prstDash val="solid"/>
          </a:ln>
        </p:spPr>
      </p:sp>
      <p:sp>
        <p:nvSpPr>
          <p:cNvPr id="6" name="Text 2"/>
          <p:cNvSpPr txBox="1"/>
          <p:nvPr/>
        </p:nvSpPr>
        <p:spPr>
          <a:xfrm>
            <a:off x="8046720" y="1508760"/>
            <a:ext cx="3383280" cy="274320"/>
          </a:xfrm>
          <a:prstGeom prst="rect">
            <a:avLst/>
          </a:prstGeom>
          <a:noFill/>
          <a:ln/>
        </p:spPr>
        <p:txBody>
          <a:bodyPr wrap="square" lIns="0" tIns="0" rIns="0" bIns="0" rtlCol="0" anchor="t"/>
          <a:lstStyle/>
          <a:p>
            <a:pPr marL="0" indent="0">
              <a:buNone/>
            </a:pPr>
            <a:r>
              <a:rPr lang="en-US" sz="1400" b="1" dirty="0">
                <a:solidFill>
                  <a:schemeClr val="tx2"/>
                </a:solidFill>
              </a:rPr>
              <a:t>COMPARISON SYNTHESIS</a:t>
            </a:r>
            <a:endParaRPr lang="en-US" sz="1400" dirty="0"/>
          </a:p>
        </p:txBody>
      </p:sp>
      <p:sp>
        <p:nvSpPr>
          <p:cNvPr id="7" name="Text 3"/>
          <p:cNvSpPr txBox="1"/>
          <p:nvPr/>
        </p:nvSpPr>
        <p:spPr>
          <a:xfrm>
            <a:off x="8046720" y="1920240"/>
            <a:ext cx="3383280" cy="3383280"/>
          </a:xfrm>
          <a:prstGeom prst="rect">
            <a:avLst/>
          </a:prstGeom>
          <a:noFill/>
          <a:ln/>
        </p:spPr>
        <p:txBody>
          <a:bodyPr wrap="square" lIns="0" tIns="0" rIns="0" bIns="0" rtlCol="0" anchor="t"/>
          <a:lstStyle/>
          <a:p>
            <a:pPr marL="177800" indent="-177800">
              <a:spcAft>
                <a:spcPts val="1100"/>
              </a:spcAft>
              <a:buSzPct val="100000"/>
              <a:buChar char="•"/>
            </a:pPr>
            <a:r>
              <a:rPr lang="en-US" sz="1500" dirty="0">
                <a:solidFill>
                  <a:schemeClr val="tx1"/>
                </a:solidFill>
              </a:rPr>
              <a:t>FidelityNet cuts MAE vs Random Forest about 6× on dl_lw1 and 3× on dl_lw2.</a:t>
            </a:r>
            <a:endParaRPr lang="en-US" sz="1400" dirty="0"/>
          </a:p>
          <a:p>
            <a:pPr marL="177800" indent="-177800">
              <a:spcAft>
                <a:spcPts val="1100"/>
              </a:spcAft>
              <a:buSzPct val="100000"/>
              <a:buChar char="•"/>
            </a:pPr>
            <a:r>
              <a:rPr lang="en-US" sz="1500" dirty="0">
                <a:solidFill>
                  <a:schemeClr val="tx1"/>
                </a:solidFill>
              </a:rPr>
              <a:t>Random Forest is worse than a train-mean guess on dl_lw1.</a:t>
            </a:r>
            <a:endParaRPr lang="en-US" sz="1400" dirty="0"/>
          </a:p>
          <a:p>
            <a:pPr marL="177800" indent="-177800">
              <a:spcAft>
                <a:spcPts val="1100"/>
              </a:spcAft>
              <a:buSzPct val="100000"/>
              <a:buChar char="•"/>
            </a:pPr>
            <a:r>
              <a:rPr lang="en-US" sz="1500" dirty="0">
                <a:solidFill>
                  <a:schemeClr val="tx1"/>
                </a:solidFill>
              </a:rPr>
              <a:t>Persistence is hardest to beat on this near-constant flight.</a:t>
            </a:r>
            <a:endParaRPr lang="en-US" sz="1400" dirty="0"/>
          </a:p>
          <a:p>
            <a:pPr marL="177800" indent="-177800">
              <a:spcAft>
                <a:spcPts val="1100"/>
              </a:spcAft>
              <a:buSzPct val="100000"/>
              <a:buChar char="•"/>
            </a:pPr>
            <a:r>
              <a:rPr lang="en-US" sz="1500" dirty="0">
                <a:solidFill>
                  <a:schemeClr val="tx1"/>
                </a:solidFill>
              </a:rPr>
              <a:t>The twin's value is its uncertainty and alerts, not raw accuracy.</a:t>
            </a:r>
            <a:endParaRPr lang="en-US" sz="1400" dirty="0"/>
          </a:p>
        </p:txBody>
      </p:sp>
      <p:sp>
        <p:nvSpPr>
          <p:cNvPr id="8" name="Best model strip"/>
          <p:cNvSpPr/>
          <p:nvPr/>
        </p:nvSpPr>
        <p:spPr>
          <a:xfrm>
            <a:off x="548640" y="5623560"/>
            <a:ext cx="11094415" cy="621792"/>
          </a:xfrm>
          <a:prstGeom prst="roundRect">
            <a:avLst>
              <a:gd name="adj" fmla="val 11765"/>
            </a:avLst>
          </a:prstGeom>
          <a:solidFill>
            <a:schemeClr val="bg2"/>
          </a:solidFill>
          <a:ln w="9525">
            <a:solidFill>
              <a:schemeClr val="accent3"/>
            </a:solidFill>
            <a:prstDash val="solid"/>
          </a:ln>
        </p:spPr>
      </p:sp>
      <p:sp>
        <p:nvSpPr>
          <p:cNvPr id="9" name="Text 5"/>
          <p:cNvSpPr txBox="1"/>
          <p:nvPr/>
        </p:nvSpPr>
        <p:spPr>
          <a:xfrm>
            <a:off x="822960" y="5623560"/>
            <a:ext cx="10545775" cy="621792"/>
          </a:xfrm>
          <a:prstGeom prst="rect">
            <a:avLst/>
          </a:prstGeom>
          <a:noFill/>
          <a:ln/>
        </p:spPr>
        <p:txBody>
          <a:bodyPr wrap="square" lIns="0" tIns="0" rIns="0" bIns="0" rtlCol="0" anchor="ctr"/>
          <a:lstStyle/>
          <a:p>
            <a:pPr marL="0" indent="0">
              <a:buNone/>
            </a:pPr>
            <a:r>
              <a:rPr lang="en-US" sz="1400" b="1" dirty="0">
                <a:solidFill>
                  <a:schemeClr val="tx2"/>
                </a:solidFill>
              </a:rPr>
              <a:t>BEST LEARNED MODEL PER LINK (MAE):  </a:t>
            </a:r>
            <a:r>
              <a:rPr lang="en-US" sz="1400" dirty="0">
                <a:solidFill>
                  <a:schemeClr val="tx1"/>
                </a:solidFill>
              </a:rPr>
              <a:t>dl_lw1 NN 12.1   |   dl_lw2 NN 38.8   |   dl_lw3 NN 372.6   |   dl_lw4 MC Dropout 3.7</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491276"/>
            <a:ext cx="11094415" cy="640080"/>
          </a:xfrm>
          <a:prstGeom prst="rect">
            <a:avLst/>
          </a:prstGeom>
          <a:noFill/>
          <a:ln/>
        </p:spPr>
        <p:txBody>
          <a:bodyPr wrap="square" lIns="0" tIns="0" rIns="0" bIns="0" rtlCol="0" anchor="t"/>
          <a:lstStyle/>
          <a:p>
            <a:pPr marL="0" indent="0" algn="l">
              <a:buNone/>
            </a:pPr>
            <a:r>
              <a:rPr lang="en-US" sz="2800" b="1" dirty="0">
                <a:solidFill>
                  <a:schemeClr val="tx2"/>
                </a:solidFill>
              </a:rPr>
              <a:t>Key Observations &amp; Limitations</a:t>
            </a:r>
            <a:endParaRPr lang="en-US" sz="2800" dirty="0"/>
          </a:p>
        </p:txBody>
      </p:sp>
      <p:sp>
        <p:nvSpPr>
          <p:cNvPr id="4" name="Worked card"/>
          <p:cNvSpPr/>
          <p:nvPr/>
        </p:nvSpPr>
        <p:spPr>
          <a:xfrm>
            <a:off x="548640" y="1325880"/>
            <a:ext cx="5440680" cy="4919472"/>
          </a:xfrm>
          <a:prstGeom prst="roundRect">
            <a:avLst>
              <a:gd name="adj" fmla="val 1487"/>
            </a:avLst>
          </a:prstGeom>
          <a:solidFill>
            <a:schemeClr val="bg2"/>
          </a:solidFill>
          <a:ln w="9525">
            <a:solidFill>
              <a:schemeClr val="accent3"/>
            </a:solidFill>
            <a:prstDash val="solid"/>
          </a:ln>
        </p:spPr>
      </p:sp>
      <p:sp>
        <p:nvSpPr>
          <p:cNvPr id="5" name="Limits card"/>
          <p:cNvSpPr/>
          <p:nvPr/>
        </p:nvSpPr>
        <p:spPr>
          <a:xfrm>
            <a:off x="6202375" y="1325880"/>
            <a:ext cx="5440680" cy="4919472"/>
          </a:xfrm>
          <a:prstGeom prst="roundRect">
            <a:avLst>
              <a:gd name="adj" fmla="val 1487"/>
            </a:avLst>
          </a:prstGeom>
          <a:solidFill>
            <a:schemeClr val="bg2"/>
          </a:solidFill>
          <a:ln w="9525">
            <a:solidFill>
              <a:schemeClr val="accent3"/>
            </a:solidFill>
            <a:prstDash val="solid"/>
          </a:ln>
        </p:spPr>
      </p:sp>
      <p:sp>
        <p:nvSpPr>
          <p:cNvPr id="6" name="Text 3"/>
          <p:cNvSpPr txBox="1"/>
          <p:nvPr/>
        </p:nvSpPr>
        <p:spPr>
          <a:xfrm>
            <a:off x="822960" y="1508760"/>
            <a:ext cx="4892040" cy="320040"/>
          </a:xfrm>
          <a:prstGeom prst="rect">
            <a:avLst/>
          </a:prstGeom>
          <a:noFill/>
          <a:ln/>
        </p:spPr>
        <p:txBody>
          <a:bodyPr wrap="square" lIns="0" tIns="0" rIns="0" bIns="0" rtlCol="0" anchor="t"/>
          <a:lstStyle/>
          <a:p>
            <a:pPr marL="0" indent="0">
              <a:buNone/>
            </a:pPr>
            <a:r>
              <a:rPr lang="en-US" sz="1450" b="1" dirty="0">
                <a:solidFill>
                  <a:schemeClr val="tx2"/>
                </a:solidFill>
              </a:rPr>
              <a:t>WHAT WORKED SUCCESSFULLY</a:t>
            </a:r>
            <a:endParaRPr lang="en-US" sz="1450" dirty="0"/>
          </a:p>
        </p:txBody>
      </p:sp>
      <p:sp>
        <p:nvSpPr>
          <p:cNvPr id="7" name="Text 4"/>
          <p:cNvSpPr txBox="1"/>
          <p:nvPr/>
        </p:nvSpPr>
        <p:spPr>
          <a:xfrm>
            <a:off x="6476695" y="1508760"/>
            <a:ext cx="4892040" cy="320040"/>
          </a:xfrm>
          <a:prstGeom prst="rect">
            <a:avLst/>
          </a:prstGeom>
          <a:noFill/>
          <a:ln/>
        </p:spPr>
        <p:txBody>
          <a:bodyPr wrap="square" lIns="0" tIns="0" rIns="0" bIns="0" rtlCol="0" anchor="t"/>
          <a:lstStyle/>
          <a:p>
            <a:pPr marL="0" indent="0">
              <a:buNone/>
            </a:pPr>
            <a:r>
              <a:rPr lang="en-US" sz="1450" b="1" dirty="0">
                <a:solidFill>
                  <a:schemeClr val="tx2"/>
                </a:solidFill>
              </a:rPr>
              <a:t>LIMITATIONS &amp; NEXT STEPS</a:t>
            </a:r>
            <a:endParaRPr lang="en-US" sz="1450" dirty="0"/>
          </a:p>
        </p:txBody>
      </p:sp>
      <p:sp>
        <p:nvSpPr>
          <p:cNvPr id="8" name="Text 5"/>
          <p:cNvSpPr txBox="1"/>
          <p:nvPr/>
        </p:nvSpPr>
        <p:spPr>
          <a:xfrm>
            <a:off x="822960" y="1965960"/>
            <a:ext cx="4892040" cy="4114800"/>
          </a:xfrm>
          <a:prstGeom prst="rect">
            <a:avLst/>
          </a:prstGeom>
          <a:noFill/>
          <a:ln/>
        </p:spPr>
        <p:txBody>
          <a:bodyPr wrap="square" lIns="0" tIns="0" rIns="0" bIns="0" rtlCol="0" anchor="t"/>
          <a:lstStyle/>
          <a:p>
            <a:pPr marL="0" indent="0">
              <a:spcAft>
                <a:spcPts val="1400"/>
              </a:spcAft>
              <a:buNone/>
            </a:pPr>
            <a:r>
              <a:rPr lang="en-US" sz="1550" b="1" dirty="0">
                <a:solidFill>
                  <a:schemeClr val="accent4"/>
                </a:solidFill>
              </a:rPr>
              <a:t>✓  Better than baseline: </a:t>
            </a:r>
            <a:r>
              <a:rPr lang="en-US" sz="1550" dirty="0">
                <a:solidFill>
                  <a:schemeClr val="tx1"/>
                </a:solidFill>
              </a:rPr>
              <a:t>NN beats Random Forest on all four validation links (dl_lw1: 73.8 → 12.1).</a:t>
            </a:r>
            <a:endParaRPr lang="en-US" sz="1400" dirty="0"/>
          </a:p>
          <a:p>
            <a:pPr marL="0" indent="0">
              <a:spcAft>
                <a:spcPts val="1400"/>
              </a:spcAft>
              <a:buNone/>
            </a:pPr>
            <a:r>
              <a:rPr lang="en-US" sz="1550" b="1" dirty="0">
                <a:solidFill>
                  <a:schemeClr val="accent4"/>
                </a:solidFill>
              </a:rPr>
              <a:t>✓  Uncertainty on demand: </a:t>
            </a:r>
            <a:r>
              <a:rPr lang="en-US" sz="1550" dirty="0">
                <a:solidFill>
                  <a:schemeClr val="tx1"/>
                </a:solidFill>
              </a:rPr>
              <a:t>MC Dropout returns a σ with every prediction.</a:t>
            </a:r>
            <a:endParaRPr lang="en-US" sz="1400" dirty="0"/>
          </a:p>
          <a:p>
            <a:pPr marL="0" indent="0">
              <a:spcAft>
                <a:spcPts val="1400"/>
              </a:spcAft>
              <a:buNone/>
            </a:pPr>
            <a:r>
              <a:rPr lang="en-US" sz="1550" b="1" dirty="0">
                <a:solidFill>
                  <a:schemeClr val="accent4"/>
                </a:solidFill>
              </a:rPr>
              <a:t>✓  High fidelity: </a:t>
            </a:r>
            <a:r>
              <a:rPr lang="en-US" sz="1550" dirty="0">
                <a:solidFill>
                  <a:schemeClr val="tx1"/>
                </a:solidFill>
              </a:rPr>
              <a:t>97.3%, 92.9% and 82.4% on lw1, lw2 and lw4.</a:t>
            </a:r>
            <a:endParaRPr lang="en-US" sz="1400" dirty="0"/>
          </a:p>
          <a:p>
            <a:pPr marL="0" indent="0">
              <a:spcAft>
                <a:spcPts val="1400"/>
              </a:spcAft>
              <a:buNone/>
            </a:pPr>
            <a:r>
              <a:rPr lang="en-US" sz="1550" b="1" dirty="0">
                <a:solidFill>
                  <a:schemeClr val="accent4"/>
                </a:solidFill>
              </a:rPr>
              <a:t>✓  Useful alerts: </a:t>
            </a:r>
            <a:r>
              <a:rPr lang="en-US" sz="1550" dirty="0">
                <a:solidFill>
                  <a:schemeClr val="tx1"/>
                </a:solidFill>
              </a:rPr>
              <a:t>mismatch flags appear only on dl_lw3, where the twin was unreliable.</a:t>
            </a:r>
            <a:endParaRPr lang="en-US" sz="1400" dirty="0"/>
          </a:p>
          <a:p>
            <a:pPr marL="0" indent="0">
              <a:spcAft>
                <a:spcPts val="1400"/>
              </a:spcAft>
              <a:buNone/>
            </a:pPr>
            <a:r>
              <a:rPr lang="en-US" sz="1550" b="1" dirty="0">
                <a:solidFill>
                  <a:schemeClr val="accent4"/>
                </a:solidFill>
              </a:rPr>
              <a:t>✓  No leakage: </a:t>
            </a:r>
            <a:r>
              <a:rPr lang="en-US" sz="1550" dirty="0">
                <a:solidFill>
                  <a:schemeClr val="tx1"/>
                </a:solidFill>
              </a:rPr>
              <a:t>time-ordered split; scalers and thresholds use earlier data only.</a:t>
            </a:r>
            <a:endParaRPr lang="en-US" sz="1400" dirty="0"/>
          </a:p>
        </p:txBody>
      </p:sp>
      <p:sp>
        <p:nvSpPr>
          <p:cNvPr id="9" name="Text 6"/>
          <p:cNvSpPr txBox="1"/>
          <p:nvPr/>
        </p:nvSpPr>
        <p:spPr>
          <a:xfrm>
            <a:off x="6476695" y="1965960"/>
            <a:ext cx="4892040" cy="4114800"/>
          </a:xfrm>
          <a:prstGeom prst="rect">
            <a:avLst/>
          </a:prstGeom>
          <a:noFill/>
          <a:ln/>
        </p:spPr>
        <p:txBody>
          <a:bodyPr wrap="square" lIns="0" tIns="0" rIns="0" bIns="0" rtlCol="0" anchor="t"/>
          <a:lstStyle/>
          <a:p>
            <a:pPr marL="0" indent="0">
              <a:spcAft>
                <a:spcPts val="1400"/>
              </a:spcAft>
              <a:buNone/>
            </a:pPr>
            <a:r>
              <a:rPr lang="en-US" sz="1550" b="1" dirty="0">
                <a:solidFill>
                  <a:schemeClr val="tx2"/>
                </a:solidFill>
              </a:rPr>
              <a:t>➜  Single flight: </a:t>
            </a:r>
            <a:r>
              <a:rPr lang="en-US" sz="1550" dirty="0">
                <a:solidFill>
                  <a:schemeClr val="tx1"/>
                </a:solidFill>
              </a:rPr>
              <a:t>test on more flights, not one 11-minute segment.</a:t>
            </a:r>
            <a:endParaRPr lang="en-US" sz="1400" dirty="0"/>
          </a:p>
          <a:p>
            <a:pPr marL="0" indent="0">
              <a:spcAft>
                <a:spcPts val="1400"/>
              </a:spcAft>
              <a:buNone/>
            </a:pPr>
            <a:r>
              <a:rPr lang="en-US" sz="1550" b="1" dirty="0">
                <a:solidFill>
                  <a:schemeClr val="tx2"/>
                </a:solidFill>
              </a:rPr>
              <a:t>➜  dl_lw3 shift: </a:t>
            </a:r>
            <a:r>
              <a:rPr lang="en-US" sz="1550" dirty="0">
                <a:solidFill>
                  <a:schemeClr val="tx1"/>
                </a:solidFill>
              </a:rPr>
              <a:t>add more varied training data to reduce it.</a:t>
            </a:r>
            <a:endParaRPr lang="en-US" sz="1400" dirty="0"/>
          </a:p>
          <a:p>
            <a:pPr marL="0" indent="0">
              <a:spcAft>
                <a:spcPts val="1400"/>
              </a:spcAft>
              <a:buNone/>
            </a:pPr>
            <a:r>
              <a:rPr lang="en-US" sz="1550" b="1" dirty="0">
                <a:solidFill>
                  <a:schemeClr val="tx2"/>
                </a:solidFill>
              </a:rPr>
              <a:t>➜  Overconfident σ: </a:t>
            </a:r>
            <a:r>
              <a:rPr lang="en-US" sz="1550" dirty="0">
                <a:solidFill>
                  <a:schemeClr val="tx1"/>
                </a:solidFill>
              </a:rPr>
              <a:t>calibrate uncertainty and add OOD detection.</a:t>
            </a:r>
            <a:endParaRPr lang="en-US" sz="1400" dirty="0"/>
          </a:p>
          <a:p>
            <a:pPr marL="0" indent="0">
              <a:spcAft>
                <a:spcPts val="1400"/>
              </a:spcAft>
              <a:buNone/>
            </a:pPr>
            <a:r>
              <a:rPr lang="en-US" sz="1550" b="1" dirty="0">
                <a:solidFill>
                  <a:schemeClr val="tx2"/>
                </a:solidFill>
              </a:rPr>
              <a:t>➜  Near-constant test set: </a:t>
            </a:r>
            <a:r>
              <a:rPr lang="en-US" sz="1550" dirty="0">
                <a:solidFill>
                  <a:schemeClr val="tx1"/>
                </a:solidFill>
              </a:rPr>
              <a:t>persistence wins here; evaluate on varying segments.</a:t>
            </a:r>
            <a:endParaRPr lang="en-US" sz="1400" dirty="0"/>
          </a:p>
          <a:p>
            <a:pPr marL="0" indent="0">
              <a:spcAft>
                <a:spcPts val="1400"/>
              </a:spcAft>
              <a:buNone/>
            </a:pPr>
            <a:r>
              <a:rPr lang="en-US" sz="1550" b="1" dirty="0">
                <a:solidFill>
                  <a:schemeClr val="tx2"/>
                </a:solidFill>
              </a:rPr>
              <a:t>➜  Dashboard: </a:t>
            </a:r>
            <a:r>
              <a:rPr lang="en-US" sz="1550" dirty="0">
                <a:solidFill>
                  <a:schemeClr val="tx1"/>
                </a:solidFill>
              </a:rPr>
              <a:t>build the Streamlit app and a final end-to-end demo.</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530352"/>
            <a:ext cx="11094415" cy="640080"/>
          </a:xfrm>
          <a:prstGeom prst="rect">
            <a:avLst/>
          </a:prstGeom>
          <a:noFill/>
          <a:ln/>
        </p:spPr>
        <p:txBody>
          <a:bodyPr wrap="square" lIns="0" tIns="0" rIns="0" bIns="0" rtlCol="0" anchor="t"/>
          <a:lstStyle/>
          <a:p>
            <a:pPr marL="0" indent="0" algn="l">
              <a:buNone/>
            </a:pPr>
            <a:r>
              <a:rPr lang="en-US" sz="2800" b="1" dirty="0">
                <a:solidFill>
                  <a:schemeClr val="tx2"/>
                </a:solidFill>
              </a:rPr>
              <a:t>Project Conclusion &amp; Summary</a:t>
            </a:r>
            <a:endParaRPr lang="en-US" sz="2800" dirty="0"/>
          </a:p>
        </p:txBody>
      </p:sp>
      <p:sp>
        <p:nvSpPr>
          <p:cNvPr id="4" name="Conclusion card 1"/>
          <p:cNvSpPr/>
          <p:nvPr/>
        </p:nvSpPr>
        <p:spPr>
          <a:xfrm>
            <a:off x="548640" y="1325880"/>
            <a:ext cx="11094415" cy="987552"/>
          </a:xfrm>
          <a:prstGeom prst="roundRect">
            <a:avLst>
              <a:gd name="adj" fmla="val 7407"/>
            </a:avLst>
          </a:prstGeom>
          <a:solidFill>
            <a:schemeClr val="bg2"/>
          </a:solidFill>
          <a:ln w="9525">
            <a:solidFill>
              <a:schemeClr val="accent3"/>
            </a:solidFill>
            <a:prstDash val="solid"/>
          </a:ln>
        </p:spPr>
      </p:sp>
      <p:sp>
        <p:nvSpPr>
          <p:cNvPr id="5" name="1. Digital Twin Built circle"/>
          <p:cNvSpPr/>
          <p:nvPr/>
        </p:nvSpPr>
        <p:spPr>
          <a:xfrm>
            <a:off x="777240" y="1508760"/>
            <a:ext cx="621792" cy="621792"/>
          </a:xfrm>
          <a:prstGeom prst="ellipse">
            <a:avLst/>
          </a:prstGeom>
          <a:solidFill>
            <a:schemeClr val="tx2"/>
          </a:solidFill>
          <a:ln w="6350">
            <a:solidFill>
              <a:schemeClr val="tx2"/>
            </a:solidFill>
            <a:prstDash val="solid"/>
          </a:ln>
        </p:spPr>
      </p:sp>
      <p:pic>
        <p:nvPicPr>
          <p:cNvPr id="6" name="Image 0" descr="1. Digital Twin Built"/>
          <p:cNvPicPr>
            <a:picLocks noChangeAspect="1"/>
          </p:cNvPicPr>
          <p:nvPr/>
        </p:nvPicPr>
        <p:blipFill>
          <a:blip r:embed="rId3"/>
          <a:stretch>
            <a:fillRect/>
          </a:stretch>
        </p:blipFill>
        <p:spPr>
          <a:xfrm>
            <a:off x="938906" y="1670426"/>
            <a:ext cx="298460" cy="298460"/>
          </a:xfrm>
          <a:prstGeom prst="rect">
            <a:avLst/>
          </a:prstGeom>
        </p:spPr>
      </p:pic>
      <p:sp>
        <p:nvSpPr>
          <p:cNvPr id="7" name="Text 3"/>
          <p:cNvSpPr txBox="1"/>
          <p:nvPr/>
        </p:nvSpPr>
        <p:spPr>
          <a:xfrm>
            <a:off x="1645920" y="1417320"/>
            <a:ext cx="9722815" cy="320040"/>
          </a:xfrm>
          <a:prstGeom prst="rect">
            <a:avLst/>
          </a:prstGeom>
          <a:noFill/>
          <a:ln/>
        </p:spPr>
        <p:txBody>
          <a:bodyPr wrap="square" lIns="0" tIns="0" rIns="0" bIns="0" rtlCol="0" anchor="t"/>
          <a:lstStyle/>
          <a:p>
            <a:pPr marL="0" indent="0">
              <a:buNone/>
            </a:pPr>
            <a:r>
              <a:rPr lang="en-US" sz="1650" b="1" dirty="0">
                <a:solidFill>
                  <a:schemeClr val="tx2"/>
                </a:solidFill>
              </a:rPr>
              <a:t>1. Digital Twin Built</a:t>
            </a:r>
            <a:endParaRPr lang="en-US" sz="1650" dirty="0"/>
          </a:p>
        </p:txBody>
      </p:sp>
      <p:sp>
        <p:nvSpPr>
          <p:cNvPr id="8" name="Text 4"/>
          <p:cNvSpPr txBox="1"/>
          <p:nvPr/>
        </p:nvSpPr>
        <p:spPr>
          <a:xfrm>
            <a:off x="1645920" y="1755648"/>
            <a:ext cx="9722815" cy="530352"/>
          </a:xfrm>
          <a:prstGeom prst="rect">
            <a:avLst/>
          </a:prstGeom>
          <a:noFill/>
          <a:ln/>
        </p:spPr>
        <p:txBody>
          <a:bodyPr wrap="square" lIns="0" tIns="0" rIns="0" bIns="0" rtlCol="0" anchor="t"/>
          <a:lstStyle/>
          <a:p>
            <a:pPr marL="0" indent="0">
              <a:buNone/>
            </a:pPr>
            <a:r>
              <a:rPr lang="en-US" sz="1450" dirty="0">
                <a:solidFill>
                  <a:schemeClr val="tx1"/>
                </a:solidFill>
              </a:rPr>
              <a:t>Merged UAV telemetry, SNR and download data into a twin that predicts four link downloads with MC Dropout uncertainty.</a:t>
            </a:r>
            <a:endParaRPr lang="en-US" sz="1450" dirty="0"/>
          </a:p>
        </p:txBody>
      </p:sp>
      <p:sp>
        <p:nvSpPr>
          <p:cNvPr id="9" name="Conclusion card 2"/>
          <p:cNvSpPr/>
          <p:nvPr/>
        </p:nvSpPr>
        <p:spPr>
          <a:xfrm>
            <a:off x="548640" y="2423160"/>
            <a:ext cx="11094415" cy="987552"/>
          </a:xfrm>
          <a:prstGeom prst="roundRect">
            <a:avLst>
              <a:gd name="adj" fmla="val 7407"/>
            </a:avLst>
          </a:prstGeom>
          <a:solidFill>
            <a:schemeClr val="bg2"/>
          </a:solidFill>
          <a:ln w="9525">
            <a:solidFill>
              <a:schemeClr val="accent3"/>
            </a:solidFill>
            <a:prstDash val="solid"/>
          </a:ln>
        </p:spPr>
      </p:sp>
      <p:sp>
        <p:nvSpPr>
          <p:cNvPr id="10" name="2. Neural Network Beat Random Forest circle"/>
          <p:cNvSpPr/>
          <p:nvPr/>
        </p:nvSpPr>
        <p:spPr>
          <a:xfrm>
            <a:off x="777240" y="2606040"/>
            <a:ext cx="621792" cy="621792"/>
          </a:xfrm>
          <a:prstGeom prst="ellipse">
            <a:avLst/>
          </a:prstGeom>
          <a:solidFill>
            <a:schemeClr val="tx2"/>
          </a:solidFill>
          <a:ln w="6350">
            <a:solidFill>
              <a:schemeClr val="tx2"/>
            </a:solidFill>
            <a:prstDash val="solid"/>
          </a:ln>
        </p:spPr>
      </p:sp>
      <p:pic>
        <p:nvPicPr>
          <p:cNvPr id="11" name="Image 1" descr="2. Neural Network Beat Random Forest"/>
          <p:cNvPicPr>
            <a:picLocks noChangeAspect="1"/>
          </p:cNvPicPr>
          <p:nvPr/>
        </p:nvPicPr>
        <p:blipFill>
          <a:blip r:embed="rId4"/>
          <a:stretch>
            <a:fillRect/>
          </a:stretch>
        </p:blipFill>
        <p:spPr>
          <a:xfrm>
            <a:off x="938906" y="2767706"/>
            <a:ext cx="298460" cy="298460"/>
          </a:xfrm>
          <a:prstGeom prst="rect">
            <a:avLst/>
          </a:prstGeom>
        </p:spPr>
      </p:pic>
      <p:sp>
        <p:nvSpPr>
          <p:cNvPr id="12" name="Text 7"/>
          <p:cNvSpPr txBox="1"/>
          <p:nvPr/>
        </p:nvSpPr>
        <p:spPr>
          <a:xfrm>
            <a:off x="1645920" y="2514600"/>
            <a:ext cx="9722815" cy="320040"/>
          </a:xfrm>
          <a:prstGeom prst="rect">
            <a:avLst/>
          </a:prstGeom>
          <a:noFill/>
          <a:ln/>
        </p:spPr>
        <p:txBody>
          <a:bodyPr wrap="square" lIns="0" tIns="0" rIns="0" bIns="0" rtlCol="0" anchor="t"/>
          <a:lstStyle/>
          <a:p>
            <a:pPr marL="0" indent="0">
              <a:buNone/>
            </a:pPr>
            <a:r>
              <a:rPr lang="en-US" sz="1650" b="1" dirty="0">
                <a:solidFill>
                  <a:schemeClr val="tx2"/>
                </a:solidFill>
              </a:rPr>
              <a:t>2. Neural Network Beat Random Forest</a:t>
            </a:r>
            <a:endParaRPr lang="en-US" sz="1650" dirty="0"/>
          </a:p>
        </p:txBody>
      </p:sp>
      <p:sp>
        <p:nvSpPr>
          <p:cNvPr id="13" name="Text 8"/>
          <p:cNvSpPr txBox="1"/>
          <p:nvPr/>
        </p:nvSpPr>
        <p:spPr>
          <a:xfrm>
            <a:off x="1645920" y="2852928"/>
            <a:ext cx="9722815" cy="530352"/>
          </a:xfrm>
          <a:prstGeom prst="rect">
            <a:avLst/>
          </a:prstGeom>
          <a:noFill/>
          <a:ln/>
        </p:spPr>
        <p:txBody>
          <a:bodyPr wrap="square" lIns="0" tIns="0" rIns="0" bIns="0" rtlCol="0" anchor="t"/>
          <a:lstStyle/>
          <a:p>
            <a:pPr marL="0" indent="0">
              <a:buNone/>
            </a:pPr>
            <a:r>
              <a:rPr lang="en-US" sz="1450" dirty="0">
                <a:solidFill>
                  <a:schemeClr val="tx1"/>
                </a:solidFill>
              </a:rPr>
              <a:t>FidelityNet had lower validation MAE on all four links; fidelity reached 97.3% on dl_lw1 but only 26.1% on dl_lw3.</a:t>
            </a:r>
            <a:endParaRPr lang="en-US" sz="1450" dirty="0"/>
          </a:p>
        </p:txBody>
      </p:sp>
      <p:sp>
        <p:nvSpPr>
          <p:cNvPr id="14" name="Conclusion card 3"/>
          <p:cNvSpPr/>
          <p:nvPr/>
        </p:nvSpPr>
        <p:spPr>
          <a:xfrm>
            <a:off x="548640" y="3520440"/>
            <a:ext cx="11094415" cy="987552"/>
          </a:xfrm>
          <a:prstGeom prst="roundRect">
            <a:avLst>
              <a:gd name="adj" fmla="val 7407"/>
            </a:avLst>
          </a:prstGeom>
          <a:solidFill>
            <a:schemeClr val="bg2"/>
          </a:solidFill>
          <a:ln w="9525">
            <a:solidFill>
              <a:schemeClr val="accent3"/>
            </a:solidFill>
            <a:prstDash val="solid"/>
          </a:ln>
        </p:spPr>
      </p:sp>
      <p:sp>
        <p:nvSpPr>
          <p:cNvPr id="15" name="3. Distribution Shift Exposed circle"/>
          <p:cNvSpPr/>
          <p:nvPr/>
        </p:nvSpPr>
        <p:spPr>
          <a:xfrm>
            <a:off x="777240" y="3703320"/>
            <a:ext cx="621792" cy="621792"/>
          </a:xfrm>
          <a:prstGeom prst="ellipse">
            <a:avLst/>
          </a:prstGeom>
          <a:solidFill>
            <a:schemeClr val="tx2"/>
          </a:solidFill>
          <a:ln w="6350">
            <a:solidFill>
              <a:schemeClr val="tx2"/>
            </a:solidFill>
            <a:prstDash val="solid"/>
          </a:ln>
        </p:spPr>
      </p:sp>
      <p:pic>
        <p:nvPicPr>
          <p:cNvPr id="16" name="Image 2" descr="3. Distribution Shift Exposed"/>
          <p:cNvPicPr>
            <a:picLocks noChangeAspect="1"/>
          </p:cNvPicPr>
          <p:nvPr/>
        </p:nvPicPr>
        <p:blipFill>
          <a:blip r:embed="rId5"/>
          <a:stretch>
            <a:fillRect/>
          </a:stretch>
        </p:blipFill>
        <p:spPr>
          <a:xfrm>
            <a:off x="938906" y="3864986"/>
            <a:ext cx="298460" cy="298460"/>
          </a:xfrm>
          <a:prstGeom prst="rect">
            <a:avLst/>
          </a:prstGeom>
        </p:spPr>
      </p:pic>
      <p:sp>
        <p:nvSpPr>
          <p:cNvPr id="17" name="Text 11"/>
          <p:cNvSpPr txBox="1"/>
          <p:nvPr/>
        </p:nvSpPr>
        <p:spPr>
          <a:xfrm>
            <a:off x="1645920" y="3611880"/>
            <a:ext cx="9722815" cy="320040"/>
          </a:xfrm>
          <a:prstGeom prst="rect">
            <a:avLst/>
          </a:prstGeom>
          <a:noFill/>
          <a:ln/>
        </p:spPr>
        <p:txBody>
          <a:bodyPr wrap="square" lIns="0" tIns="0" rIns="0" bIns="0" rtlCol="0" anchor="t"/>
          <a:lstStyle/>
          <a:p>
            <a:pPr marL="0" indent="0">
              <a:buNone/>
            </a:pPr>
            <a:r>
              <a:rPr lang="en-US" sz="1650" b="1" dirty="0">
                <a:solidFill>
                  <a:schemeClr val="tx2"/>
                </a:solidFill>
              </a:rPr>
              <a:t>3. Distribution Shift Exposed</a:t>
            </a:r>
            <a:endParaRPr lang="en-US" sz="1650" dirty="0"/>
          </a:p>
        </p:txBody>
      </p:sp>
      <p:sp>
        <p:nvSpPr>
          <p:cNvPr id="18" name="Text 12"/>
          <p:cNvSpPr txBox="1"/>
          <p:nvPr/>
        </p:nvSpPr>
        <p:spPr>
          <a:xfrm>
            <a:off x="1645920" y="3950208"/>
            <a:ext cx="9722815" cy="530352"/>
          </a:xfrm>
          <a:prstGeom prst="rect">
            <a:avLst/>
          </a:prstGeom>
          <a:noFill/>
          <a:ln/>
        </p:spPr>
        <p:txBody>
          <a:bodyPr wrap="square" lIns="0" tIns="0" rIns="0" bIns="0" rtlCol="0" anchor="t"/>
          <a:lstStyle/>
          <a:p>
            <a:pPr marL="0" indent="0">
              <a:buNone/>
            </a:pPr>
            <a:r>
              <a:rPr lang="en-US" sz="1450" dirty="0">
                <a:solidFill>
                  <a:schemeClr val="tx1"/>
                </a:solidFill>
              </a:rPr>
              <a:t>dl_lw3 was 83.3% zeros in training and at least 278 in validation. Persistence wins on the near-constant test segment, so results are flight-specific.</a:t>
            </a:r>
            <a:endParaRPr lang="en-US" sz="1450" dirty="0"/>
          </a:p>
        </p:txBody>
      </p:sp>
      <p:sp>
        <p:nvSpPr>
          <p:cNvPr id="19" name="Conclusion card 4"/>
          <p:cNvSpPr/>
          <p:nvPr/>
        </p:nvSpPr>
        <p:spPr>
          <a:xfrm>
            <a:off x="548640" y="4617720"/>
            <a:ext cx="11094415" cy="987552"/>
          </a:xfrm>
          <a:prstGeom prst="roundRect">
            <a:avLst>
              <a:gd name="adj" fmla="val 7407"/>
            </a:avLst>
          </a:prstGeom>
          <a:solidFill>
            <a:schemeClr val="bg2"/>
          </a:solidFill>
          <a:ln w="9525">
            <a:solidFill>
              <a:schemeClr val="accent3"/>
            </a:solidFill>
            <a:prstDash val="solid"/>
          </a:ln>
        </p:spPr>
      </p:sp>
      <p:sp>
        <p:nvSpPr>
          <p:cNvPr id="20" name="4. Twin Knows When It Fails circle"/>
          <p:cNvSpPr/>
          <p:nvPr/>
        </p:nvSpPr>
        <p:spPr>
          <a:xfrm>
            <a:off x="777240" y="4800600"/>
            <a:ext cx="621792" cy="621792"/>
          </a:xfrm>
          <a:prstGeom prst="ellipse">
            <a:avLst/>
          </a:prstGeom>
          <a:solidFill>
            <a:schemeClr val="tx2"/>
          </a:solidFill>
          <a:ln w="6350">
            <a:solidFill>
              <a:schemeClr val="tx2"/>
            </a:solidFill>
            <a:prstDash val="solid"/>
          </a:ln>
        </p:spPr>
      </p:sp>
      <p:pic>
        <p:nvPicPr>
          <p:cNvPr id="21" name="Image 3" descr="4. Twin Knows When It Fails"/>
          <p:cNvPicPr>
            <a:picLocks noChangeAspect="1"/>
          </p:cNvPicPr>
          <p:nvPr/>
        </p:nvPicPr>
        <p:blipFill>
          <a:blip r:embed="rId6"/>
          <a:stretch>
            <a:fillRect/>
          </a:stretch>
        </p:blipFill>
        <p:spPr>
          <a:xfrm>
            <a:off x="938906" y="4962266"/>
            <a:ext cx="298460" cy="298460"/>
          </a:xfrm>
          <a:prstGeom prst="rect">
            <a:avLst/>
          </a:prstGeom>
        </p:spPr>
      </p:pic>
      <p:sp>
        <p:nvSpPr>
          <p:cNvPr id="22" name="Text 15"/>
          <p:cNvSpPr txBox="1"/>
          <p:nvPr/>
        </p:nvSpPr>
        <p:spPr>
          <a:xfrm>
            <a:off x="1645920" y="4709160"/>
            <a:ext cx="9722815" cy="320040"/>
          </a:xfrm>
          <a:prstGeom prst="rect">
            <a:avLst/>
          </a:prstGeom>
          <a:noFill/>
          <a:ln/>
        </p:spPr>
        <p:txBody>
          <a:bodyPr wrap="square" lIns="0" tIns="0" rIns="0" bIns="0" rtlCol="0" anchor="t"/>
          <a:lstStyle/>
          <a:p>
            <a:pPr marL="0" indent="0">
              <a:buNone/>
            </a:pPr>
            <a:r>
              <a:rPr lang="en-US" sz="1650" b="1" dirty="0">
                <a:solidFill>
                  <a:schemeClr val="tx2"/>
                </a:solidFill>
              </a:rPr>
              <a:t>4. Twin Knows When It Fails</a:t>
            </a:r>
            <a:endParaRPr lang="en-US" sz="1650" dirty="0"/>
          </a:p>
        </p:txBody>
      </p:sp>
      <p:sp>
        <p:nvSpPr>
          <p:cNvPr id="23" name="Text 16"/>
          <p:cNvSpPr txBox="1"/>
          <p:nvPr/>
        </p:nvSpPr>
        <p:spPr>
          <a:xfrm>
            <a:off x="1645920" y="5047488"/>
            <a:ext cx="9722815" cy="530352"/>
          </a:xfrm>
          <a:prstGeom prst="rect">
            <a:avLst/>
          </a:prstGeom>
          <a:noFill/>
          <a:ln/>
        </p:spPr>
        <p:txBody>
          <a:bodyPr wrap="square" lIns="0" tIns="0" rIns="0" bIns="0" rtlCol="0" anchor="t"/>
          <a:lstStyle/>
          <a:p>
            <a:pPr marL="0" indent="0">
              <a:buNone/>
            </a:pPr>
            <a:r>
              <a:rPr lang="en-US" sz="1450" dirty="0">
                <a:solidFill>
                  <a:schemeClr val="tx1"/>
                </a:solidFill>
              </a:rPr>
              <a:t>Mismatch alerts flagged dl_lw3 (33.7% of test samples) and stayed silent elsewhere. Next: more flights, calibrated uncertainty, Streamlit dashboard.</a:t>
            </a:r>
            <a:endParaRPr lang="en-US" sz="1450" dirty="0"/>
          </a:p>
        </p:txBody>
      </p:sp>
      <p:sp>
        <p:nvSpPr>
          <p:cNvPr id="24" name="Text 17"/>
          <p:cNvSpPr txBox="1"/>
          <p:nvPr/>
        </p:nvSpPr>
        <p:spPr>
          <a:xfrm>
            <a:off x="548640" y="5806440"/>
            <a:ext cx="11094415" cy="411480"/>
          </a:xfrm>
          <a:prstGeom prst="rect">
            <a:avLst/>
          </a:prstGeom>
          <a:noFill/>
          <a:ln/>
        </p:spPr>
        <p:txBody>
          <a:bodyPr wrap="square" lIns="0" tIns="0" rIns="0" bIns="0" rtlCol="0" anchor="ctr"/>
          <a:lstStyle/>
          <a:p>
            <a:pPr marL="0" indent="0" algn="ctr">
              <a:buNone/>
            </a:pPr>
            <a:r>
              <a:rPr lang="en-US" sz="1800" b="1" i="1" dirty="0">
                <a:solidFill>
                  <a:schemeClr val="tx2"/>
                </a:solidFill>
              </a:rPr>
              <a:t>From UAV measurements to a twin that knows when it cannot be trusted.</a:t>
            </a:r>
            <a:endParaRPr lang="en-US" sz="18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hanks card"/>
          <p:cNvSpPr/>
          <p:nvPr/>
        </p:nvSpPr>
        <p:spPr>
          <a:xfrm>
            <a:off x="2011680" y="1645920"/>
            <a:ext cx="8165592" cy="1737360"/>
          </a:xfrm>
          <a:prstGeom prst="roundRect">
            <a:avLst>
              <a:gd name="adj" fmla="val 4211"/>
            </a:avLst>
          </a:prstGeom>
          <a:solidFill>
            <a:schemeClr val="bg2"/>
          </a:solidFill>
          <a:ln w="9525">
            <a:solidFill>
              <a:schemeClr val="accent3"/>
            </a:solidFill>
            <a:prstDash val="solid"/>
          </a:ln>
        </p:spPr>
      </p:sp>
      <p:sp>
        <p:nvSpPr>
          <p:cNvPr id="4" name="Text 0"/>
          <p:cNvSpPr>
            <a:spLocks noGrp="1"/>
          </p:cNvSpPr>
          <p:nvPr>
            <p:ph type="title" idx="100" hasCustomPrompt="1"/>
          </p:nvPr>
        </p:nvSpPr>
        <p:spPr>
          <a:xfrm>
            <a:off x="2011680" y="2011680"/>
            <a:ext cx="8165592" cy="822960"/>
          </a:xfrm>
          <a:prstGeom prst="rect">
            <a:avLst/>
          </a:prstGeom>
          <a:noFill/>
          <a:ln/>
        </p:spPr>
        <p:txBody>
          <a:bodyPr wrap="square" lIns="0" tIns="0" rIns="0" bIns="0" rtlCol="0" anchor="ctr"/>
          <a:lstStyle/>
          <a:p>
            <a:pPr marL="0" indent="0" algn="ctr">
              <a:buNone/>
            </a:pPr>
            <a:r>
              <a:rPr lang="en-US" sz="4400" b="1" dirty="0">
                <a:solidFill>
                  <a:schemeClr val="tx2"/>
                </a:solidFill>
              </a:rPr>
              <a:t>Thank You!</a:t>
            </a:r>
            <a:endParaRPr lang="en-US" sz="4400" dirty="0"/>
          </a:p>
        </p:txBody>
      </p:sp>
      <p:sp>
        <p:nvSpPr>
          <p:cNvPr id="5" name="Text 2"/>
          <p:cNvSpPr txBox="1"/>
          <p:nvPr/>
        </p:nvSpPr>
        <p:spPr>
          <a:xfrm>
            <a:off x="2011680" y="2880360"/>
            <a:ext cx="8165592" cy="411480"/>
          </a:xfrm>
          <a:prstGeom prst="rect">
            <a:avLst/>
          </a:prstGeom>
          <a:noFill/>
          <a:ln/>
        </p:spPr>
        <p:txBody>
          <a:bodyPr wrap="square" lIns="0" tIns="0" rIns="0" bIns="0" rtlCol="0" anchor="t"/>
          <a:lstStyle/>
          <a:p>
            <a:pPr marL="0" indent="0" algn="ctr">
              <a:buNone/>
            </a:pPr>
            <a:r>
              <a:rPr lang="en-US" sz="2000" i="1" dirty="0">
                <a:solidFill>
                  <a:schemeClr val="accent2"/>
                </a:solidFill>
              </a:rPr>
              <a:t>Questions &amp; Open Discussion</a:t>
            </a:r>
            <a:endParaRPr lang="en-US" sz="2000" dirty="0"/>
          </a:p>
        </p:txBody>
      </p:sp>
      <p:sp>
        <p:nvSpPr>
          <p:cNvPr id="6" name="Details card"/>
          <p:cNvSpPr/>
          <p:nvPr/>
        </p:nvSpPr>
        <p:spPr>
          <a:xfrm>
            <a:off x="2011680" y="3657600"/>
            <a:ext cx="8165592" cy="2286000"/>
          </a:xfrm>
          <a:prstGeom prst="roundRect">
            <a:avLst>
              <a:gd name="adj" fmla="val 3200"/>
            </a:avLst>
          </a:prstGeom>
          <a:solidFill>
            <a:schemeClr val="bg2"/>
          </a:solidFill>
          <a:ln w="9525">
            <a:solidFill>
              <a:schemeClr val="accent3"/>
            </a:solidFill>
            <a:prstDash val="solid"/>
          </a:ln>
        </p:spPr>
      </p:sp>
      <p:sp>
        <p:nvSpPr>
          <p:cNvPr id="7" name="Text 4"/>
          <p:cNvSpPr txBox="1"/>
          <p:nvPr/>
        </p:nvSpPr>
        <p:spPr>
          <a:xfrm>
            <a:off x="2286000" y="3840480"/>
            <a:ext cx="7616952" cy="2011680"/>
          </a:xfrm>
          <a:prstGeom prst="rect">
            <a:avLst/>
          </a:prstGeom>
          <a:noFill/>
          <a:ln/>
        </p:spPr>
        <p:txBody>
          <a:bodyPr wrap="square" lIns="0" tIns="0" rIns="0" bIns="0" rtlCol="0" anchor="t"/>
          <a:lstStyle/>
          <a:p>
            <a:pPr marL="0" indent="0" algn="ctr">
              <a:spcAft>
                <a:spcPts val="800"/>
              </a:spcAft>
              <a:buNone/>
            </a:pPr>
            <a:r>
              <a:rPr lang="en-US" sz="1500" b="1" dirty="0">
                <a:solidFill>
                  <a:schemeClr val="tx2"/>
                </a:solidFill>
              </a:rPr>
              <a:t>Project: AI-Based UAV Communication Digital Twin for Throughput Prediction and Reliability Assessment</a:t>
            </a:r>
            <a:endParaRPr lang="en-US" sz="1400" dirty="0"/>
          </a:p>
          <a:p>
            <a:pPr marL="0" indent="0" algn="ctr">
              <a:spcAft>
                <a:spcPts val="800"/>
              </a:spcAft>
              <a:buNone/>
            </a:pPr>
            <a:r>
              <a:rPr lang="en-US" sz="1500" dirty="0">
                <a:solidFill>
                  <a:schemeClr val="tx1"/>
                </a:solidFill>
              </a:rPr>
              <a:t>Course: Machine Learning (25SC2107E)  |  Academic Year: 2026 – 2027</a:t>
            </a:r>
            <a:endParaRPr lang="en-US" sz="1400" dirty="0"/>
          </a:p>
          <a:p>
            <a:pPr marL="0" indent="0" algn="ctr">
              <a:spcAft>
                <a:spcPts val="800"/>
              </a:spcAft>
              <a:buNone/>
            </a:pPr>
            <a:r>
              <a:rPr lang="en-US" sz="1500" dirty="0">
                <a:solidFill>
                  <a:schemeClr val="tx1"/>
                </a:solidFill>
              </a:rPr>
              <a:t>Project Guide: Mr. N. Lava Prasad, Assistant Professor</a:t>
            </a:r>
            <a:endParaRPr lang="en-US" sz="1400" dirty="0"/>
          </a:p>
          <a:p>
            <a:pPr marL="0" indent="0" algn="ctr">
              <a:buNone/>
            </a:pPr>
            <a:r>
              <a:rPr lang="en-US" sz="1500" dirty="0">
                <a:solidFill>
                  <a:schemeClr val="tx1"/>
                </a:solidFill>
              </a:rPr>
              <a:t>Department of Electronics &amp; Communication Engineering, KL University</a:t>
            </a:r>
            <a:endParaRPr lang="en-US" sz="1400" dirty="0"/>
          </a:p>
        </p:txBody>
      </p:sp>
    </p:spTree>
  </p:cSld>
  <p:clrMapOvr>
    <a:masterClrMapping/>
  </p:clrMapOvr>
</p:sld>
</file>

<file path=ppt/theme/theme1.xml><?xml version="1.0" encoding="utf-8"?>
<a:theme xmlns:a="http://schemas.openxmlformats.org/drawingml/2006/main" name="ECE Review Navy">
  <a:themeElements>
    <a:clrScheme name="ECE Review Navy">
      <a:dk1>
        <a:srgbClr val="1F2A44"/>
      </a:dk1>
      <a:lt1>
        <a:srgbClr val="FFFFFF"/>
      </a:lt1>
      <a:dk2>
        <a:srgbClr val="1F4E79"/>
      </a:dk2>
      <a:lt2>
        <a:srgbClr val="EAF1F8"/>
      </a:lt2>
      <a:accent1>
        <a:srgbClr val="1F4E79"/>
      </a:accent1>
      <a:accent2>
        <a:srgbClr val="5B6577"/>
      </a:accent2>
      <a:accent3>
        <a:srgbClr val="C9D3E0"/>
      </a:accent3>
      <a:accent4>
        <a:srgbClr val="2E7D32"/>
      </a:accent4>
      <a:accent5>
        <a:srgbClr val="B3261E"/>
      </a:accent5>
      <a:accent6>
        <a:srgbClr val="C77700"/>
      </a:accent6>
      <a:hlink>
        <a:srgbClr val="1F4E79"/>
      </a:hlink>
      <a:folHlink>
        <a:srgbClr val="5B6577"/>
      </a:folHlink>
    </a:clrScheme>
    <a:fontScheme name="ECE Review Navy">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3764</Words>
  <Application>Microsoft Office PowerPoint</Application>
  <PresentationFormat>Widescreen</PresentationFormat>
  <Paragraphs>511</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Times New Roman</vt:lpstr>
      <vt:lpstr>ECE Review Navy</vt:lpstr>
      <vt:lpstr>AI-Based UAV Communication Digital Twin for Throughput Prediction and Reliability Assessment</vt:lpstr>
      <vt:lpstr>Presentation Outline</vt:lpstr>
      <vt:lpstr>Problem Statement &amp; Motivation</vt:lpstr>
      <vt:lpstr>Project Objectives &amp; Evaluation Metrics</vt:lpstr>
      <vt:lpstr>Proposed 6-Step Methodology &amp; System Workflow</vt:lpstr>
      <vt:lpstr>Software Stack &amp; Technical Tools</vt:lpstr>
      <vt:lpstr>Dataset: Merged UAV 5G Flight Measurements</vt:lpstr>
      <vt:lpstr>Download Behaviour Over the Flight &amp; Chronological Split</vt:lpstr>
      <vt:lpstr>Input Features &amp; Prediction Targets</vt:lpstr>
      <vt:lpstr>Baseline: Random Forest vs Train-Mean Guess</vt:lpstr>
      <vt:lpstr>FidelityNet Architecture &amp; Training Setup</vt:lpstr>
      <vt:lpstr>Training Progress: Learning Curves</vt:lpstr>
      <vt:lpstr>Uncertainty, Fidelity Score &amp; Mismatch Rule</vt:lpstr>
      <vt:lpstr>Validation Results (MC Dropout)</vt:lpstr>
      <vt:lpstr>Fidelity Score &amp; Uncertainty vs Actual Error</vt:lpstr>
      <vt:lpstr>Why dl_lw3 Fails: Temporal Distribution Shift</vt:lpstr>
      <vt:lpstr>Untouched Test Set: Neural Network vs Persistence</vt:lpstr>
      <vt:lpstr>Digital Twin Mismatch Detection</vt:lpstr>
      <vt:lpstr>Comparative Analysis: All Models on Validation</vt:lpstr>
      <vt:lpstr>Key Observations &amp; Limitations</vt:lpstr>
      <vt:lpstr>Project Conclusion &amp; Summary</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UAV Communication Digital Twin - Review 2</dc:title>
  <dc:subject>PptxGenJS Presentation</dc:subject>
  <dc:creator>Team: D. Karthik, S. Karthikeya, P. Yugandhar</dc:creator>
  <cp:lastModifiedBy>Peddi Yugandhar</cp:lastModifiedBy>
  <cp:revision>4</cp:revision>
  <dcterms:created xsi:type="dcterms:W3CDTF">2026-10-15T03:55:51Z</dcterms:created>
  <dcterms:modified xsi:type="dcterms:W3CDTF">2026-10-15T04:08:00Z</dcterms:modified>
</cp:coreProperties>
</file>