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945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 (optional): a UAV photo or KL University logo in the dashed box at top-right. Check roll number 252004004 (9 digits, others have 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UPLOAD: nothing required. Optional drone/5G sketch in the right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UPLOAD: nothing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UPLOAD: nothing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UPLOAD: nothing required (diagram is built 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 (right box): screenshot of Notebook cell 3 or cell 6 output showing the .head() tables / 'Cleaned dataset shape: (652, 22)'. Crop to the output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UPLOAD: nothing. If you prefer screenshots over text, replace this text box with a screenshot of notebook cells 5 and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UPLOAD: nothing. Optional: screenshot of cell 14 output (model summary, 3300 parameters) and cell 16 learning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UPLOAD: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 (left box): the plot from notebook cell 19 ('Validation Predictions and MC Dropout Uncertainty'). Ready-made PNG: figs/cell19_mc_dropout_validation.png. Optional second image: cell 22 fidelity bar chart (figs/cell22_fidelity_scores.png).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 (left box): notebook cell 24 plot 'Temporal Distribution Shift in dl_lw3' (figs/cell24_dl_lw3_shift.png). Optional: cell 27 SNR histograms (figs/cell27_snr_distribution_shift.png).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 (left box): notebook cell 30 plot 'Untouched Test Set: Actual vs Predicted' (figs/cell30_test_actual_vs_pred.png). Optional: cell 29 persistence plot.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 (left box): notebook cell 33 plot 'Digital Twin Prediction-Mismatch Detection' (figs/cell33_mismatch_detection.png). Optional: cell 31 error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UPLOAD: nothing. Edit the 'Remaining' list to match your real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UPLOAD: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AI-Based UAV Communication Digital Twin for Throughput Prediction and Reliability Assessment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22D3EE"/>
                </a:solidFill>
              </a:rPr>
              <a:t>In simple words: predicting a drone's 5G download speed, and telling how far we can trust that prediction.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TEAM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2743200" cy="548640"/>
          </a:xfrm>
          <a:prstGeom prst="roundRect">
            <a:avLst>
              <a:gd name="adj" fmla="val 20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D. Karthik  |  2520040082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4572000"/>
            <a:ext cx="2743200" cy="548640"/>
          </a:xfrm>
          <a:prstGeom prst="roundRect">
            <a:avLst>
              <a:gd name="adj" fmla="val 20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4572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S. Karthikeya  |  252004004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4572000"/>
            <a:ext cx="2743200" cy="548640"/>
          </a:xfrm>
          <a:prstGeom prst="roundRect">
            <a:avLst>
              <a:gd name="adj" fmla="val 20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4572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P. Yugandhar  |  2520040027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669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Guide: N. Lava Prasad   |   KL University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20" name="Picture 19" descr="Sign In Gitlab - Kl University Logo Png,Git Logo">
            <a:extLst>
              <a:ext uri="{FF2B5EF4-FFF2-40B4-BE49-F238E27FC236}">
                <a16:creationId xmlns:a16="http://schemas.microsoft.com/office/drawing/2014/main" id="{51F7353E-03F6-6575-9BD7-A3983DCAC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0"/>
            <a:ext cx="2865120" cy="15097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01  |  PROBLEM STATEMENT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583680" cy="1280160"/>
          </a:xfrm>
          <a:prstGeom prst="roundRect">
            <a:avLst>
              <a:gd name="adj" fmla="val 8571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6916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is happening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0574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A UAV flying over a 5G/LTE link sees changing signal quality (SNR), position, speed and battery, so its download speed keeps changing.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6583680" cy="1280160"/>
          </a:xfrm>
          <a:prstGeom prst="roundRect">
            <a:avLst>
              <a:gd name="adj" fmla="val 8571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315468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1089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goes wrong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Normal models give one number with no sign of how reliable it is, and fail silently when conditions change.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389120"/>
            <a:ext cx="6583680" cy="1280160"/>
          </a:xfrm>
          <a:prstGeom prst="roundRect">
            <a:avLst>
              <a:gd name="adj" fmla="val 8571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1520" y="457200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152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526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Why it is hard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8920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The recorded flight is short and conditions shift over time, so what the model learned early may not hold later.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406640" y="1554480"/>
            <a:ext cx="4206240" cy="4160520"/>
          </a:xfrm>
          <a:prstGeom prst="roundRect">
            <a:avLst>
              <a:gd name="adj" fmla="val 2637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</a:rPr>
              <a:t>WHAT A DIGITAL TWIN SHOULD GIVE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Usual model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589520" y="2423160"/>
            <a:ext cx="2011680" cy="457200"/>
          </a:xfrm>
          <a:prstGeom prst="roundRect">
            <a:avLst>
              <a:gd name="adj" fmla="val 24000"/>
            </a:avLst>
          </a:prstGeom>
          <a:solidFill>
            <a:srgbClr val="8B5CF6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8952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one value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58952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Our digital twin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589520" y="3520440"/>
            <a:ext cx="3840480" cy="457200"/>
          </a:xfrm>
          <a:prstGeom prst="roundRect">
            <a:avLst>
              <a:gd name="adj" fmla="val 24000"/>
            </a:avLst>
          </a:prstGeom>
          <a:solidFill>
            <a:srgbClr val="22D3EE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89520" y="3520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value  ±  uncertainty  +  mismatch alert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43891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Knowing when the prediction is shaky is as useful as the prediction itself.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48640" y="5897880"/>
            <a:ext cx="11064240" cy="457200"/>
          </a:xfrm>
          <a:prstGeom prst="roundRect">
            <a:avLst>
              <a:gd name="adj" fmla="val 24000"/>
            </a:avLst>
          </a:prstGeom>
          <a:solidFill>
            <a:srgbClr val="22D3EE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Goal: predict UAV download throughput with uncertainty and check whether the twin can be trusted.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02  |  PROPOSED METHODOLOGY / ALGORITHM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Proposed Methodology / Algorithm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536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Merge the data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8288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SNR, download and telemetry files are matched by timestamp (within 2 s).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359152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3408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Split by time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63347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First 70% train, next 15% validation, last 15% test (no shuffling).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163824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1455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Scale features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343814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StandardScaler fitted on training data only.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968496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950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Train models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424281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Random Forest baseline and a neural network (FidelityNet).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773168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Add uncertainty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097280" y="504748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Keep dropout ON and predict 100 times: mean = answer, std = uncertainty.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57784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48640" y="5577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097280" y="5559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Check the twin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097280" y="58521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Fidelity score, persistence baseline and mismatch alerts from validation errors.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406640" y="1554480"/>
            <a:ext cx="4206240" cy="4526280"/>
          </a:xfrm>
          <a:prstGeom prst="roundRect">
            <a:avLst>
              <a:gd name="adj" fmla="val 2609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58952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</a:rPr>
              <a:t>MONTE CARLO DROPOUT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589520" y="2103120"/>
            <a:ext cx="1828800" cy="384048"/>
          </a:xfrm>
          <a:prstGeom prst="roundRect">
            <a:avLst>
              <a:gd name="adj" fmla="val 28571"/>
            </a:avLst>
          </a:prstGeom>
          <a:solidFill>
            <a:srgbClr val="24305A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589520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1 pass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589520" y="2606040"/>
            <a:ext cx="1828800" cy="384048"/>
          </a:xfrm>
          <a:prstGeom prst="roundRect">
            <a:avLst>
              <a:gd name="adj" fmla="val 28571"/>
            </a:avLst>
          </a:prstGeom>
          <a:solidFill>
            <a:srgbClr val="24305A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58952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2 pass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589520" y="3108960"/>
            <a:ext cx="1828800" cy="384048"/>
          </a:xfrm>
          <a:prstGeom prst="roundRect">
            <a:avLst>
              <a:gd name="adj" fmla="val 28571"/>
            </a:avLst>
          </a:prstGeom>
          <a:solidFill>
            <a:srgbClr val="24305A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589520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… 100 passes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95097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2D3EE"/>
                </a:solidFill>
              </a:rPr>
              <a:t>→</a:t>
            </a:r>
            <a:endParaRPr lang="en-US" sz="2400" dirty="0"/>
          </a:p>
        </p:txBody>
      </p:sp>
      <p:sp>
        <p:nvSpPr>
          <p:cNvPr id="38" name="Shape 35"/>
          <p:cNvSpPr/>
          <p:nvPr/>
        </p:nvSpPr>
        <p:spPr>
          <a:xfrm>
            <a:off x="10058400" y="210312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058400" y="21031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Mean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= prediction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10058400" y="306324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22D3EE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058400" y="3063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6"/>
                </a:solidFill>
              </a:rPr>
              <a:t>Std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026"/>
                </a:solidFill>
              </a:rPr>
              <a:t>= uncertainty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7589520" y="42976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Same input, slightly different network each time. If the answers spread out, the model is unsure.</a:t>
            </a:r>
            <a:endParaRPr lang="en-US" sz="12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03  |  PROPOSED METHODOLOGY / ALGORITHM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Input Features and Targets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16 INPUT FEATURES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3504" y="187452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03504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snr_lw1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504" y="242316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03504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snr_lw2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92608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" y="297180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03504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snr_lw3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47472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3504" y="352044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03504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snr_lw4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402336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" y="406908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03504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Longitude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457200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3504" y="46177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03504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097280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Latitude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48640" y="512064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" y="51663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03504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7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097280" y="5120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Altitude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48640" y="566928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03504" y="571500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03504" y="5715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8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097280" y="5669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Pitch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3840480" y="182880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895344" y="18745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3895344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9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438912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Yaw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3840480" y="237744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895344" y="24231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3895344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10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438912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Roll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3840480" y="292608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895344" y="297180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3895344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11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438912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VelocityX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3840480" y="347472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895344" y="352044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3895344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12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438912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VelocityY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3840480" y="402336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895344" y="406908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895344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13</a:t>
            </a:r>
            <a:endParaRPr lang="en-US" sz="1400" dirty="0"/>
          </a:p>
        </p:txBody>
      </p:sp>
      <p:sp>
        <p:nvSpPr>
          <p:cNvPr id="57" name="Text 54"/>
          <p:cNvSpPr txBox="1"/>
          <p:nvPr/>
        </p:nvSpPr>
        <p:spPr>
          <a:xfrm>
            <a:off x="438912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VelocityZ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3840480" y="457200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895344" y="46177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3895344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14</a:t>
            </a:r>
            <a:endParaRPr lang="en-US" sz="14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BatteryVolts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3840480" y="512064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895344" y="51663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895344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15</a:t>
            </a:r>
            <a:endParaRPr lang="en-US" sz="1400" dirty="0"/>
          </a:p>
        </p:txBody>
      </p:sp>
      <p:sp>
        <p:nvSpPr>
          <p:cNvPr id="65" name="Text 62"/>
          <p:cNvSpPr txBox="1"/>
          <p:nvPr/>
        </p:nvSpPr>
        <p:spPr>
          <a:xfrm>
            <a:off x="4389120" y="5120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GPSFix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3840480" y="566928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895344" y="571500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895344" y="5715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16</a:t>
            </a:r>
            <a:endParaRPr lang="en-US" sz="1400" dirty="0"/>
          </a:p>
        </p:txBody>
      </p:sp>
      <p:sp>
        <p:nvSpPr>
          <p:cNvPr id="69" name="Text 66"/>
          <p:cNvSpPr txBox="1"/>
          <p:nvPr/>
        </p:nvSpPr>
        <p:spPr>
          <a:xfrm>
            <a:off x="4389120" y="5669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NumberOfSatellites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7315200" y="1463040"/>
            <a:ext cx="4297680" cy="4572000"/>
          </a:xfrm>
          <a:prstGeom prst="roundRect">
            <a:avLst>
              <a:gd name="adj" fmla="val 2553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749808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</a:rPr>
              <a:t>4 TARGETS (what we predict)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7498080" y="2011680"/>
            <a:ext cx="3931920" cy="502920"/>
          </a:xfrm>
          <a:prstGeom prst="roundRect">
            <a:avLst>
              <a:gd name="adj" fmla="val 21818"/>
            </a:avLst>
          </a:prstGeom>
          <a:solidFill>
            <a:srgbClr val="24305A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7680960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dl_lw1  download, link 1</a:t>
            </a:r>
            <a:endParaRPr lang="en-US" sz="1300" dirty="0"/>
          </a:p>
        </p:txBody>
      </p:sp>
      <p:sp>
        <p:nvSpPr>
          <p:cNvPr id="74" name="Shape 71"/>
          <p:cNvSpPr/>
          <p:nvPr/>
        </p:nvSpPr>
        <p:spPr>
          <a:xfrm>
            <a:off x="7498080" y="2651760"/>
            <a:ext cx="3931920" cy="502920"/>
          </a:xfrm>
          <a:prstGeom prst="roundRect">
            <a:avLst>
              <a:gd name="adj" fmla="val 21818"/>
            </a:avLst>
          </a:prstGeom>
          <a:solidFill>
            <a:srgbClr val="24305A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680960" y="2651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dl_lw2  download, link 2</a:t>
            </a:r>
            <a:endParaRPr lang="en-US" sz="1300" dirty="0"/>
          </a:p>
        </p:txBody>
      </p:sp>
      <p:sp>
        <p:nvSpPr>
          <p:cNvPr id="76" name="Shape 73"/>
          <p:cNvSpPr/>
          <p:nvPr/>
        </p:nvSpPr>
        <p:spPr>
          <a:xfrm>
            <a:off x="7498080" y="3291840"/>
            <a:ext cx="3931920" cy="502920"/>
          </a:xfrm>
          <a:prstGeom prst="roundRect">
            <a:avLst>
              <a:gd name="adj" fmla="val 21818"/>
            </a:avLst>
          </a:prstGeom>
          <a:solidFill>
            <a:srgbClr val="24305A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7680960" y="3291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dl_lw3  download, link 3</a:t>
            </a:r>
            <a:endParaRPr lang="en-US" sz="1300" dirty="0"/>
          </a:p>
        </p:txBody>
      </p:sp>
      <p:sp>
        <p:nvSpPr>
          <p:cNvPr id="78" name="Shape 75"/>
          <p:cNvSpPr/>
          <p:nvPr/>
        </p:nvSpPr>
        <p:spPr>
          <a:xfrm>
            <a:off x="7498080" y="3931920"/>
            <a:ext cx="3931920" cy="502920"/>
          </a:xfrm>
          <a:prstGeom prst="roundRect">
            <a:avLst>
              <a:gd name="adj" fmla="val 21818"/>
            </a:avLst>
          </a:prstGeom>
          <a:solidFill>
            <a:srgbClr val="24305A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7680960" y="3931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dl_lw4  download, link 4</a:t>
            </a:r>
            <a:endParaRPr lang="en-US" sz="1300" dirty="0"/>
          </a:p>
        </p:txBody>
      </p:sp>
      <p:sp>
        <p:nvSpPr>
          <p:cNvPr id="80" name="Text 77"/>
          <p:cNvSpPr txBox="1"/>
          <p:nvPr/>
        </p:nvSpPr>
        <p:spPr>
          <a:xfrm>
            <a:off x="7498080" y="47091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Cyan = signal quality (SNR)   |   Purple = UAV flight state. Links lw1 to lw4 are four separate wireless links measured in the same flight.</a:t>
            </a:r>
            <a:endParaRPr lang="en-US" sz="11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04  |  PROJECT WORKFLOW / IMPLEMENTATION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Project Workflow / Implementation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SNR file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653 rows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Download file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652 rows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74904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Telemetry file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716 rows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108960" y="265176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08960" y="2651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Merge by time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+ clean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652 × 22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0" y="265176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0" y="2651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 + split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456 / 98 / 98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863840" y="173736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6384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Random Forest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(baseline)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863840" y="274320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0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Neural net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FidelityNet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863840" y="39319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863840" y="3931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Persistence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(baseline)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0058400" y="265176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58400" y="26517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6"/>
                </a:solidFill>
              </a:rPr>
              <a:t>MC Dropout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026"/>
                </a:solidFill>
              </a:rPr>
              <a:t>100 passes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6060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2D3EE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49834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2D3EE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73609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2D3EE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9738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2D3EE"/>
                </a:solidFill>
              </a:rPr>
              <a:t>→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Outputs: predicted download, uncertainty (std), relative-error fidelity score per link, and a mismatch alert when a test error exceeds the 95th-percentile validation error.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05  |  SIMULATION / EXPERIMENTAL RESULTS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Dataset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394960" cy="22860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</a:rPr>
                        <a:t>File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</a:rPr>
                        <a:t>Rows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</a:rPr>
                        <a:t>Columns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SNR measurements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653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Download measurements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652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UAV telemetry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716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</a:rPr>
                        <a:t>Merged + cleaned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</a:rPr>
                        <a:t>652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</a:rPr>
                        <a:t>22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11480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548640" y="4206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456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754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Train (70%)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377440" y="411480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377440" y="4206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</a:rPr>
              <a:t>98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2468880" y="4754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Validation (15%)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06240" y="411480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206240" y="4206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BBF24"/>
                </a:solidFill>
              </a:rPr>
              <a:t>98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4297680" y="4754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Test (15%)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3949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One flight, 2025-09-11, 09:42 to 09:53 (about 11 minutes). No missing values or duplicates after merging.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09360" y="155448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131A38"/>
          </a:solidFill>
          <a:ln w="19050">
            <a:solidFill>
              <a:srgbClr val="22D3EE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6309360" y="3154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22D3EE"/>
                </a:solidFill>
              </a:rPr>
              <a:t>SCREENSHOT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3520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preview (.head())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4160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Notebook cell 3 / cell 6 output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AC3FDEB-FF47-A7B9-290E-BFC7A726BD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842" t="-1178" r="11370" b="1178"/>
          <a:stretch>
            <a:fillRect/>
          </a:stretch>
        </p:blipFill>
        <p:spPr>
          <a:xfrm>
            <a:off x="5989320" y="1352738"/>
            <a:ext cx="5715000" cy="46823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06  |  CODE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Code: Merge and Split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64240" cy="4846320"/>
          </a:xfrm>
          <a:prstGeom prst="roundRect">
            <a:avLst>
              <a:gd name="adj" fmla="val 2264"/>
            </a:avLst>
          </a:prstGeom>
          <a:solidFill>
            <a:srgbClr val="070B1C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10607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communication_df = pd.merge_asof(download_sorted, snr_sorted[[...]],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on="time", direction="nearest", tolerance=pd.Timedelta("2s"))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communication_df = pd.merge_asof(communication_df, telemetry_sorted[telemetry_cols],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on="time", direction="nearest", tolerance=pd.Timedelta("2s"))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16 input features, 4 download targets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communication_df[feature_cols];  y = communication_df[target_cols]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chronological split (no shuffling)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train_end = int(n * 0.70);  val_end = int(n * 0.85)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y_train = X.iloc[:train_end], y.iloc[:train_end]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X_val,   y_val   = X.iloc[train_end:val_end], y.iloc[train_end:val_end]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X_test,  y_test  = X.iloc[val_end:], y.iloc[val_end:]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scaler_X = StandardScaler();  X_train_scaled = scaler_X.fit_transform(X_train)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07  |  CODE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Code: Model and Training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64240" cy="4846320"/>
          </a:xfrm>
          <a:prstGeom prst="roundRect">
            <a:avLst>
              <a:gd name="adj" fmla="val 2264"/>
            </a:avLst>
          </a:prstGeom>
          <a:solidFill>
            <a:srgbClr val="070B1C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10607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FidelityNet(nn.Module):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input_size=16, output_size=4):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self.network = nn.Sequential(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nn.Linear(input_size, 64), nn.ReLU(), nn.Dropout(0.2),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nn.Linear(64, 32),         nn.ReLU(), nn.Dropout(0.2),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nn.Linear(32, output_size))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x):  return self.network(x)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 = nn.MSELoss()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 = optim.Adam(model.parameters(), lr=0.001)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epoch in range(200):                 # 3,300 trainable parameters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model.train();  optimizer.zero_grad()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 = criterion(model(X_train_tensor), y_train_tensor)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loss.backward();  optimizer.step()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08  |  CODE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Code: Uncertainty and Mismatch Detection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64240" cy="4846320"/>
          </a:xfrm>
          <a:prstGeom prst="roundRect">
            <a:avLst>
              <a:gd name="adj" fmla="val 2264"/>
            </a:avLst>
          </a:prstGeom>
          <a:solidFill>
            <a:srgbClr val="070B1C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10607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model.train()                       # keep dropout ON during prediction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mc_predictions = []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torch.no_grad():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range(100):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pred = model(X_val_tensor).numpy()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mc_predictions.append(scaler_y.inverse_transform(pred))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mc_mean = np.array(mc_predictions).mean(axis=0)     # prediction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mc_std  = np.array(mc_predictions).std(axis=0)      # uncertainty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fidelity = max(0, 1 - mae / np.mean(np.abs(actual))) * 100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val_errors = np.abs(val_actual - val_pred)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  = np.percentile(val_errors, 95)          # learned on validation only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mismatch_flags = test_errors &gt; threshold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09  |  SIMULATION / EXPERIMENTAL RESULTS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Validation Results (MC Dropout)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22D3EE"/>
                </a:solidFill>
              </a:rPr>
              <a:t>SCREENSHOT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Validation predictions + uncertainty band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06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Notebook cell 19 plot (Actual vs MC mean ± 2 std)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463040"/>
          <a:ext cx="4754880" cy="231648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</a:rPr>
                        <a:t>Link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</a:rPr>
                        <a:t>RF MAE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</a:rPr>
                        <a:t>NN MAE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</a:rPr>
                        <a:t>MC MAE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</a:rPr>
                        <a:t>Mean σ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</a:rPr>
                        <a:t>Fidelity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dl_lw1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73.815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12.092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16.251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33.296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97.3%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dl_lw2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114.705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38.806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42.480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64.520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92.9%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dl_lw3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428.039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372.602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374.042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29.677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87171"/>
                          </a:solidFill>
                        </a:rPr>
                        <a:t>26.1%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dl_lw4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5.780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3.801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3.659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3.224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82.4%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858000" y="4023360"/>
            <a:ext cx="4754880" cy="2194560"/>
          </a:xfrm>
          <a:prstGeom prst="roundRect">
            <a:avLst>
              <a:gd name="adj" fmla="val 5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4" name="Text 7"/>
          <p:cNvSpPr txBox="1"/>
          <p:nvPr/>
        </p:nvSpPr>
        <p:spPr>
          <a:xfrm>
            <a:off x="7040880" y="4160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What this shows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040880" y="452628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The neural network beats Random Forest on all four links. Uncertainty is large on dl_lw1 and dl_lw2, and fidelity is lowest on dl_lw3, where predictions miss badly.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1E2DB9-6826-21EF-BB1F-E7AF7FF5D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19"/>
            <a:ext cx="6126480" cy="46708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10  |  SIMULATION / EXPERIMENTAL RESULTS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dl_lw3 Fails: Distribution Shift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22D3EE"/>
                </a:solidFill>
              </a:rPr>
              <a:t>SCREENSHOT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dl_lw3: training vs validation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062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Notebook cell 24 plot (train / validation boundary)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06640" y="1463040"/>
            <a:ext cx="2057400" cy="1051560"/>
          </a:xfrm>
          <a:prstGeom prst="roundRect">
            <a:avLst>
              <a:gd name="adj" fmla="val 10435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0" y="1554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7171"/>
                </a:solidFill>
              </a:rPr>
              <a:t>83.3%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2103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of dl_lw3 training readings are zero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601200" y="146304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0" y="1554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D399"/>
                </a:solidFill>
              </a:rPr>
              <a:t>0%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96926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zeros in validation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06640" y="2697480"/>
            <a:ext cx="2057400" cy="1051560"/>
          </a:xfrm>
          <a:prstGeom prst="roundRect">
            <a:avLst>
              <a:gd name="adj" fmla="val 10435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06640" y="27889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BBF24"/>
                </a:solidFill>
              </a:rPr>
              <a:t>13.5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3337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mean in training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601200" y="269748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0120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506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969264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mean in validation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406640" y="3931920"/>
            <a:ext cx="4206240" cy="2286000"/>
          </a:xfrm>
          <a:prstGeom prst="roundRect">
            <a:avLst>
              <a:gd name="adj" fmla="val 48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8952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What this shows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589520" y="443484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The model trained on a mostly-zero link, then met a link at 278 to 597 in validation. Altitude and SNR distributions also moved. The network predicts what it saw, so error is large.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466C13-A3FD-6170-D3A4-EB5F47899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9047"/>
            <a:ext cx="6499266" cy="37775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11  |  SIMULATION / EXPERIMENTAL RESULTS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Untouched Test Set: Neural Network vs Persistence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22D3EE"/>
                </a:solidFill>
              </a:rPr>
              <a:t>SREENSHOT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Test: actual vs predicted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06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Notebook cell 30 plot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463040"/>
          <a:ext cx="5120640" cy="263347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</a:rPr>
                        <a:t>Link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</a:rPr>
                        <a:t>NN MAE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</a:rPr>
                        <a:t>Persist. MAE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</a:rPr>
                        <a:t>Better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dl_lw1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4.366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0.000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Persistence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dl_lw2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33.869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0.000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Persistence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dl_lw3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488.849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0.032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Persistence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dl_lw4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0.000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Persistence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</a:rPr>
                        <a:t>Overall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</a:rPr>
                        <a:t>133.021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</a:rPr>
                        <a:t>0.008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</a:rPr>
                        <a:t>Persistence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92240" y="429768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675120" y="4434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What this shows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48006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Test values barely move (lw1, lw2, lw4 are constant; lw3 spans 2.3), so "repeat the last reading" is nearly perfect. This reflects this flight segment, not general performance.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9C85EE-2C9E-D23A-90CC-543308FA6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97" y="1267264"/>
            <a:ext cx="5873783" cy="51464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12  |  SIMULATION / EXPERIMENTAL RESULTS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388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Digital Twin Mismatch Detection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79120" y="1463040"/>
            <a:ext cx="6583680" cy="4754880"/>
          </a:xfrm>
          <a:prstGeom prst="roundRect">
            <a:avLst>
              <a:gd name="adj" fmla="val 1923"/>
            </a:avLst>
          </a:prstGeom>
          <a:solidFill>
            <a:srgbClr val="131A38"/>
          </a:solidFill>
          <a:ln w="19050">
            <a:solidFill>
              <a:srgbClr val="22D3EE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548640" y="32004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22D3EE"/>
                </a:solidFill>
              </a:rPr>
              <a:t>SCREENSHOT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Test error vs threshold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062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Notebook cell 33 plot (flagged mismatches)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463040"/>
          <a:ext cx="4206240" cy="22860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</a:rPr>
                        <a:t>Link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</a:rPr>
                        <a:t>95th pct. threshold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</a:rPr>
                        <a:t>Flagged / 98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dl_lw1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50.105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dl_lw2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124.740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87171"/>
                          </a:solidFill>
                        </a:rPr>
                        <a:t>dl_lw3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87171"/>
                          </a:solidFill>
                        </a:rPr>
                        <a:t>487.914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87171"/>
                          </a:solidFill>
                        </a:rPr>
                        <a:t>33  (33.7%)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dl_lw4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7.630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406640" y="4023360"/>
            <a:ext cx="4206240" cy="2194560"/>
          </a:xfrm>
          <a:prstGeom prst="roundRect">
            <a:avLst>
              <a:gd name="adj" fmla="val 5000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58952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What this shows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452628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Thresholds come from validation errors only. The twin raised alerts on dl_lw3, exactly the link where it was unreliable.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D0DCE0-8058-162D-FE7E-12887531D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" y="1431387"/>
            <a:ext cx="6675120" cy="48181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13  |  PROGRESS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Progress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4D399"/>
                </a:solidFill>
              </a:rPr>
              <a:t>COMPLETED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22960" y="201168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Three data files merged and cleaned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269748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697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Chronological train / val / test split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338328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383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Random Forest and neural network trained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" y="406908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4069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MC Dropout uncertainty (100 passes)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22960" y="475488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371600" y="4754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Fidelity score and distribution-shift analysis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22960" y="544068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6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371600" y="5440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Persistence baseline and mismatch alerts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309360" y="146304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BBF24"/>
                </a:solidFill>
              </a:rPr>
              <a:t>REMAINING WORK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583680" y="201168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5836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1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132320" y="2011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Test on more flights, not one segment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583680" y="278892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58368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2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132320" y="2788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Reduce the dl_lw3 shift (more varied training data)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583680" y="356616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5836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7132320" y="3566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Calibrate uncertainty and add OOD detection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583680" y="434340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58368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4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7132320" y="4343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Build the Streamlit dashboard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583680" y="512064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658368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5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7132320" y="5120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Final end-to-end demonstration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14  |  CONCLUSION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801368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554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Built a UAV 5G digital twin that predicts download throughput on four links, with MC Dropout uncertainty.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807208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5603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The neural network beat Random Forest on validation, but dl_lw3 failed because training and validation behaved differently.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56616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3813048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35661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A persistence baseline wins on this nearly constant test segment, so the result is flight-specific, not general.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57200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31A38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4818888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6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4572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Mismatch alerts correctly flagged dl_lw3, showing the twin can warn when it is unreliable.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2D3EE"/>
                </a:solidFill>
              </a:rPr>
              <a:t>From UAV measurements to a twin that knows when it cannot be trusted.   Thank You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AV Twin">
  <a:themeElements>
    <a:clrScheme name="UAV Twin">
      <a:dk1>
        <a:srgbClr val="0B1026"/>
      </a:dk1>
      <a:lt1>
        <a:srgbClr val="FFFFFF"/>
      </a:lt1>
      <a:dk2>
        <a:srgbClr val="131A38"/>
      </a:dk2>
      <a:lt2>
        <a:srgbClr val="E2E8F0"/>
      </a:lt2>
      <a:accent1>
        <a:srgbClr val="22D3EE"/>
      </a:accent1>
      <a:accent2>
        <a:srgbClr val="8B5CF6"/>
      </a:accent2>
      <a:accent3>
        <a:srgbClr val="FBBF24"/>
      </a:accent3>
      <a:accent4>
        <a:srgbClr val="34D399"/>
      </a:accent4>
      <a:accent5>
        <a:srgbClr val="F87171"/>
      </a:accent5>
      <a:accent6>
        <a:srgbClr val="94A3B8"/>
      </a:accent6>
      <a:hlink>
        <a:srgbClr val="22D3EE"/>
      </a:hlink>
      <a:folHlink>
        <a:srgbClr val="8B5CF6"/>
      </a:folHlink>
    </a:clrScheme>
    <a:fontScheme name="UAV Tw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2182</Words>
  <Application>Microsoft Office PowerPoint</Application>
  <PresentationFormat>Widescreen</PresentationFormat>
  <Paragraphs>386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UAV Twin</vt:lpstr>
      <vt:lpstr>PowerPoint Presentation</vt:lpstr>
      <vt:lpstr>Problem Statement</vt:lpstr>
      <vt:lpstr>Proposed Methodology / Algorithm</vt:lpstr>
      <vt:lpstr>Input Features and Targets</vt:lpstr>
      <vt:lpstr>Project Workflow / Implementation</vt:lpstr>
      <vt:lpstr>Dataset</vt:lpstr>
      <vt:lpstr>Code: Merge and Split</vt:lpstr>
      <vt:lpstr>Code: Model and Training</vt:lpstr>
      <vt:lpstr>Code: Uncertainty and Mismatch Detection</vt:lpstr>
      <vt:lpstr>Validation Results (MC Dropout)</vt:lpstr>
      <vt:lpstr>Why dl_lw3 Fails: Distribution Shift</vt:lpstr>
      <vt:lpstr>Untouched Test Set: Neural Network vs Persistence</vt:lpstr>
      <vt:lpstr>Digital Twin Mismatch Detection</vt:lpstr>
      <vt:lpstr>Progress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Peddi Yugandhar</cp:lastModifiedBy>
  <cp:revision>3</cp:revision>
  <dcterms:created xsi:type="dcterms:W3CDTF">2026-10-15T03:21:30Z</dcterms:created>
  <dcterms:modified xsi:type="dcterms:W3CDTF">2026-10-15T03:42:48Z</dcterms:modified>
</cp:coreProperties>
</file>